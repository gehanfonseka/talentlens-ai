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DM Sans Bold" charset="1" panose="00000000000000000000"/>
      <p:regular r:id="rId39"/>
    </p:embeddedFont>
    <p:embeddedFont>
      <p:font typeface="Signika Bold" charset="1" panose="02010003020600000004"/>
      <p:regular r:id="rId40"/>
    </p:embeddedFont>
    <p:embeddedFont>
      <p:font typeface="Signika" charset="1" panose="02010003020600000004"/>
      <p:regular r:id="rId41"/>
    </p:embeddedFont>
    <p:embeddedFont>
      <p:font typeface="DM Sans" charset="1" panose="00000000000000000000"/>
      <p:regular r:id="rId42"/>
    </p:embeddedFont>
    <p:embeddedFont>
      <p:font typeface="Open Sans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9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42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40.fntdata"/><Relationship Id="rId6" Type="http://schemas.openxmlformats.org/officeDocument/2006/relationships/slide" Target="slides/slide1.xml"/><Relationship Id="rId45" Type="http://schemas.openxmlformats.org/officeDocument/2006/relationships/customXml" Target="../customXml/item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customXml" Target="../customXml/item1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" Type="http://schemas.openxmlformats.org/officeDocument/2006/relationships/theme" Target="theme/theme1.xml"/><Relationship Id="rId43" Type="http://schemas.openxmlformats.org/officeDocument/2006/relationships/font" Target="fonts/font43.fntdata"/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ustomXml" Target="../customXml/item3.xml"/><Relationship Id="rId20" Type="http://schemas.openxmlformats.org/officeDocument/2006/relationships/slide" Target="slides/slide15.xml"/><Relationship Id="rId41" Type="http://schemas.openxmlformats.org/officeDocument/2006/relationships/font" Target="fonts/font41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EKalFVA4.mp4" Type="http://schemas.microsoft.com/office/2007/relationships/media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8.png" Type="http://schemas.openxmlformats.org/officeDocument/2006/relationships/image"/><Relationship Id="rId8" Target="../media/image9.jpeg" Type="http://schemas.openxmlformats.org/officeDocument/2006/relationships/image"/><Relationship Id="rId9" Target="../media/VAHEKalFVA4.mp4" Type="http://schemas.openxmlformats.org/officeDocument/2006/relationships/video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4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928738">
            <a:off x="-144620" y="1040076"/>
            <a:ext cx="4497140" cy="9844432"/>
            <a:chOff x="0" y="0"/>
            <a:chExt cx="617069" cy="1350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069" cy="1350791"/>
            </a:xfrm>
            <a:custGeom>
              <a:avLst/>
              <a:gdLst/>
              <a:ahLst/>
              <a:cxnLst/>
              <a:rect r="r" b="b" t="t" l="l"/>
              <a:pathLst>
                <a:path h="1350791" w="617069">
                  <a:moveTo>
                    <a:pt x="205801" y="19070"/>
                  </a:moveTo>
                  <a:cubicBezTo>
                    <a:pt x="237334" y="7556"/>
                    <a:pt x="273402" y="0"/>
                    <a:pt x="308701" y="0"/>
                  </a:cubicBezTo>
                  <a:cubicBezTo>
                    <a:pt x="344001" y="0"/>
                    <a:pt x="377968" y="6476"/>
                    <a:pt x="409270" y="17990"/>
                  </a:cubicBezTo>
                  <a:cubicBezTo>
                    <a:pt x="409937" y="18350"/>
                    <a:pt x="410603" y="18350"/>
                    <a:pt x="411268" y="18710"/>
                  </a:cubicBezTo>
                  <a:cubicBezTo>
                    <a:pt x="528821" y="64765"/>
                    <a:pt x="615404" y="186379"/>
                    <a:pt x="617069" y="340452"/>
                  </a:cubicBezTo>
                  <a:lnTo>
                    <a:pt x="617069" y="1350791"/>
                  </a:lnTo>
                  <a:lnTo>
                    <a:pt x="0" y="1350791"/>
                  </a:lnTo>
                  <a:lnTo>
                    <a:pt x="0" y="341202"/>
                  </a:lnTo>
                  <a:cubicBezTo>
                    <a:pt x="1665" y="185660"/>
                    <a:pt x="86916" y="64045"/>
                    <a:pt x="205801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17069" cy="126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Doors arch geometric shape"/>
          <p:cNvSpPr/>
          <p:nvPr/>
        </p:nvSpPr>
        <p:spPr>
          <a:xfrm flipH="false" flipV="true" rot="3021392">
            <a:off x="15225438" y="-998309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3261170">
            <a:off x="1993052" y="5396636"/>
            <a:ext cx="2665670" cy="7610591"/>
            <a:chOff x="0" y="0"/>
            <a:chExt cx="622408" cy="177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408" cy="1777000"/>
            </a:xfrm>
            <a:custGeom>
              <a:avLst/>
              <a:gdLst/>
              <a:ahLst/>
              <a:cxnLst/>
              <a:rect r="r" b="b" t="t" l="l"/>
              <a:pathLst>
                <a:path h="1777000" w="622408">
                  <a:moveTo>
                    <a:pt x="207582" y="19070"/>
                  </a:moveTo>
                  <a:cubicBezTo>
                    <a:pt x="239388" y="7556"/>
                    <a:pt x="275768" y="0"/>
                    <a:pt x="311372" y="0"/>
                  </a:cubicBezTo>
                  <a:cubicBezTo>
                    <a:pt x="346977" y="0"/>
                    <a:pt x="381238" y="6476"/>
                    <a:pt x="412811" y="17990"/>
                  </a:cubicBezTo>
                  <a:cubicBezTo>
                    <a:pt x="413484" y="18350"/>
                    <a:pt x="414155" y="18350"/>
                    <a:pt x="414827" y="18710"/>
                  </a:cubicBezTo>
                  <a:cubicBezTo>
                    <a:pt x="533397" y="64765"/>
                    <a:pt x="620729" y="186379"/>
                    <a:pt x="622408" y="349920"/>
                  </a:cubicBezTo>
                  <a:lnTo>
                    <a:pt x="622408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679" y="185660"/>
                    <a:pt x="87668" y="64045"/>
                    <a:pt x="207582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22408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98958" y="2782127"/>
            <a:ext cx="14260342" cy="5165103"/>
            <a:chOff x="0" y="0"/>
            <a:chExt cx="5310173" cy="19233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0173" cy="1923347"/>
            </a:xfrm>
            <a:custGeom>
              <a:avLst/>
              <a:gdLst/>
              <a:ahLst/>
              <a:cxnLst/>
              <a:rect r="r" b="b" t="t" l="l"/>
              <a:pathLst>
                <a:path h="1923347" w="5310173">
                  <a:moveTo>
                    <a:pt x="30402" y="0"/>
                  </a:moveTo>
                  <a:lnTo>
                    <a:pt x="5279770" y="0"/>
                  </a:lnTo>
                  <a:cubicBezTo>
                    <a:pt x="5296561" y="0"/>
                    <a:pt x="5310173" y="13612"/>
                    <a:pt x="5310173" y="30402"/>
                  </a:cubicBezTo>
                  <a:lnTo>
                    <a:pt x="5310173" y="1892945"/>
                  </a:lnTo>
                  <a:cubicBezTo>
                    <a:pt x="5310173" y="1901008"/>
                    <a:pt x="5306970" y="1908741"/>
                    <a:pt x="5301268" y="1914443"/>
                  </a:cubicBezTo>
                  <a:cubicBezTo>
                    <a:pt x="5295567" y="1920144"/>
                    <a:pt x="5287834" y="1923347"/>
                    <a:pt x="5279770" y="1923347"/>
                  </a:cubicBezTo>
                  <a:lnTo>
                    <a:pt x="30402" y="1923347"/>
                  </a:lnTo>
                  <a:cubicBezTo>
                    <a:pt x="22339" y="1923347"/>
                    <a:pt x="14606" y="1920144"/>
                    <a:pt x="8905" y="1914443"/>
                  </a:cubicBezTo>
                  <a:cubicBezTo>
                    <a:pt x="3203" y="1908741"/>
                    <a:pt x="0" y="1901008"/>
                    <a:pt x="0" y="1892945"/>
                  </a:cubicBezTo>
                  <a:lnTo>
                    <a:pt x="0" y="30402"/>
                  </a:lnTo>
                  <a:cubicBezTo>
                    <a:pt x="0" y="22339"/>
                    <a:pt x="3203" y="14606"/>
                    <a:pt x="8905" y="8905"/>
                  </a:cubicBezTo>
                  <a:cubicBezTo>
                    <a:pt x="14606" y="3203"/>
                    <a:pt x="22339" y="0"/>
                    <a:pt x="3040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5310173" cy="186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255304" y="3086888"/>
            <a:ext cx="13747649" cy="4517796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13" id="13" descr="Doors arch geometric shape"/>
          <p:cNvSpPr/>
          <p:nvPr/>
        </p:nvSpPr>
        <p:spPr>
          <a:xfrm flipH="false" flipV="true" rot="3021392">
            <a:off x="13677129" y="-1194510"/>
            <a:ext cx="1603006" cy="2369407"/>
          </a:xfrm>
          <a:custGeom>
            <a:avLst/>
            <a:gdLst/>
            <a:ahLst/>
            <a:cxnLst/>
            <a:rect r="r" b="b" t="t" l="l"/>
            <a:pathLst>
              <a:path h="2369407" w="1603006">
                <a:moveTo>
                  <a:pt x="0" y="2369407"/>
                </a:moveTo>
                <a:lnTo>
                  <a:pt x="1603007" y="2369407"/>
                </a:lnTo>
                <a:lnTo>
                  <a:pt x="1603007" y="0"/>
                </a:lnTo>
                <a:lnTo>
                  <a:pt x="0" y="0"/>
                </a:lnTo>
                <a:lnTo>
                  <a:pt x="0" y="2369407"/>
                </a:lnTo>
                <a:close/>
              </a:path>
            </a:pathLst>
          </a:custGeom>
          <a:blipFill>
            <a:blip r:embed="rId4">
              <a:alphaModFix amt="7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5400000">
            <a:off x="-638078" y="4670084"/>
            <a:ext cx="4722745" cy="1389189"/>
            <a:chOff x="0" y="0"/>
            <a:chExt cx="6296994" cy="1852253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653030" cy="2654300"/>
              </a:xfrm>
              <a:custGeom>
                <a:avLst/>
                <a:gdLst/>
                <a:ahLst/>
                <a:cxnLst/>
                <a:rect r="r" b="b" t="t" l="l"/>
                <a:pathLst>
                  <a:path h="2654300" w="265303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AutoShape 17" id="17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FFFFFF"/>
            </a:solidFill>
          </p:spPr>
        </p: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20" id="20"/>
          <p:cNvGrpSpPr/>
          <p:nvPr/>
        </p:nvGrpSpPr>
        <p:grpSpPr>
          <a:xfrm rot="-5400000">
            <a:off x="12459123" y="2782127"/>
            <a:ext cx="7901300" cy="7901300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450378" y="3844751"/>
            <a:ext cx="10000875" cy="313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50"/>
              </a:lnSpc>
            </a:pPr>
            <a:r>
              <a:rPr lang="en-US" b="true" sz="7990">
                <a:solidFill>
                  <a:srgbClr val="1D4355"/>
                </a:solidFill>
                <a:latin typeface="DM Sans Bold"/>
                <a:ea typeface="DM Sans Bold"/>
                <a:cs typeface="DM Sans Bold"/>
                <a:sym typeface="DM Sans Bold"/>
              </a:rPr>
              <a:t>AI-Powered Intelligent T</a:t>
            </a:r>
            <a:r>
              <a:rPr lang="en-US" b="true" sz="7990">
                <a:solidFill>
                  <a:srgbClr val="1D4355"/>
                </a:solidFill>
                <a:latin typeface="DM Sans Bold"/>
                <a:ea typeface="DM Sans Bold"/>
                <a:cs typeface="DM Sans Bold"/>
                <a:sym typeface="DM Sans Bold"/>
              </a:rPr>
              <a:t>alent Acquisition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973155">
            <a:off x="10504751" y="1141043"/>
            <a:ext cx="4408317" cy="13219535"/>
            <a:chOff x="0" y="0"/>
            <a:chExt cx="614225" cy="18419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4225" cy="1841921"/>
            </a:xfrm>
            <a:custGeom>
              <a:avLst/>
              <a:gdLst/>
              <a:ahLst/>
              <a:cxnLst/>
              <a:rect r="r" b="b" t="t" l="l"/>
              <a:pathLst>
                <a:path h="1841921" w="614225">
                  <a:moveTo>
                    <a:pt x="204852" y="19070"/>
                  </a:moveTo>
                  <a:cubicBezTo>
                    <a:pt x="236241" y="7556"/>
                    <a:pt x="272142" y="0"/>
                    <a:pt x="307278" y="0"/>
                  </a:cubicBezTo>
                  <a:cubicBezTo>
                    <a:pt x="342415" y="0"/>
                    <a:pt x="376226" y="6476"/>
                    <a:pt x="407384" y="17990"/>
                  </a:cubicBezTo>
                  <a:cubicBezTo>
                    <a:pt x="408048" y="18350"/>
                    <a:pt x="408710" y="18350"/>
                    <a:pt x="409373" y="18710"/>
                  </a:cubicBezTo>
                  <a:cubicBezTo>
                    <a:pt x="526384" y="64765"/>
                    <a:pt x="612568" y="186379"/>
                    <a:pt x="614225" y="351362"/>
                  </a:cubicBezTo>
                  <a:lnTo>
                    <a:pt x="614225" y="1841921"/>
                  </a:lnTo>
                  <a:lnTo>
                    <a:pt x="0" y="1841921"/>
                  </a:lnTo>
                  <a:lnTo>
                    <a:pt x="0" y="352468"/>
                  </a:lnTo>
                  <a:cubicBezTo>
                    <a:pt x="1657" y="185660"/>
                    <a:pt x="86515" y="64045"/>
                    <a:pt x="204852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14225" cy="175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0" id="10"/>
          <p:cNvGrpSpPr/>
          <p:nvPr/>
        </p:nvGrpSpPr>
        <p:grpSpPr>
          <a:xfrm rot="2973155">
            <a:off x="13930603" y="6519466"/>
            <a:ext cx="2268040" cy="7099470"/>
            <a:chOff x="0" y="0"/>
            <a:chExt cx="567691" cy="17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3021392">
            <a:off x="14240874" y="-2361534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8"/>
                </a:moveTo>
                <a:lnTo>
                  <a:pt x="3195360" y="4723068"/>
                </a:lnTo>
                <a:lnTo>
                  <a:pt x="3195360" y="0"/>
                </a:lnTo>
                <a:lnTo>
                  <a:pt x="0" y="0"/>
                </a:lnTo>
                <a:lnTo>
                  <a:pt x="0" y="472306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5" id="15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13951" y="2033007"/>
            <a:ext cx="14576762" cy="64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5932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INTRODUCTION TO THE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3951" y="6850714"/>
            <a:ext cx="14157554" cy="168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7"/>
              </a:lnSpc>
            </a:pPr>
            <a:r>
              <a:rPr lang="en-US" sz="2984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Our Goal</a:t>
            </a:r>
          </a:p>
          <a:p>
            <a:pPr algn="l" marL="435436" indent="-217718" lvl="1">
              <a:lnSpc>
                <a:spcPts val="3025"/>
              </a:lnSpc>
              <a:buFont typeface="Arial"/>
              <a:buChar char="•"/>
            </a:pPr>
            <a:r>
              <a:rPr lang="en-US" sz="2016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D</a:t>
            </a:r>
            <a:r>
              <a:rPr lang="en-US" sz="2016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evelop an AI-Powered Intelligent Talent Acquisition System that improves the recruitment process by automatically analyzing resumes, evaluating interview responses, predict early employee attrition assessing candidate soft skills and Job–Candidate Matching.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3951" y="5330875"/>
            <a:ext cx="3857172" cy="130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sz="3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Affected Groups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Recruiters and HR Managers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Job Candidates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3951" y="2987191"/>
            <a:ext cx="14764889" cy="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Recruitment problem | </a:t>
            </a:r>
            <a:r>
              <a:rPr lang="en-US" sz="2490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Large number of applicants</a:t>
            </a:r>
            <a:r>
              <a:rPr lang="en-US" sz="2490" b="true">
                <a:solidFill>
                  <a:srgbClr val="6C9286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  <a:r>
              <a:rPr lang="en-US" sz="24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| Manual interview (Resume) | </a:t>
            </a:r>
            <a:r>
              <a:rPr lang="en-US" sz="2490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Subjective decisions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3951" y="3685494"/>
            <a:ext cx="14525352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Job–candidate matching fails to explain why a candidate is recommended, reducing recruiter trust.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Resume parsing only extracts keywords and ignores actual skill depth.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Existing systems cannot predict early employee attrition before hiring.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Interview evaluation remains subjective and inconsistent, with no structured analysis of communication quality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5624" y="5349925"/>
            <a:ext cx="3857172" cy="130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Organizations 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Recruitment Agencies 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false" flipV="false" rot="3021392">
            <a:off x="-895464" y="3277623"/>
            <a:ext cx="5980449" cy="8839715"/>
          </a:xfrm>
          <a:custGeom>
            <a:avLst/>
            <a:gdLst/>
            <a:ahLst/>
            <a:cxnLst/>
            <a:rect r="r" b="b" t="t" l="l"/>
            <a:pathLst>
              <a:path h="8839715" w="5980449">
                <a:moveTo>
                  <a:pt x="0" y="0"/>
                </a:moveTo>
                <a:lnTo>
                  <a:pt x="5980449" y="0"/>
                </a:lnTo>
                <a:lnTo>
                  <a:pt x="5980449" y="8839715"/>
                </a:lnTo>
                <a:lnTo>
                  <a:pt x="0" y="88397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Doors arch geometric shape"/>
          <p:cNvSpPr/>
          <p:nvPr/>
        </p:nvSpPr>
        <p:spPr>
          <a:xfrm flipH="false" flipV="true" rot="3021392">
            <a:off x="15154513" y="-2029415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5"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9" id="9"/>
          <p:cNvGrpSpPr/>
          <p:nvPr/>
        </p:nvGrpSpPr>
        <p:grpSpPr>
          <a:xfrm rot="2973155">
            <a:off x="2267964" y="8273297"/>
            <a:ext cx="1590210" cy="4977710"/>
            <a:chOff x="0" y="0"/>
            <a:chExt cx="567691" cy="177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 descr="Doors arch geometric shape"/>
          <p:cNvSpPr/>
          <p:nvPr/>
        </p:nvSpPr>
        <p:spPr>
          <a:xfrm flipH="false" flipV="true" rot="3021392">
            <a:off x="13068615" y="-1853343"/>
            <a:ext cx="1691586" cy="2500338"/>
          </a:xfrm>
          <a:custGeom>
            <a:avLst/>
            <a:gdLst/>
            <a:ahLst/>
            <a:cxnLst/>
            <a:rect r="r" b="b" t="t" l="l"/>
            <a:pathLst>
              <a:path h="2500338" w="1691586">
                <a:moveTo>
                  <a:pt x="0" y="2500338"/>
                </a:moveTo>
                <a:lnTo>
                  <a:pt x="1691587" y="2500338"/>
                </a:lnTo>
                <a:lnTo>
                  <a:pt x="1691587" y="0"/>
                </a:lnTo>
                <a:lnTo>
                  <a:pt x="0" y="0"/>
                </a:lnTo>
                <a:lnTo>
                  <a:pt x="0" y="250033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18260" y="2980880"/>
            <a:ext cx="7003988" cy="593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Recruiters may spend large amounts of time manually screening app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lications.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Hiring decisions may become biased or inconsistent.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Poor soft skill assessment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Organizations may experience reduced productivity due to poor hiring decisions.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Qualified candidates may miss opportunities due to subjective evaluation.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Talent mismatch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5" id="15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29488" r="-256844" b="-5"/>
              </a:stretch>
            </a:blipFill>
          </p:spPr>
        </p:sp>
      </p:grp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8747609" y="3275777"/>
            <a:ext cx="8071259" cy="452594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08521" y="1753688"/>
            <a:ext cx="1543172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</a:pPr>
            <a:r>
              <a:rPr lang="en-US" b="true" sz="6300">
                <a:solidFill>
                  <a:srgbClr val="1D4355"/>
                </a:solidFill>
                <a:latin typeface="Signika Bold"/>
                <a:ea typeface="Signika Bold"/>
                <a:cs typeface="Signika Bold"/>
                <a:sym typeface="Signika Bold"/>
              </a:rPr>
              <a:t>Impact of the problem to </a:t>
            </a:r>
            <a:r>
              <a:rPr lang="en-US" b="true" sz="6300">
                <a:solidFill>
                  <a:srgbClr val="1D4355"/>
                </a:solidFill>
                <a:latin typeface="Signika Bold"/>
                <a:ea typeface="Signika Bold"/>
                <a:cs typeface="Signika Bold"/>
                <a:sym typeface="Signika Bold"/>
              </a:rPr>
              <a:t>User and Society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8" id="8"/>
          <p:cNvSpPr/>
          <p:nvPr/>
        </p:nvSpPr>
        <p:spPr>
          <a:xfrm flipH="false" flipV="true" rot="3021392">
            <a:off x="13129748" y="-2003299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092364" y="4826083"/>
            <a:ext cx="10312418" cy="7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7"/>
              </a:lnSpc>
            </a:pPr>
            <a:r>
              <a:rPr lang="en-US" sz="64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Their 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1599" y="1736992"/>
            <a:ext cx="8056460" cy="72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8"/>
              </a:lnSpc>
            </a:pPr>
            <a:r>
              <a:rPr lang="en-US" sz="64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Existing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8249" y="2714584"/>
            <a:ext cx="14874111" cy="12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344" indent="-254172" lvl="1">
              <a:lnSpc>
                <a:spcPts val="3272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Talent Acquisition System for resume filtering</a:t>
            </a:r>
          </a:p>
          <a:p>
            <a:pPr algn="l" marL="508344" indent="-254172" lvl="1">
              <a:lnSpc>
                <a:spcPts val="3272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Onl</a:t>
            </a:r>
            <a:r>
              <a:rPr lang="en-US" sz="2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ine interview platforms for conducting remote interviews</a:t>
            </a:r>
          </a:p>
          <a:p>
            <a:pPr algn="l" marL="508344" indent="-254172" lvl="1">
              <a:lnSpc>
                <a:spcPts val="3272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Basic AI tools for keyword-based resume screening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6" id="16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092364" y="5708567"/>
            <a:ext cx="11688178" cy="282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643" indent="-252321" lvl="1">
              <a:lnSpc>
                <a:spcPts val="3248"/>
              </a:lnSpc>
              <a:buFont typeface="Arial"/>
              <a:buChar char="•"/>
            </a:pPr>
            <a:r>
              <a:rPr lang="en-US" sz="23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Most systems rely mainly on keyword-based resume filtering, which may overlook qualified candidates.</a:t>
            </a:r>
          </a:p>
          <a:p>
            <a:pPr algn="l" marL="504643" indent="-252321" lvl="1">
              <a:lnSpc>
                <a:spcPts val="3248"/>
              </a:lnSpc>
              <a:buFont typeface="Arial"/>
              <a:buChar char="•"/>
            </a:pPr>
            <a:r>
              <a:rPr lang="en-US" sz="23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Limited capability to analyze soft skills and communication patterns during interviews.</a:t>
            </a:r>
          </a:p>
          <a:p>
            <a:pPr algn="l" marL="504643" indent="-252321" lvl="1">
              <a:lnSpc>
                <a:spcPts val="3248"/>
              </a:lnSpc>
              <a:buFont typeface="Arial"/>
              <a:buChar char="•"/>
            </a:pPr>
            <a:r>
              <a:rPr lang="en-US" sz="23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Lack of explainable AI insights for recruiters when making hiring decisions.</a:t>
            </a:r>
          </a:p>
          <a:p>
            <a:pPr algn="l" marL="504643" indent="-252321" lvl="1">
              <a:lnSpc>
                <a:spcPts val="3248"/>
              </a:lnSpc>
              <a:buFont typeface="Arial"/>
              <a:buChar char="•"/>
            </a:pPr>
            <a:r>
              <a:rPr lang="en-US" sz="23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reliable mechanisms to verify the authenticity of submitted certificates.</a:t>
            </a:r>
          </a:p>
          <a:p>
            <a:pPr algn="l">
              <a:lnSpc>
                <a:spcPts val="3248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3336597" y="760578"/>
            <a:ext cx="6636017" cy="9808712"/>
          </a:xfrm>
          <a:custGeom>
            <a:avLst/>
            <a:gdLst/>
            <a:ahLst/>
            <a:cxnLst/>
            <a:rect r="r" b="b" t="t" l="l"/>
            <a:pathLst>
              <a:path h="9808712" w="6636017">
                <a:moveTo>
                  <a:pt x="0" y="9808712"/>
                </a:moveTo>
                <a:lnTo>
                  <a:pt x="6636017" y="9808712"/>
                </a:lnTo>
                <a:lnTo>
                  <a:pt x="6636017" y="0"/>
                </a:lnTo>
                <a:lnTo>
                  <a:pt x="0" y="0"/>
                </a:lnTo>
                <a:lnTo>
                  <a:pt x="0" y="980871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5925989" y="4855213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5400000">
            <a:off x="14459693" y="1469105"/>
            <a:ext cx="2162436" cy="2188571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1" id="11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446626" y="1482172"/>
            <a:ext cx="2188571" cy="2162436"/>
          </a:xfrm>
          <a:custGeom>
            <a:avLst/>
            <a:gdLst/>
            <a:ahLst/>
            <a:cxnLst/>
            <a:rect r="r" b="b" t="t" l="l"/>
            <a:pathLst>
              <a:path h="2162436" w="2188571">
                <a:moveTo>
                  <a:pt x="0" y="0"/>
                </a:moveTo>
                <a:lnTo>
                  <a:pt x="2188571" y="0"/>
                </a:lnTo>
                <a:lnTo>
                  <a:pt x="2188571" y="2162436"/>
                </a:lnTo>
                <a:lnTo>
                  <a:pt x="0" y="2162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553" r="0" b="-2316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4851" y="2188944"/>
            <a:ext cx="10910485" cy="6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6039" b="true">
                <a:solidFill>
                  <a:srgbClr val="000000"/>
                </a:solidFill>
                <a:latin typeface="Signika Bold"/>
                <a:ea typeface="Signika Bold"/>
                <a:cs typeface="Signika Bold"/>
                <a:sym typeface="Signika Bold"/>
              </a:rPr>
              <a:t>IT22248796 - Fonseka W.G.K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851" y="3351997"/>
            <a:ext cx="10361622" cy="57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91" b="true">
                <a:solidFill>
                  <a:srgbClr val="449497"/>
                </a:solidFill>
                <a:latin typeface="DM Sans Bold"/>
                <a:ea typeface="DM Sans Bold"/>
                <a:cs typeface="DM Sans Bold"/>
                <a:sym typeface="DM Sans Bold"/>
              </a:rPr>
              <a:t>Hiring Risk &amp; Early Attrition Prediction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 |  Gehan Fonseka  |  R26-IT-082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08736" y="4844688"/>
            <a:ext cx="2482105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Contribution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1277" y="5252484"/>
            <a:ext cx="8394805" cy="349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edicts probability of early employee resignation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Analyzes candidate employment history and job patterns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Detects job-role mismatch and unstable career paths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Generates attrition risk scores for recruiters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data-driven hiring decisions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182100" y="5252484"/>
            <a:ext cx="7823536" cy="305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redicts attr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ition risk bef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ore hiring decisions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Uses pre-hire candidate data instead of post-hire HR data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Combines multiple ML models for better prediction accuracy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Provides Explainable AI insights for recruiter trust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909965" y="4844688"/>
            <a:ext cx="2482105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Novelty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5551316" y="4640052"/>
            <a:ext cx="1502102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-9525" y="6614839"/>
            <a:ext cx="3687586" cy="3681686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8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9" id="9" descr="Doors arch geometric shape"/>
          <p:cNvSpPr/>
          <p:nvPr/>
        </p:nvSpPr>
        <p:spPr>
          <a:xfrm flipH="false" flipV="true" rot="3021392">
            <a:off x="15306913" y="-1877015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Doors arch geometric shape"/>
          <p:cNvSpPr/>
          <p:nvPr/>
        </p:nvSpPr>
        <p:spPr>
          <a:xfrm flipH="false" flipV="true" rot="3021392">
            <a:off x="17654776" y="1345144"/>
            <a:ext cx="1932988" cy="2857153"/>
          </a:xfrm>
          <a:custGeom>
            <a:avLst/>
            <a:gdLst/>
            <a:ahLst/>
            <a:cxnLst/>
            <a:rect r="r" b="b" t="t" l="l"/>
            <a:pathLst>
              <a:path h="2857153" w="1932988">
                <a:moveTo>
                  <a:pt x="0" y="2857153"/>
                </a:moveTo>
                <a:lnTo>
                  <a:pt x="1932988" y="2857153"/>
                </a:lnTo>
                <a:lnTo>
                  <a:pt x="1932988" y="0"/>
                </a:lnTo>
                <a:lnTo>
                  <a:pt x="0" y="0"/>
                </a:lnTo>
                <a:lnTo>
                  <a:pt x="0" y="2857153"/>
                </a:lnTo>
                <a:close/>
              </a:path>
            </a:pathLst>
          </a:custGeom>
          <a:blipFill>
            <a:blip r:embed="rId5"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29488" r="-256844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78535" y="3162705"/>
            <a:ext cx="8406522" cy="299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Existing recruitment systems mainly evaluate skills and qualifications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They rarely predict whether a candidate will remain in the organization long-term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leads to high early employee turnover and increased recruitment costs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7892" y="7332695"/>
            <a:ext cx="1506216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28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an AI-driven attrition risk prediction system that analyzes candidate data during recruitment to estimate the probability of early employee resignation and provide explainable insights for recruiters.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6220" y="3124605"/>
            <a:ext cx="7589170" cy="331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Extract candidate attributes from resumes and applications</a:t>
            </a:r>
          </a:p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employment patterns and job-tenure indicators</a:t>
            </a:r>
          </a:p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Train machine learning models for attrition prediction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5160" y="2621972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Problem Definition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0410" y="6705349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Research Objective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8125" y="2547403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Sub-Objectives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 |  Gehan Fonseka  |  R26-IT-082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2364" y="1670851"/>
            <a:ext cx="7961932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Hiring Risk &amp; Early Attrition Prediction 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415604">
            <a:off x="13980204" y="6166955"/>
            <a:ext cx="7129279" cy="7041566"/>
            <a:chOff x="0" y="0"/>
            <a:chExt cx="820785" cy="810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785" cy="810687"/>
            </a:xfrm>
            <a:custGeom>
              <a:avLst/>
              <a:gdLst/>
              <a:ahLst/>
              <a:cxnLst/>
              <a:rect r="r" b="b" t="t" l="l"/>
              <a:pathLst>
                <a:path h="810687" w="820785">
                  <a:moveTo>
                    <a:pt x="273743" y="19070"/>
                  </a:moveTo>
                  <a:cubicBezTo>
                    <a:pt x="315687" y="7556"/>
                    <a:pt x="363661" y="0"/>
                    <a:pt x="410614" y="0"/>
                  </a:cubicBezTo>
                  <a:cubicBezTo>
                    <a:pt x="457567" y="0"/>
                    <a:pt x="502748" y="6476"/>
                    <a:pt x="544384" y="17990"/>
                  </a:cubicBezTo>
                  <a:cubicBezTo>
                    <a:pt x="545271" y="18350"/>
                    <a:pt x="546157" y="18350"/>
                    <a:pt x="547042" y="18710"/>
                  </a:cubicBezTo>
                  <a:cubicBezTo>
                    <a:pt x="703403" y="64765"/>
                    <a:pt x="818570" y="186379"/>
                    <a:pt x="820785" y="328455"/>
                  </a:cubicBezTo>
                  <a:lnTo>
                    <a:pt x="820785" y="810687"/>
                  </a:lnTo>
                  <a:lnTo>
                    <a:pt x="0" y="810687"/>
                  </a:lnTo>
                  <a:lnTo>
                    <a:pt x="0" y="328813"/>
                  </a:lnTo>
                  <a:cubicBezTo>
                    <a:pt x="2215" y="185660"/>
                    <a:pt x="115610" y="64045"/>
                    <a:pt x="273743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820785" cy="721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false" flipV="true" rot="-3388613">
            <a:off x="-3024311" y="-3859077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2"/>
                </a:moveTo>
                <a:lnTo>
                  <a:pt x="4478846" y="6620192"/>
                </a:lnTo>
                <a:lnTo>
                  <a:pt x="4478846" y="0"/>
                </a:lnTo>
                <a:lnTo>
                  <a:pt x="0" y="0"/>
                </a:lnTo>
                <a:lnTo>
                  <a:pt x="0" y="662019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Doors arch geometric shape"/>
          <p:cNvSpPr/>
          <p:nvPr/>
        </p:nvSpPr>
        <p:spPr>
          <a:xfrm flipH="false" flipV="true" rot="7970747">
            <a:off x="16048577" y="7344468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1"/>
                </a:moveTo>
                <a:lnTo>
                  <a:pt x="4478846" y="6620191"/>
                </a:lnTo>
                <a:lnTo>
                  <a:pt x="4478846" y="0"/>
                </a:lnTo>
                <a:lnTo>
                  <a:pt x="0" y="0"/>
                </a:lnTo>
                <a:lnTo>
                  <a:pt x="0" y="6620191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92364" y="1670851"/>
            <a:ext cx="7961932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Hiring Risk &amp; Early Attrition Prediction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IT22248796  |  Gehan Fonseka  |  R26-IT-082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23758" y="3009931"/>
            <a:ext cx="446128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Domain Knowledge Area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00814" y="3009931"/>
            <a:ext cx="268979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Technologies</a:t>
            </a:r>
          </a:p>
        </p:txBody>
      </p:sp>
      <p:sp>
        <p:nvSpPr>
          <p:cNvPr name="AutoShape 18" id="18"/>
          <p:cNvSpPr/>
          <p:nvPr/>
        </p:nvSpPr>
        <p:spPr>
          <a:xfrm rot="5400000">
            <a:off x="6769783" y="5135172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586241" y="3860396"/>
            <a:ext cx="6820968" cy="212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42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Human Resource Analytics</a:t>
            </a:r>
          </a:p>
          <a:p>
            <a:pPr algn="l" marL="530905" indent="-265453" lvl="1">
              <a:lnSpc>
                <a:spcPts val="3442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Artificial Intelligence for Recruitment</a:t>
            </a:r>
          </a:p>
          <a:p>
            <a:pPr algn="l" marL="530905" indent="-265453" lvl="1">
              <a:lnSpc>
                <a:spcPts val="3442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Machine Learning f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or Predictive Modeling</a:t>
            </a:r>
          </a:p>
          <a:p>
            <a:pPr algn="l" marL="530905" indent="-265453" lvl="1">
              <a:lnSpc>
                <a:spcPts val="3442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Expl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ainable Artificial Intelligence </a:t>
            </a:r>
          </a:p>
          <a:p>
            <a:pPr algn="l">
              <a:lnSpc>
                <a:spcPts val="344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12894" y="3860396"/>
            <a:ext cx="7618049" cy="298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Python – Machine learning development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Scikit-learn – Random Forest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implementation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XGBoost – Gradient boosting prediction model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SHAP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&amp; LIME – Explainable AI interpretation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Pandas / NumPy – Data preprocessing and analysis</a:t>
            </a:r>
          </a:p>
          <a:p>
            <a:pPr algn="l">
              <a:lnSpc>
                <a:spcPts val="341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 |  Gehan Fonseka  | 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7" id="7"/>
          <p:cNvGrpSpPr/>
          <p:nvPr/>
        </p:nvGrpSpPr>
        <p:grpSpPr>
          <a:xfrm rot="2973155">
            <a:off x="8303385" y="6259006"/>
            <a:ext cx="4408317" cy="13219535"/>
            <a:chOff x="0" y="0"/>
            <a:chExt cx="614225" cy="18419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4225" cy="1841921"/>
            </a:xfrm>
            <a:custGeom>
              <a:avLst/>
              <a:gdLst/>
              <a:ahLst/>
              <a:cxnLst/>
              <a:rect r="r" b="b" t="t" l="l"/>
              <a:pathLst>
                <a:path h="1841921" w="614225">
                  <a:moveTo>
                    <a:pt x="204852" y="19070"/>
                  </a:moveTo>
                  <a:cubicBezTo>
                    <a:pt x="236241" y="7556"/>
                    <a:pt x="272142" y="0"/>
                    <a:pt x="307278" y="0"/>
                  </a:cubicBezTo>
                  <a:cubicBezTo>
                    <a:pt x="342415" y="0"/>
                    <a:pt x="376226" y="6476"/>
                    <a:pt x="407384" y="17990"/>
                  </a:cubicBezTo>
                  <a:cubicBezTo>
                    <a:pt x="408048" y="18350"/>
                    <a:pt x="408710" y="18350"/>
                    <a:pt x="409373" y="18710"/>
                  </a:cubicBezTo>
                  <a:cubicBezTo>
                    <a:pt x="526384" y="64765"/>
                    <a:pt x="612568" y="186379"/>
                    <a:pt x="614225" y="351362"/>
                  </a:cubicBezTo>
                  <a:lnTo>
                    <a:pt x="614225" y="1841921"/>
                  </a:lnTo>
                  <a:lnTo>
                    <a:pt x="0" y="1841921"/>
                  </a:lnTo>
                  <a:lnTo>
                    <a:pt x="0" y="352468"/>
                  </a:lnTo>
                  <a:cubicBezTo>
                    <a:pt x="1657" y="185660"/>
                    <a:pt x="86515" y="64045"/>
                    <a:pt x="204852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14225" cy="175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973155">
            <a:off x="13987398" y="7048406"/>
            <a:ext cx="2268040" cy="7099470"/>
            <a:chOff x="0" y="0"/>
            <a:chExt cx="567691" cy="17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3021392">
            <a:off x="16690320" y="-2001910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951" y="2887336"/>
            <a:ext cx="6236417" cy="133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Validate &amp; Evaluate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Accuracy, Precision, Recall, F1-Score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Model comparison across algorithms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951" y="5968680"/>
            <a:ext cx="7159379" cy="17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Data Availability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IBM HR Analytics Attrition Dataset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 HR analytics and workforce datasets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Synthetic candidate data generation for 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3491" y="2887336"/>
            <a:ext cx="7389584" cy="171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Security</a:t>
            </a:r>
          </a:p>
          <a:p>
            <a:pPr algn="l">
              <a:lnSpc>
                <a:spcPts val="2302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Secure storage of candidate information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Role-based access control for recruitment data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Protection of sensitive candidate and HR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3017" y="5968680"/>
            <a:ext cx="7988342" cy="182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Ethical Clearance</a:t>
            </a:r>
          </a:p>
          <a:p>
            <a:pPr algn="l">
              <a:lnSpc>
                <a:spcPts val="3223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of datasets only for research purposes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Compliance with ethical AI and data protection guidelines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9" id="19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092364" y="1670851"/>
            <a:ext cx="7961932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Hiring Risk &amp; Early Attrition Prediction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|  Gehan Fonseka  | 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949501" y="-484374"/>
            <a:ext cx="5456723" cy="6472409"/>
            <a:chOff x="0" y="0"/>
            <a:chExt cx="706353" cy="837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6353" cy="837830"/>
            </a:xfrm>
            <a:custGeom>
              <a:avLst/>
              <a:gdLst/>
              <a:ahLst/>
              <a:cxnLst/>
              <a:rect r="r" b="b" t="t" l="l"/>
              <a:pathLst>
                <a:path h="837830" w="706353">
                  <a:moveTo>
                    <a:pt x="235578" y="19070"/>
                  </a:moveTo>
                  <a:cubicBezTo>
                    <a:pt x="271674" y="7556"/>
                    <a:pt x="312961" y="0"/>
                    <a:pt x="353367" y="0"/>
                  </a:cubicBezTo>
                  <a:cubicBezTo>
                    <a:pt x="393774" y="0"/>
                    <a:pt x="432656" y="6476"/>
                    <a:pt x="468487" y="17990"/>
                  </a:cubicBezTo>
                  <a:cubicBezTo>
                    <a:pt x="469251" y="18350"/>
                    <a:pt x="470013" y="18350"/>
                    <a:pt x="470775" y="18710"/>
                  </a:cubicBezTo>
                  <a:cubicBezTo>
                    <a:pt x="605336" y="64765"/>
                    <a:pt x="704447" y="186379"/>
                    <a:pt x="706353" y="329058"/>
                  </a:cubicBezTo>
                  <a:lnTo>
                    <a:pt x="706353" y="837830"/>
                  </a:lnTo>
                  <a:lnTo>
                    <a:pt x="0" y="837830"/>
                  </a:lnTo>
                  <a:lnTo>
                    <a:pt x="0" y="329436"/>
                  </a:lnTo>
                  <a:cubicBezTo>
                    <a:pt x="1906" y="185660"/>
                    <a:pt x="99492" y="64045"/>
                    <a:pt x="235578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706353" cy="748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5400000">
            <a:off x="5668814" y="4909950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1" id="11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88" r="-256844" b="-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206414" y="3034695"/>
            <a:ext cx="12522042" cy="5713182"/>
          </a:xfrm>
          <a:custGeom>
            <a:avLst/>
            <a:gdLst/>
            <a:ahLst/>
            <a:cxnLst/>
            <a:rect r="r" b="b" t="t" l="l"/>
            <a:pathLst>
              <a:path h="5713182" w="12522042">
                <a:moveTo>
                  <a:pt x="0" y="0"/>
                </a:moveTo>
                <a:lnTo>
                  <a:pt x="12522042" y="0"/>
                </a:lnTo>
                <a:lnTo>
                  <a:pt x="12522042" y="5713182"/>
                </a:lnTo>
                <a:lnTo>
                  <a:pt x="0" y="5713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92364" y="1670851"/>
            <a:ext cx="7961932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Hiring Risk &amp; Early Attrition Prediction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 |  Gehan Fonseka  |  R26-IT-082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9622" y="2458912"/>
            <a:ext cx="4165250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System Overview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3021392">
            <a:off x="1264894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775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133951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7" id="7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86283" y="2826611"/>
            <a:ext cx="3310857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Dependencies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29488" r="-256844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63050" y="2826611"/>
            <a:ext cx="5178601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Common Components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3297" y="3672576"/>
            <a:ext cx="6732860" cy="163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546" indent="-222273" lvl="1">
              <a:lnSpc>
                <a:spcPts val="3520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Candid</a:t>
            </a: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ate data from Resume Parsing Module</a:t>
            </a:r>
          </a:p>
          <a:p>
            <a:pPr algn="l" marL="401367" indent="-200683" lvl="1">
              <a:lnSpc>
                <a:spcPts val="3178"/>
              </a:lnSpc>
              <a:buFont typeface="Arial"/>
              <a:buChar char="•"/>
            </a:pP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J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ob-c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andidate similarity scores from Matching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Engine</a:t>
            </a:r>
          </a:p>
          <a:p>
            <a:pPr algn="l" marL="401367" indent="-200683" lvl="1">
              <a:lnSpc>
                <a:spcPts val="3178"/>
              </a:lnSpc>
              <a:buFont typeface="Arial"/>
              <a:buChar char="•"/>
            </a:pP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Int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erview insights from AI Interview Evaluation Module</a:t>
            </a:r>
          </a:p>
          <a:p>
            <a:pPr algn="l">
              <a:lnSpc>
                <a:spcPts val="3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058275" y="3739251"/>
            <a:ext cx="7174828" cy="290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Candidate Profile Database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Authentication &amp; User Management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Resume Repository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API Communication Layer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 Model Management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Recruiter Dashboard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Security &amp; Data Protection Layer</a:t>
            </a:r>
          </a:p>
          <a:p>
            <a:pPr algn="l">
              <a:lnSpc>
                <a:spcPts val="3001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rot="5400000">
            <a:off x="6042050" y="5289269"/>
            <a:ext cx="5306809" cy="57643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 |  Gehan Fonseka  |  R26-IT-082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92364" y="1670851"/>
            <a:ext cx="7961932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Hiring Risk &amp; Early Attrition Prediction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3336597" y="760578"/>
            <a:ext cx="6636017" cy="9808712"/>
          </a:xfrm>
          <a:custGeom>
            <a:avLst/>
            <a:gdLst/>
            <a:ahLst/>
            <a:cxnLst/>
            <a:rect r="r" b="b" t="t" l="l"/>
            <a:pathLst>
              <a:path h="9808712" w="6636017">
                <a:moveTo>
                  <a:pt x="0" y="9808712"/>
                </a:moveTo>
                <a:lnTo>
                  <a:pt x="6636017" y="9808712"/>
                </a:lnTo>
                <a:lnTo>
                  <a:pt x="6636017" y="0"/>
                </a:lnTo>
                <a:lnTo>
                  <a:pt x="0" y="0"/>
                </a:lnTo>
                <a:lnTo>
                  <a:pt x="0" y="980871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5925989" y="4855213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Freeform 5" id="5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0" id="10"/>
          <p:cNvSpPr/>
          <p:nvPr/>
        </p:nvSpPr>
        <p:spPr>
          <a:xfrm rot="5400000">
            <a:off x="14339425" y="1409332"/>
            <a:ext cx="2351779" cy="2378035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614851" y="2178610"/>
            <a:ext cx="9926593" cy="6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6039" b="true">
                <a:solidFill>
                  <a:srgbClr val="000000"/>
                </a:solidFill>
                <a:latin typeface="Signika Bold"/>
                <a:ea typeface="Signika Bold"/>
                <a:cs typeface="Signika Bold"/>
                <a:sym typeface="Signika Bold"/>
              </a:rPr>
              <a:t>IT22226914 - Jayantha C 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851" y="3374527"/>
            <a:ext cx="11967877" cy="57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91" b="true">
                <a:solidFill>
                  <a:srgbClr val="449497"/>
                </a:solidFill>
                <a:latin typeface="DM Sans Bold"/>
                <a:ea typeface="DM Sans Bold"/>
                <a:cs typeface="DM Sans Bold"/>
                <a:sym typeface="DM Sans Bold"/>
              </a:rPr>
              <a:t>Intelligent Resume Parsing &amp; Skill Proficiency Analysis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1277" y="5851900"/>
            <a:ext cx="7523022" cy="26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Conv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erts resumes into structured candidate data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Extracts skills, education, and experience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Generates candidate skill profiles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Provides data for other AI modules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39250" y="5851900"/>
            <a:ext cx="7823536" cy="26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Context-aware skill proficiency est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imation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Moves beyo</a:t>
            </a: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nd keyword-based resume screening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Evaluates experience duration and project context</a:t>
            </a:r>
          </a:p>
          <a:p>
            <a:pPr algn="l" marL="539749" indent="-269875" lvl="1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Improves the accuracy of candidate evaluation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0984" y="8849283"/>
            <a:ext cx="7148030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 |  Chamudi Jayantha  |  R26-IT-082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421029" y="1488691"/>
            <a:ext cx="2188571" cy="2200267"/>
            <a:chOff x="0" y="0"/>
            <a:chExt cx="4598226" cy="462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4547362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47362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5"/>
              <a:stretch>
                <a:fillRect l="0" t="-8480" r="0" b="-33404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8162" cy="4622800"/>
            </a:xfrm>
            <a:custGeom>
              <a:avLst/>
              <a:gdLst/>
              <a:ahLst/>
              <a:cxnLst/>
              <a:rect r="r" b="b" t="t" l="l"/>
              <a:pathLst>
                <a:path h="4622800" w="4598162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20" id="20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29488" r="-256844" b="-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62065" y="4855258"/>
            <a:ext cx="2821177" cy="53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1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Novelty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08736" y="5223964"/>
            <a:ext cx="2482105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Contribution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9965" y="5223964"/>
            <a:ext cx="2482105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Novelty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5551316" y="4640052"/>
            <a:ext cx="1502102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-9525" y="6614839"/>
            <a:ext cx="3687586" cy="3681686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8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9" id="9" descr="Doors arch geometric shape"/>
          <p:cNvSpPr/>
          <p:nvPr/>
        </p:nvSpPr>
        <p:spPr>
          <a:xfrm flipH="false" flipV="true" rot="3021392">
            <a:off x="15306913" y="-1877015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Doors arch geometric shape"/>
          <p:cNvSpPr/>
          <p:nvPr/>
        </p:nvSpPr>
        <p:spPr>
          <a:xfrm flipH="false" flipV="true" rot="3021392">
            <a:off x="17654776" y="1345144"/>
            <a:ext cx="1932988" cy="2857153"/>
          </a:xfrm>
          <a:custGeom>
            <a:avLst/>
            <a:gdLst/>
            <a:ahLst/>
            <a:cxnLst/>
            <a:rect r="r" b="b" t="t" l="l"/>
            <a:pathLst>
              <a:path h="2857153" w="1932988">
                <a:moveTo>
                  <a:pt x="0" y="2857153"/>
                </a:moveTo>
                <a:lnTo>
                  <a:pt x="1932988" y="2857153"/>
                </a:lnTo>
                <a:lnTo>
                  <a:pt x="1932988" y="0"/>
                </a:lnTo>
                <a:lnTo>
                  <a:pt x="0" y="0"/>
                </a:lnTo>
                <a:lnTo>
                  <a:pt x="0" y="2857153"/>
                </a:lnTo>
                <a:close/>
              </a:path>
            </a:pathLst>
          </a:custGeom>
          <a:blipFill>
            <a:blip r:embed="rId5"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3632170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Intelligent Resume Parsing &amp; Skill Proficiency Analysis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| Chamudi Jayantha | R26-IT-082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5" id="15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29488" r="-256844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78535" y="3503859"/>
            <a:ext cx="8406522" cy="198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Existing </a:t>
            </a: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ATS rely on keyword-based resume screening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Skill pr</a:t>
            </a: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esence detected but proficiency not e</a:t>
            </a: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valuated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Contextual factors like experience and projects ignored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Leads to inaccurate candidate evaluation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8535" y="7214262"/>
            <a:ext cx="1496137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28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develop an NLP-based intelligent resume parsing system that extracts candidate information and estimates skill proficiency using contextual factors such as experience duration and project relevance.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0020" y="3465759"/>
            <a:ext cx="7589170" cy="275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Apply NLP techniques for resume text processing</a:t>
            </a:r>
          </a:p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Use N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 to extract sk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ills, education, experience</a:t>
            </a:r>
          </a:p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experience duration and project relevance</a:t>
            </a:r>
          </a:p>
          <a:p>
            <a:pPr algn="l" marL="507364" indent="-253682" lvl="1">
              <a:lnSpc>
                <a:spcPts val="4488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</a:t>
            </a:r>
            <a:r>
              <a:rPr lang="en-US" sz="23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nerate structured candidate skill profiles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69194" y="2897546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Problem Definition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69194" y="6491666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Research 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8125" y="285128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Sub-Objectives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415604">
            <a:off x="13980204" y="6166955"/>
            <a:ext cx="7129279" cy="7041566"/>
            <a:chOff x="0" y="0"/>
            <a:chExt cx="820785" cy="810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785" cy="810687"/>
            </a:xfrm>
            <a:custGeom>
              <a:avLst/>
              <a:gdLst/>
              <a:ahLst/>
              <a:cxnLst/>
              <a:rect r="r" b="b" t="t" l="l"/>
              <a:pathLst>
                <a:path h="810687" w="820785">
                  <a:moveTo>
                    <a:pt x="273743" y="19070"/>
                  </a:moveTo>
                  <a:cubicBezTo>
                    <a:pt x="315687" y="7556"/>
                    <a:pt x="363661" y="0"/>
                    <a:pt x="410614" y="0"/>
                  </a:cubicBezTo>
                  <a:cubicBezTo>
                    <a:pt x="457567" y="0"/>
                    <a:pt x="502748" y="6476"/>
                    <a:pt x="544384" y="17990"/>
                  </a:cubicBezTo>
                  <a:cubicBezTo>
                    <a:pt x="545271" y="18350"/>
                    <a:pt x="546157" y="18350"/>
                    <a:pt x="547042" y="18710"/>
                  </a:cubicBezTo>
                  <a:cubicBezTo>
                    <a:pt x="703403" y="64765"/>
                    <a:pt x="818570" y="186379"/>
                    <a:pt x="820785" y="328455"/>
                  </a:cubicBezTo>
                  <a:lnTo>
                    <a:pt x="820785" y="810687"/>
                  </a:lnTo>
                  <a:lnTo>
                    <a:pt x="0" y="810687"/>
                  </a:lnTo>
                  <a:lnTo>
                    <a:pt x="0" y="328813"/>
                  </a:lnTo>
                  <a:cubicBezTo>
                    <a:pt x="2215" y="185660"/>
                    <a:pt x="115610" y="64045"/>
                    <a:pt x="273743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820785" cy="721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false" flipV="true" rot="-3388613">
            <a:off x="-3024311" y="-3859077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2"/>
                </a:moveTo>
                <a:lnTo>
                  <a:pt x="4478846" y="6620192"/>
                </a:lnTo>
                <a:lnTo>
                  <a:pt x="4478846" y="0"/>
                </a:lnTo>
                <a:lnTo>
                  <a:pt x="0" y="0"/>
                </a:lnTo>
                <a:lnTo>
                  <a:pt x="0" y="662019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Doors arch geometric shape"/>
          <p:cNvSpPr/>
          <p:nvPr/>
        </p:nvSpPr>
        <p:spPr>
          <a:xfrm flipH="false" flipV="true" rot="7970747">
            <a:off x="16048577" y="7344468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1"/>
                </a:moveTo>
                <a:lnTo>
                  <a:pt x="4478846" y="6620191"/>
                </a:lnTo>
                <a:lnTo>
                  <a:pt x="4478846" y="0"/>
                </a:lnTo>
                <a:lnTo>
                  <a:pt x="0" y="0"/>
                </a:lnTo>
                <a:lnTo>
                  <a:pt x="0" y="6620191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2571358" y="2857531"/>
            <a:ext cx="446128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Domain Knowledge Area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48414" y="2857531"/>
            <a:ext cx="268979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Technologies</a:t>
            </a:r>
          </a:p>
        </p:txBody>
      </p:sp>
      <p:sp>
        <p:nvSpPr>
          <p:cNvPr name="AutoShape 14" id="14"/>
          <p:cNvSpPr/>
          <p:nvPr/>
        </p:nvSpPr>
        <p:spPr>
          <a:xfrm rot="5400000">
            <a:off x="6617383" y="4982772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433841" y="3707996"/>
            <a:ext cx="6820968" cy="298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Artificial Intelligence for recruitment automation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for resume analysis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Machine Learning f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or information extraction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Information Retrieval for skill identification</a:t>
            </a:r>
          </a:p>
          <a:p>
            <a:pPr algn="l">
              <a:lnSpc>
                <a:spcPts val="341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60494" y="3707996"/>
            <a:ext cx="7618049" cy="21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paCy – NLP preprocessing and linguistic analysis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CRF-based N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ER – entity extraction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pdfplumber / PyMuPDF – resume text extraction</a:t>
            </a:r>
          </a:p>
          <a:p>
            <a:pPr algn="l">
              <a:lnSpc>
                <a:spcPts val="341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| Chamudi Jayantha | R26-IT-082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9" id="19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632170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Intelligent Resume Parsing &amp; Skill Proficiency Analysis 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2973155">
            <a:off x="8303385" y="6259006"/>
            <a:ext cx="4408317" cy="13219535"/>
            <a:chOff x="0" y="0"/>
            <a:chExt cx="614225" cy="1841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4225" cy="1841921"/>
            </a:xfrm>
            <a:custGeom>
              <a:avLst/>
              <a:gdLst/>
              <a:ahLst/>
              <a:cxnLst/>
              <a:rect r="r" b="b" t="t" l="l"/>
              <a:pathLst>
                <a:path h="1841921" w="614225">
                  <a:moveTo>
                    <a:pt x="204852" y="19070"/>
                  </a:moveTo>
                  <a:cubicBezTo>
                    <a:pt x="236241" y="7556"/>
                    <a:pt x="272142" y="0"/>
                    <a:pt x="307278" y="0"/>
                  </a:cubicBezTo>
                  <a:cubicBezTo>
                    <a:pt x="342415" y="0"/>
                    <a:pt x="376226" y="6476"/>
                    <a:pt x="407384" y="17990"/>
                  </a:cubicBezTo>
                  <a:cubicBezTo>
                    <a:pt x="408048" y="18350"/>
                    <a:pt x="408710" y="18350"/>
                    <a:pt x="409373" y="18710"/>
                  </a:cubicBezTo>
                  <a:cubicBezTo>
                    <a:pt x="526384" y="64765"/>
                    <a:pt x="612568" y="186379"/>
                    <a:pt x="614225" y="351362"/>
                  </a:cubicBezTo>
                  <a:lnTo>
                    <a:pt x="614225" y="1841921"/>
                  </a:lnTo>
                  <a:lnTo>
                    <a:pt x="0" y="1841921"/>
                  </a:lnTo>
                  <a:lnTo>
                    <a:pt x="0" y="352468"/>
                  </a:lnTo>
                  <a:cubicBezTo>
                    <a:pt x="1657" y="185660"/>
                    <a:pt x="86515" y="64045"/>
                    <a:pt x="204852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14225" cy="175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0" id="10"/>
          <p:cNvGrpSpPr/>
          <p:nvPr/>
        </p:nvGrpSpPr>
        <p:grpSpPr>
          <a:xfrm rot="2973155">
            <a:off x="13987398" y="7048406"/>
            <a:ext cx="2268040" cy="7099470"/>
            <a:chOff x="0" y="0"/>
            <a:chExt cx="567691" cy="17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3021392">
            <a:off x="16690320" y="-2001910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951" y="2887336"/>
            <a:ext cx="6872583" cy="17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Validate &amp; Evaluate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Extraction Accuracy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Skill relevance evaluation accuracy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System processing efficiency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951" y="5816280"/>
            <a:ext cx="6259978" cy="17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Data Availability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 resume datasets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 description datasets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IBM HR Analytics Attrition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72592" y="2887336"/>
            <a:ext cx="5906553" cy="211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Security</a:t>
            </a:r>
          </a:p>
          <a:p>
            <a:pPr algn="l">
              <a:lnSpc>
                <a:spcPts val="2302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Secure storage of candidate information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Access control for recruitment data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Protection of sensitive candidate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72592" y="5959155"/>
            <a:ext cx="6875894" cy="21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DM Sans Bold"/>
                <a:ea typeface="DM Sans Bold"/>
                <a:cs typeface="DM Sans Bold"/>
                <a:sym typeface="DM Sans Bold"/>
              </a:rPr>
              <a:t>Ethical Clearance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Personal data anonymization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of data only for research purposes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Compliance with ethical data handling guidelines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9" id="19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| Chamudi Jayantha | R26-IT-082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32170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Intelligent Resume Parsing &amp; Skill Proficiency Analysis 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9501" y="-484374"/>
            <a:ext cx="5456723" cy="6472409"/>
            <a:chOff x="0" y="0"/>
            <a:chExt cx="706353" cy="8378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6353" cy="837830"/>
            </a:xfrm>
            <a:custGeom>
              <a:avLst/>
              <a:gdLst/>
              <a:ahLst/>
              <a:cxnLst/>
              <a:rect r="r" b="b" t="t" l="l"/>
              <a:pathLst>
                <a:path h="837830" w="706353">
                  <a:moveTo>
                    <a:pt x="235578" y="19070"/>
                  </a:moveTo>
                  <a:cubicBezTo>
                    <a:pt x="271674" y="7556"/>
                    <a:pt x="312961" y="0"/>
                    <a:pt x="353367" y="0"/>
                  </a:cubicBezTo>
                  <a:cubicBezTo>
                    <a:pt x="393774" y="0"/>
                    <a:pt x="432656" y="6476"/>
                    <a:pt x="468487" y="17990"/>
                  </a:cubicBezTo>
                  <a:cubicBezTo>
                    <a:pt x="469251" y="18350"/>
                    <a:pt x="470013" y="18350"/>
                    <a:pt x="470775" y="18710"/>
                  </a:cubicBezTo>
                  <a:cubicBezTo>
                    <a:pt x="605336" y="64765"/>
                    <a:pt x="704447" y="186379"/>
                    <a:pt x="706353" y="329058"/>
                  </a:cubicBezTo>
                  <a:lnTo>
                    <a:pt x="706353" y="837830"/>
                  </a:lnTo>
                  <a:lnTo>
                    <a:pt x="0" y="837830"/>
                  </a:lnTo>
                  <a:lnTo>
                    <a:pt x="0" y="329436"/>
                  </a:lnTo>
                  <a:cubicBezTo>
                    <a:pt x="1906" y="185660"/>
                    <a:pt x="99492" y="64045"/>
                    <a:pt x="235578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706353" cy="748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9988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392487"/>
            <a:ext cx="15659105" cy="742429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0" id="10"/>
          <p:cNvSpPr/>
          <p:nvPr/>
        </p:nvSpPr>
        <p:spPr>
          <a:xfrm rot="5400000">
            <a:off x="5668814" y="4909950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2" id="12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9488" r="-256844" b="-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20464" y="3827653"/>
            <a:ext cx="15659105" cy="3333462"/>
          </a:xfrm>
          <a:custGeom>
            <a:avLst/>
            <a:gdLst/>
            <a:ahLst/>
            <a:cxnLst/>
            <a:rect r="r" b="b" t="t" l="l"/>
            <a:pathLst>
              <a:path h="3333462" w="15659105">
                <a:moveTo>
                  <a:pt x="0" y="0"/>
                </a:moveTo>
                <a:lnTo>
                  <a:pt x="15659105" y="0"/>
                </a:lnTo>
                <a:lnTo>
                  <a:pt x="15659105" y="3333462"/>
                </a:lnTo>
                <a:lnTo>
                  <a:pt x="0" y="3333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4" r="0" b="-875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| Chamudi Jayantha | R26-IT-082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41695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Intelligent Resume Parsing &amp; Skill Proficiency Analysis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9622" y="2650308"/>
            <a:ext cx="4165250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System Overview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7" id="7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67233" y="2826611"/>
            <a:ext cx="3310857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Dependencies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29488" r="-256844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0" y="2826611"/>
            <a:ext cx="5178601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Common Components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4247" y="3748776"/>
            <a:ext cx="6732860" cy="388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Resume Text Extraction Tools </a:t>
            </a:r>
          </a:p>
          <a:p>
            <a:pPr algn="l">
              <a:lnSpc>
                <a:spcPts val="2445"/>
              </a:lnSpc>
            </a:pPr>
            <a:r>
              <a:rPr lang="en-US" sz="17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Extract text from PDF resumes using pdfplumber / PyMuPDF</a:t>
            </a:r>
          </a:p>
          <a:p>
            <a:pPr algn="l">
              <a:lnSpc>
                <a:spcPts val="2723"/>
              </a:lnSpc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Convert resume documents into machine-readable format</a:t>
            </a:r>
          </a:p>
          <a:p>
            <a:pPr algn="l">
              <a:lnSpc>
                <a:spcPts val="2723"/>
              </a:lnSpc>
            </a:pPr>
          </a:p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NLP Processing Library: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2306"/>
              </a:lnSpc>
            </a:pP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SpaCy performs tokenization and text preprocessing</a:t>
            </a:r>
          </a:p>
          <a:p>
            <a:pPr algn="l">
              <a:lnSpc>
                <a:spcPts val="2723"/>
              </a:lnSpc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Generates linguistic features for resume analysis</a:t>
            </a:r>
          </a:p>
          <a:p>
            <a:pPr algn="l">
              <a:lnSpc>
                <a:spcPts val="2723"/>
              </a:lnSpc>
            </a:pPr>
          </a:p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Named Entity Recognition Model: </a:t>
            </a:r>
          </a:p>
          <a:p>
            <a:pPr algn="l">
              <a:lnSpc>
                <a:spcPts val="2306"/>
              </a:lnSpc>
            </a:pPr>
            <a:r>
              <a:rPr lang="en-US" sz="1659" b="true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CRF (sklearn-crfsuite) used for entity extraction</a:t>
            </a:r>
          </a:p>
          <a:p>
            <a:pPr algn="l">
              <a:lnSpc>
                <a:spcPts val="2723"/>
              </a:lnSpc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Identifies skills, education, and work experience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39225" y="3739251"/>
            <a:ext cx="7174828" cy="290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Candidate Profile Database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Authentication &amp; User Management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Resume Repository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API Communication Layer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 Model Management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Recruiter Dashboard</a:t>
            </a:r>
          </a:p>
          <a:p>
            <a:pPr algn="l" marL="444546" indent="-222273" lvl="1">
              <a:lnSpc>
                <a:spcPts val="2862"/>
              </a:lnSpc>
              <a:buFont typeface="Arial"/>
              <a:buChar char="•"/>
            </a:pPr>
            <a:r>
              <a:rPr lang="en-US" sz="20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Security &amp; Data Protection Layer</a:t>
            </a:r>
          </a:p>
          <a:p>
            <a:pPr algn="l">
              <a:lnSpc>
                <a:spcPts val="3001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rot="5400000">
            <a:off x="5974881" y="5289269"/>
            <a:ext cx="5306809" cy="57643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| Chamudi Jayantha | R26-IT-082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41695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Intelligent Resume Parsing &amp; Skill Proficiency Analysis 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3336597" y="760578"/>
            <a:ext cx="6636017" cy="9808712"/>
          </a:xfrm>
          <a:custGeom>
            <a:avLst/>
            <a:gdLst/>
            <a:ahLst/>
            <a:cxnLst/>
            <a:rect r="r" b="b" t="t" l="l"/>
            <a:pathLst>
              <a:path h="9808712" w="6636017">
                <a:moveTo>
                  <a:pt x="0" y="9808712"/>
                </a:moveTo>
                <a:lnTo>
                  <a:pt x="6636017" y="9808712"/>
                </a:lnTo>
                <a:lnTo>
                  <a:pt x="6636017" y="0"/>
                </a:lnTo>
                <a:lnTo>
                  <a:pt x="0" y="0"/>
                </a:lnTo>
                <a:lnTo>
                  <a:pt x="0" y="980871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614851" y="2962831"/>
            <a:ext cx="15209809" cy="57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91" b="true">
                <a:solidFill>
                  <a:srgbClr val="41C1BA"/>
                </a:solidFill>
                <a:latin typeface="DM Sans Bold"/>
                <a:ea typeface="DM Sans Bold"/>
                <a:cs typeface="DM Sans Bold"/>
                <a:sym typeface="DM Sans Bold"/>
              </a:rPr>
              <a:t>Job–Candidate Matching &amp; Explainable AI Engine</a:t>
            </a:r>
          </a:p>
        </p:txBody>
      </p:sp>
      <p:sp>
        <p:nvSpPr>
          <p:cNvPr name="AutoShape 9" id="9"/>
          <p:cNvSpPr/>
          <p:nvPr/>
        </p:nvSpPr>
        <p:spPr>
          <a:xfrm rot="5400000">
            <a:off x="5668814" y="4909950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AutoShape 10" id="10"/>
          <p:cNvSpPr/>
          <p:nvPr/>
        </p:nvSpPr>
        <p:spPr>
          <a:xfrm rot="5400000">
            <a:off x="14459693" y="1469105"/>
            <a:ext cx="2162436" cy="2188571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Freeform 11" id="11"/>
          <p:cNvSpPr/>
          <p:nvPr/>
        </p:nvSpPr>
        <p:spPr>
          <a:xfrm flipH="false" flipV="false" rot="0">
            <a:off x="14832379" y="1730543"/>
            <a:ext cx="1417064" cy="1628714"/>
          </a:xfrm>
          <a:custGeom>
            <a:avLst/>
            <a:gdLst/>
            <a:ahLst/>
            <a:cxnLst/>
            <a:rect r="r" b="b" t="t" l="l"/>
            <a:pathLst>
              <a:path h="1628714" w="1417064">
                <a:moveTo>
                  <a:pt x="0" y="0"/>
                </a:moveTo>
                <a:lnTo>
                  <a:pt x="1417064" y="0"/>
                </a:lnTo>
                <a:lnTo>
                  <a:pt x="1417064" y="1628714"/>
                </a:lnTo>
                <a:lnTo>
                  <a:pt x="0" y="1628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431" r="0" b="-6085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14851" y="1959143"/>
            <a:ext cx="10361325" cy="64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5735" b="true">
                <a:solidFill>
                  <a:srgbClr val="2C0D0A"/>
                </a:solidFill>
                <a:latin typeface="Signika Bold"/>
                <a:ea typeface="Signika Bold"/>
                <a:cs typeface="Signika Bold"/>
                <a:sym typeface="Signika Bold"/>
              </a:rPr>
              <a:t>IT22195616 - Deshan M A K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4851" y="4235511"/>
            <a:ext cx="15209809" cy="50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91">
                <a:solidFill>
                  <a:srgbClr val="1D4355"/>
                </a:solidFill>
                <a:latin typeface="DM Sans"/>
                <a:ea typeface="DM Sans"/>
                <a:cs typeface="DM Sans"/>
                <a:sym typeface="DM Sans"/>
              </a:rPr>
              <a:t>Semantic Job–Candidate Matching  | Skill Alignment Scoring |  Explainable AI Decision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2261" y="5344426"/>
            <a:ext cx="5562935" cy="235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Semantic Candidate Matching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Context-Aware Skill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Alignment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Embedding-Based Similarity Analysis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Expl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ainable AI (XAI) Insights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AI-Assisted Recruitm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ent Decisions</a:t>
            </a:r>
          </a:p>
          <a:p>
            <a:pPr algn="l">
              <a:lnSpc>
                <a:spcPts val="31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 |  Deshan M A K  |  R26-IT-082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7" id="17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29488" r="-256844" b="-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93035" y="5393747"/>
            <a:ext cx="3207460" cy="2009025"/>
            <a:chOff x="0" y="0"/>
            <a:chExt cx="961353" cy="6021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1353" cy="602153"/>
            </a:xfrm>
            <a:custGeom>
              <a:avLst/>
              <a:gdLst/>
              <a:ahLst/>
              <a:cxnLst/>
              <a:rect r="r" b="b" t="t" l="l"/>
              <a:pathLst>
                <a:path h="602153" w="961353">
                  <a:moveTo>
                    <a:pt x="961353" y="301077"/>
                  </a:moveTo>
                  <a:lnTo>
                    <a:pt x="554953" y="0"/>
                  </a:lnTo>
                  <a:lnTo>
                    <a:pt x="554953" y="203200"/>
                  </a:lnTo>
                  <a:lnTo>
                    <a:pt x="0" y="203200"/>
                  </a:lnTo>
                  <a:lnTo>
                    <a:pt x="0" y="398953"/>
                  </a:lnTo>
                  <a:lnTo>
                    <a:pt x="554953" y="398953"/>
                  </a:lnTo>
                  <a:lnTo>
                    <a:pt x="554953" y="602153"/>
                  </a:lnTo>
                  <a:lnTo>
                    <a:pt x="961353" y="301077"/>
                  </a:lnTo>
                  <a:close/>
                </a:path>
              </a:pathLst>
            </a:custGeom>
            <a:solidFill>
              <a:srgbClr val="62DDD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59753" cy="252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52"/>
                </a:lnSpc>
              </a:pPr>
              <a:r>
                <a:rPr lang="en-US" b="true" sz="305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Novelty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5551316" y="4640052"/>
            <a:ext cx="1502102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-9525" y="6614839"/>
            <a:ext cx="3687586" cy="3681686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8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9" id="9" descr="Doors arch geometric shape"/>
          <p:cNvSpPr/>
          <p:nvPr/>
        </p:nvSpPr>
        <p:spPr>
          <a:xfrm flipH="false" flipV="true" rot="3021392">
            <a:off x="15306913" y="-1877015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Doors arch geometric shape"/>
          <p:cNvSpPr/>
          <p:nvPr/>
        </p:nvSpPr>
        <p:spPr>
          <a:xfrm flipH="false" flipV="true" rot="3021392">
            <a:off x="17654776" y="1345144"/>
            <a:ext cx="1932988" cy="2857153"/>
          </a:xfrm>
          <a:custGeom>
            <a:avLst/>
            <a:gdLst/>
            <a:ahLst/>
            <a:cxnLst/>
            <a:rect r="r" b="b" t="t" l="l"/>
            <a:pathLst>
              <a:path h="2857153" w="1932988">
                <a:moveTo>
                  <a:pt x="0" y="2857153"/>
                </a:moveTo>
                <a:lnTo>
                  <a:pt x="1932988" y="2857153"/>
                </a:lnTo>
                <a:lnTo>
                  <a:pt x="1932988" y="0"/>
                </a:lnTo>
                <a:lnTo>
                  <a:pt x="0" y="0"/>
                </a:lnTo>
                <a:lnTo>
                  <a:pt x="0" y="2857153"/>
                </a:lnTo>
                <a:close/>
              </a:path>
            </a:pathLst>
          </a:custGeom>
          <a:blipFill>
            <a:blip r:embed="rId5"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1272839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Job–Candidate Matching &amp; Explainable AI Engine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4" id="14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29488" r="-256844" b="-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45742" y="3248580"/>
            <a:ext cx="8406522" cy="190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453" indent="-243227" lvl="1">
              <a:lnSpc>
                <a:spcPts val="3852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Traditional </a:t>
            </a: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ATS rely on keyword-based matching</a:t>
            </a:r>
          </a:p>
          <a:p>
            <a:pPr algn="l" marL="486453" indent="-243227" lvl="1">
              <a:lnSpc>
                <a:spcPts val="3852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</a:t>
            </a: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ndidate suitability e</a:t>
            </a: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valuated only by skill presence</a:t>
            </a:r>
          </a:p>
          <a:p>
            <a:pPr algn="l" marL="486453" indent="-243227" lvl="1">
              <a:lnSpc>
                <a:spcPts val="3852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Contextual factors like experience relevance ignored</a:t>
            </a:r>
          </a:p>
          <a:p>
            <a:pPr algn="l" marL="486453" indent="-243227" lvl="1">
              <a:lnSpc>
                <a:spcPts val="3852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 in inaccurate job–candidate matching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92364" y="6298726"/>
            <a:ext cx="7329075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453" indent="-243227" lvl="1">
              <a:lnSpc>
                <a:spcPts val="2703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 an AI-based job–candidate matching           engine</a:t>
            </a:r>
          </a:p>
          <a:p>
            <a:pPr algn="l" marL="486453" indent="-243227" lvl="1">
              <a:lnSpc>
                <a:spcPts val="2703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Compute semantic similarity between candidates and jobs</a:t>
            </a:r>
          </a:p>
          <a:p>
            <a:pPr algn="l" marL="486453" indent="-243227" lvl="1">
              <a:lnSpc>
                <a:spcPts val="2703"/>
              </a:lnSpc>
              <a:buFont typeface="Arial"/>
              <a:buChar char="•"/>
            </a:pPr>
            <a:r>
              <a:rPr lang="en-US" sz="2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transparent explanations for AI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30741" y="3038827"/>
            <a:ext cx="7589170" cy="211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297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Apply NLP embeddings for semantic repres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ation</a:t>
            </a:r>
          </a:p>
          <a:p>
            <a:pPr algn="l" marL="485775" indent="-242888" lvl="1">
              <a:lnSpc>
                <a:spcPts val="4297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 m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achin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learning similarity scoring</a:t>
            </a:r>
          </a:p>
          <a:p>
            <a:pPr algn="l" marL="485775" indent="-242888" lvl="1">
              <a:lnSpc>
                <a:spcPts val="4297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</a:t>
            </a: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nerate ranked candidate recommendation lists</a:t>
            </a:r>
          </a:p>
          <a:p>
            <a:pPr algn="l" marL="485775" indent="-242888" lvl="1">
              <a:lnSpc>
                <a:spcPts val="4297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Produce explainable matching insights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 |  Deshan M A K  |  R26-IT-082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53683" y="265054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Problem Definition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6320" y="265054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Sub-Objectives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259" y="5788694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Research Objective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415604">
            <a:off x="13980204" y="6166955"/>
            <a:ext cx="7129279" cy="7041566"/>
            <a:chOff x="0" y="0"/>
            <a:chExt cx="820785" cy="810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785" cy="810687"/>
            </a:xfrm>
            <a:custGeom>
              <a:avLst/>
              <a:gdLst/>
              <a:ahLst/>
              <a:cxnLst/>
              <a:rect r="r" b="b" t="t" l="l"/>
              <a:pathLst>
                <a:path h="810687" w="820785">
                  <a:moveTo>
                    <a:pt x="273743" y="19070"/>
                  </a:moveTo>
                  <a:cubicBezTo>
                    <a:pt x="315687" y="7556"/>
                    <a:pt x="363661" y="0"/>
                    <a:pt x="410614" y="0"/>
                  </a:cubicBezTo>
                  <a:cubicBezTo>
                    <a:pt x="457567" y="0"/>
                    <a:pt x="502748" y="6476"/>
                    <a:pt x="544384" y="17990"/>
                  </a:cubicBezTo>
                  <a:cubicBezTo>
                    <a:pt x="545271" y="18350"/>
                    <a:pt x="546157" y="18350"/>
                    <a:pt x="547042" y="18710"/>
                  </a:cubicBezTo>
                  <a:cubicBezTo>
                    <a:pt x="703403" y="64765"/>
                    <a:pt x="818570" y="186379"/>
                    <a:pt x="820785" y="328455"/>
                  </a:cubicBezTo>
                  <a:lnTo>
                    <a:pt x="820785" y="810687"/>
                  </a:lnTo>
                  <a:lnTo>
                    <a:pt x="0" y="810687"/>
                  </a:lnTo>
                  <a:lnTo>
                    <a:pt x="0" y="328813"/>
                  </a:lnTo>
                  <a:cubicBezTo>
                    <a:pt x="2215" y="185660"/>
                    <a:pt x="115610" y="64045"/>
                    <a:pt x="273743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820785" cy="721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false" flipV="true" rot="-3388613">
            <a:off x="-3024311" y="-3859077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2"/>
                </a:moveTo>
                <a:lnTo>
                  <a:pt x="4478846" y="6620192"/>
                </a:lnTo>
                <a:lnTo>
                  <a:pt x="4478846" y="0"/>
                </a:lnTo>
                <a:lnTo>
                  <a:pt x="0" y="0"/>
                </a:lnTo>
                <a:lnTo>
                  <a:pt x="0" y="662019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Doors arch geometric shape"/>
          <p:cNvSpPr/>
          <p:nvPr/>
        </p:nvSpPr>
        <p:spPr>
          <a:xfrm flipH="false" flipV="true" rot="7970747">
            <a:off x="16048577" y="7344468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1"/>
                </a:moveTo>
                <a:lnTo>
                  <a:pt x="4478846" y="6620191"/>
                </a:lnTo>
                <a:lnTo>
                  <a:pt x="4478846" y="0"/>
                </a:lnTo>
                <a:lnTo>
                  <a:pt x="0" y="0"/>
                </a:lnTo>
                <a:lnTo>
                  <a:pt x="0" y="6620191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2580883" y="2857531"/>
            <a:ext cx="446128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Domain Knowledge Area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48414" y="2857531"/>
            <a:ext cx="2689798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Technologies</a:t>
            </a:r>
          </a:p>
        </p:txBody>
      </p:sp>
      <p:sp>
        <p:nvSpPr>
          <p:cNvPr name="AutoShape 14" id="14"/>
          <p:cNvSpPr/>
          <p:nvPr/>
        </p:nvSpPr>
        <p:spPr>
          <a:xfrm rot="5400000">
            <a:off x="6617383" y="4982772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433841" y="3707996"/>
            <a:ext cx="6820968" cy="341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Artificial Intelligence for recruitment automation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for text understanding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Machine Learning f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or candidate ranking models</a:t>
            </a:r>
          </a:p>
          <a:p>
            <a:pPr algn="l">
              <a:lnSpc>
                <a:spcPts val="3418"/>
              </a:lnSpc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• Explainable AI for transparent decision</a:t>
            </a:r>
          </a:p>
          <a:p>
            <a:pPr algn="l">
              <a:lnSpc>
                <a:spcPts val="3418"/>
              </a:lnSpc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  making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60494" y="3707996"/>
            <a:ext cx="7618049" cy="256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Sentence-BERT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/ embeddings for semantic similarity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Scikit-learn for similarity scoring models</a:t>
            </a:r>
          </a:p>
          <a:p>
            <a:pPr algn="l" marL="530905" indent="-265453" lvl="1">
              <a:lnSpc>
                <a:spcPts val="341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SHAP / feature importance for explainable      insights </a:t>
            </a:r>
          </a:p>
          <a:p>
            <a:pPr algn="l">
              <a:lnSpc>
                <a:spcPts val="3418"/>
              </a:lnSpc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•  MongoDB for candidate data storage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9" id="19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641695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Job–Candidate Matching &amp; Explainable AI Engine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2973155">
            <a:off x="8303385" y="6259006"/>
            <a:ext cx="4408317" cy="13219535"/>
            <a:chOff x="0" y="0"/>
            <a:chExt cx="614225" cy="1841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4225" cy="1841921"/>
            </a:xfrm>
            <a:custGeom>
              <a:avLst/>
              <a:gdLst/>
              <a:ahLst/>
              <a:cxnLst/>
              <a:rect r="r" b="b" t="t" l="l"/>
              <a:pathLst>
                <a:path h="1841921" w="614225">
                  <a:moveTo>
                    <a:pt x="204852" y="19070"/>
                  </a:moveTo>
                  <a:cubicBezTo>
                    <a:pt x="236241" y="7556"/>
                    <a:pt x="272142" y="0"/>
                    <a:pt x="307278" y="0"/>
                  </a:cubicBezTo>
                  <a:cubicBezTo>
                    <a:pt x="342415" y="0"/>
                    <a:pt x="376226" y="6476"/>
                    <a:pt x="407384" y="17990"/>
                  </a:cubicBezTo>
                  <a:cubicBezTo>
                    <a:pt x="408048" y="18350"/>
                    <a:pt x="408710" y="18350"/>
                    <a:pt x="409373" y="18710"/>
                  </a:cubicBezTo>
                  <a:cubicBezTo>
                    <a:pt x="526384" y="64765"/>
                    <a:pt x="612568" y="186379"/>
                    <a:pt x="614225" y="351362"/>
                  </a:cubicBezTo>
                  <a:lnTo>
                    <a:pt x="614225" y="1841921"/>
                  </a:lnTo>
                  <a:lnTo>
                    <a:pt x="0" y="1841921"/>
                  </a:lnTo>
                  <a:lnTo>
                    <a:pt x="0" y="352468"/>
                  </a:lnTo>
                  <a:cubicBezTo>
                    <a:pt x="1657" y="185660"/>
                    <a:pt x="86515" y="64045"/>
                    <a:pt x="204852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14225" cy="175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0" id="10"/>
          <p:cNvGrpSpPr/>
          <p:nvPr/>
        </p:nvGrpSpPr>
        <p:grpSpPr>
          <a:xfrm rot="2973155">
            <a:off x="13987398" y="7048406"/>
            <a:ext cx="2268040" cy="7099470"/>
            <a:chOff x="0" y="0"/>
            <a:chExt cx="567691" cy="17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3021392">
            <a:off x="16690320" y="-2001910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951" y="2887336"/>
            <a:ext cx="6872583" cy="253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Validate &amp; Evaluate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</a:t>
            </a: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atching accuracy evaluation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Precision, Recall, and F1-Score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Ranking quality for candidate    recommendations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System processing efficiency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951" y="6102695"/>
            <a:ext cx="6259978" cy="17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Data Availability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 resume datasets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 description datasets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Synthetic recruitment data generation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1642" y="5968680"/>
            <a:ext cx="6875894" cy="17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Ethical Clearance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2C0D0A"/>
                </a:solidFill>
                <a:latin typeface="Signika"/>
                <a:ea typeface="Signika"/>
                <a:cs typeface="Signika"/>
                <a:sym typeface="Signika"/>
              </a:rPr>
              <a:t>Personal Data Anonymization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Use of Data for Re</a:t>
            </a: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search Purposes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Compliance with Ethical Data Guidelines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8" id="18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51580" y="2887336"/>
            <a:ext cx="5906553" cy="251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Security</a:t>
            </a:r>
          </a:p>
          <a:p>
            <a:pPr algn="l">
              <a:lnSpc>
                <a:spcPts val="2302"/>
              </a:lnSpc>
            </a:pP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Candidate data anonymization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Access control for recruitment information</a:t>
            </a:r>
          </a:p>
          <a:p>
            <a:pPr algn="l" marL="497079" indent="-248539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3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thical use of recruitment data</a:t>
            </a:r>
          </a:p>
          <a:p>
            <a:pPr algn="l">
              <a:lnSpc>
                <a:spcPts val="322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51220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Job–Candidate Matching &amp; Explainable AI Engine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8" id="8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85261" y="3358380"/>
            <a:ext cx="14337644" cy="5090670"/>
          </a:xfrm>
          <a:custGeom>
            <a:avLst/>
            <a:gdLst/>
            <a:ahLst/>
            <a:cxnLst/>
            <a:rect r="r" b="b" t="t" l="l"/>
            <a:pathLst>
              <a:path h="5090670" w="14337644">
                <a:moveTo>
                  <a:pt x="0" y="0"/>
                </a:moveTo>
                <a:lnTo>
                  <a:pt x="14337643" y="0"/>
                </a:lnTo>
                <a:lnTo>
                  <a:pt x="14337643" y="5090670"/>
                </a:lnTo>
                <a:lnTo>
                  <a:pt x="0" y="5090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20" r="0" b="-52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0720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69108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Job–Candidate Matching &amp; Explainable AI Engine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9622" y="2650308"/>
            <a:ext cx="4165250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System Overview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8" id="8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67233" y="2826611"/>
            <a:ext cx="3310857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Dependencies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4" id="14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0" y="2826611"/>
            <a:ext cx="5178601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Common 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4247" y="3690771"/>
            <a:ext cx="6732860" cy="512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Candidate &amp; Job Data Input:</a:t>
            </a:r>
          </a:p>
          <a:p>
            <a:pPr algn="l">
              <a:lnSpc>
                <a:spcPts val="2723"/>
              </a:lnSpc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matching process depends on structured candidate profiles and job descriptions generated from the resume parsing module.</a:t>
            </a:r>
          </a:p>
          <a:p>
            <a:pPr algn="l">
              <a:lnSpc>
                <a:spcPts val="2723"/>
              </a:lnSpc>
            </a:pPr>
          </a:p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emantic Similarity Processing:</a:t>
            </a:r>
          </a:p>
          <a:p>
            <a:pPr algn="l">
              <a:lnSpc>
                <a:spcPts val="2306"/>
              </a:lnSpc>
            </a:pP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matching engine relies on NLP embeddings and similarity models to analyze relationships between candidate skills and job requirements.</a:t>
            </a:r>
          </a:p>
          <a:p>
            <a:pPr algn="l">
              <a:lnSpc>
                <a:spcPts val="2723"/>
              </a:lnSpc>
            </a:pPr>
          </a:p>
          <a:p>
            <a:pPr algn="l" marL="401367" indent="-200683" lvl="1">
              <a:lnSpc>
                <a:spcPts val="2584"/>
              </a:lnSpc>
              <a:buFont typeface="Arial"/>
              <a:buChar char="•"/>
            </a:pP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18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Explainable AI Analysis:</a:t>
            </a:r>
          </a:p>
          <a:p>
            <a:pPr algn="l">
              <a:lnSpc>
                <a:spcPts val="2584"/>
              </a:lnSpc>
            </a:pP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final candidate recommendation score depends on explainable AI techniques that identify key factors influencing the matching decision.</a:t>
            </a:r>
          </a:p>
          <a:p>
            <a:pPr algn="l">
              <a:lnSpc>
                <a:spcPts val="2306"/>
              </a:lnSpc>
            </a:pPr>
          </a:p>
          <a:p>
            <a:pPr algn="l">
              <a:lnSpc>
                <a:spcPts val="272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039225" y="3748776"/>
            <a:ext cx="7174828" cy="239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Candidate Profile Database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Job Description Repository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API Communication Layer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AI Model Management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Recruiter Dashboard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Security &amp; Data Protection Layer</a:t>
            </a:r>
          </a:p>
          <a:p>
            <a:pPr algn="l">
              <a:lnSpc>
                <a:spcPts val="2862"/>
              </a:lnSpc>
            </a:pPr>
          </a:p>
        </p:txBody>
      </p:sp>
      <p:sp>
        <p:nvSpPr>
          <p:cNvPr name="AutoShape 18" id="18"/>
          <p:cNvSpPr/>
          <p:nvPr/>
        </p:nvSpPr>
        <p:spPr>
          <a:xfrm rot="5400000">
            <a:off x="6143244" y="5289269"/>
            <a:ext cx="5306809" cy="57643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3669108" y="1666050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Job–Candidate Matching &amp; Explainable AI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0720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3336597" y="760578"/>
            <a:ext cx="6636017" cy="9808712"/>
          </a:xfrm>
          <a:custGeom>
            <a:avLst/>
            <a:gdLst/>
            <a:ahLst/>
            <a:cxnLst/>
            <a:rect r="r" b="b" t="t" l="l"/>
            <a:pathLst>
              <a:path h="9808712" w="6636017">
                <a:moveTo>
                  <a:pt x="0" y="9808712"/>
                </a:moveTo>
                <a:lnTo>
                  <a:pt x="6636017" y="9808712"/>
                </a:lnTo>
                <a:lnTo>
                  <a:pt x="6636017" y="0"/>
                </a:lnTo>
                <a:lnTo>
                  <a:pt x="0" y="0"/>
                </a:lnTo>
                <a:lnTo>
                  <a:pt x="0" y="980871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5925989" y="4855213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5400000">
            <a:off x="14459693" y="1469105"/>
            <a:ext cx="2162436" cy="2188571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Freeform 10" id="10"/>
          <p:cNvSpPr/>
          <p:nvPr/>
        </p:nvSpPr>
        <p:spPr>
          <a:xfrm flipH="false" flipV="false" rot="0">
            <a:off x="14491494" y="1528593"/>
            <a:ext cx="2098834" cy="2069594"/>
          </a:xfrm>
          <a:custGeom>
            <a:avLst/>
            <a:gdLst/>
            <a:ahLst/>
            <a:cxnLst/>
            <a:rect r="r" b="b" t="t" l="l"/>
            <a:pathLst>
              <a:path h="2069594" w="2098834">
                <a:moveTo>
                  <a:pt x="0" y="0"/>
                </a:moveTo>
                <a:lnTo>
                  <a:pt x="2098834" y="0"/>
                </a:lnTo>
                <a:lnTo>
                  <a:pt x="2098834" y="2069594"/>
                </a:lnTo>
                <a:lnTo>
                  <a:pt x="0" y="2069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05" t="-5750" r="-747" b="-736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2" id="12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29488" r="-256844" b="-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11051" y="6183234"/>
            <a:ext cx="3207460" cy="2009025"/>
            <a:chOff x="0" y="0"/>
            <a:chExt cx="961353" cy="6021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1353" cy="602153"/>
            </a:xfrm>
            <a:custGeom>
              <a:avLst/>
              <a:gdLst/>
              <a:ahLst/>
              <a:cxnLst/>
              <a:rect r="r" b="b" t="t" l="l"/>
              <a:pathLst>
                <a:path h="602153" w="961353">
                  <a:moveTo>
                    <a:pt x="961353" y="301077"/>
                  </a:moveTo>
                  <a:lnTo>
                    <a:pt x="554953" y="0"/>
                  </a:lnTo>
                  <a:lnTo>
                    <a:pt x="554953" y="203200"/>
                  </a:lnTo>
                  <a:lnTo>
                    <a:pt x="0" y="203200"/>
                  </a:lnTo>
                  <a:lnTo>
                    <a:pt x="0" y="398953"/>
                  </a:lnTo>
                  <a:lnTo>
                    <a:pt x="554953" y="398953"/>
                  </a:lnTo>
                  <a:lnTo>
                    <a:pt x="554953" y="602153"/>
                  </a:lnTo>
                  <a:lnTo>
                    <a:pt x="961353" y="301077"/>
                  </a:lnTo>
                  <a:close/>
                </a:path>
              </a:pathLst>
            </a:custGeom>
            <a:solidFill>
              <a:srgbClr val="62DDD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46050"/>
              <a:ext cx="859753" cy="252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52"/>
                </a:lnSpc>
              </a:pPr>
              <a:r>
                <a:rPr lang="en-US" b="true" sz="305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Novelty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14851" y="2530840"/>
            <a:ext cx="10910485" cy="6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6039" b="true">
                <a:solidFill>
                  <a:srgbClr val="000000"/>
                </a:solidFill>
                <a:latin typeface="Signika Bold"/>
                <a:ea typeface="Signika Bold"/>
                <a:cs typeface="Signika Bold"/>
                <a:sym typeface="Signika Bold"/>
              </a:rPr>
              <a:t>IT22197832 - Tennakoon T.M.S.S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639" y="4051256"/>
            <a:ext cx="15209809" cy="57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91" b="true">
                <a:solidFill>
                  <a:srgbClr val="449497"/>
                </a:solidFill>
                <a:latin typeface="DM Sans Bold"/>
                <a:ea typeface="DM Sans Bold"/>
                <a:cs typeface="DM Sans Bold"/>
                <a:sym typeface="DM Sans Bold"/>
              </a:rPr>
              <a:t>AI-Based Interview Evaluation, Soft Skill Analysis &amp; Certificate Validation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7639" y="5121944"/>
            <a:ext cx="15389897" cy="50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91">
                <a:solidFill>
                  <a:srgbClr val="1D4355"/>
                </a:solidFill>
                <a:latin typeface="DM Sans"/>
                <a:ea typeface="DM Sans"/>
                <a:cs typeface="DM Sans"/>
                <a:sym typeface="DM Sans"/>
              </a:rPr>
              <a:t>Active interview phase    |     Soft-Skill Quantification    |     Enhanced Decision Support        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72261" y="6135609"/>
            <a:ext cx="5562935" cy="195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Multimodal Soft-Skill Evaluation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Context-Aware Skill Assessment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Behavioral &amp; Emotional Cue Analysis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Expl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ainable AI (XAI) Scoring</a:t>
            </a: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Advanced Transcription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5551316" y="4640052"/>
            <a:ext cx="1502102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-9525" y="6614839"/>
            <a:ext cx="3687586" cy="3681686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8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9" id="9" descr="Doors arch geometric shape"/>
          <p:cNvSpPr/>
          <p:nvPr/>
        </p:nvSpPr>
        <p:spPr>
          <a:xfrm flipH="false" flipV="true" rot="3021392">
            <a:off x="15306913" y="-1877015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Doors arch geometric shape"/>
          <p:cNvSpPr/>
          <p:nvPr/>
        </p:nvSpPr>
        <p:spPr>
          <a:xfrm flipH="false" flipV="true" rot="3021392">
            <a:off x="17654776" y="1345144"/>
            <a:ext cx="1932988" cy="2857153"/>
          </a:xfrm>
          <a:custGeom>
            <a:avLst/>
            <a:gdLst/>
            <a:ahLst/>
            <a:cxnLst/>
            <a:rect r="r" b="b" t="t" l="l"/>
            <a:pathLst>
              <a:path h="2857153" w="1932988">
                <a:moveTo>
                  <a:pt x="0" y="2857153"/>
                </a:moveTo>
                <a:lnTo>
                  <a:pt x="1932988" y="2857153"/>
                </a:lnTo>
                <a:lnTo>
                  <a:pt x="1932988" y="0"/>
                </a:lnTo>
                <a:lnTo>
                  <a:pt x="0" y="0"/>
                </a:lnTo>
                <a:lnTo>
                  <a:pt x="0" y="2857153"/>
                </a:lnTo>
                <a:close/>
              </a:path>
            </a:pathLst>
          </a:custGeom>
          <a:blipFill>
            <a:blip r:embed="rId5"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| Sajani Tennakoon | R26-IT-082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4" id="14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29488" r="-256844" b="-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30935" y="3503859"/>
            <a:ext cx="8406522" cy="14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3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efficiency of Tr</a:t>
            </a:r>
            <a:r>
              <a:rPr lang="en-US" sz="23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aditional Systems</a:t>
            </a:r>
          </a:p>
          <a:p>
            <a:pPr algn="l" marL="508043" indent="-254021" lvl="1">
              <a:lnSpc>
                <a:spcPts val="40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Limited Evaluation of Soft Skills</a:t>
            </a:r>
          </a:p>
          <a:p>
            <a:pPr algn="l">
              <a:lnSpc>
                <a:spcPts val="402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61941" y="6862489"/>
            <a:ext cx="1486886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043" indent="-254021" lvl="1">
              <a:lnSpc>
                <a:spcPts val="2823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develop an AI-driven system that analyzes candidate interview responses and evaluates communication skills, behavioral cues, and emotional tone to generate objective soft-skill scores.</a:t>
            </a:r>
          </a:p>
          <a:p>
            <a:pPr algn="l">
              <a:lnSpc>
                <a:spcPts val="282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595282" y="3298194"/>
            <a:ext cx="6906952" cy="301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756" indent="-230878" lvl="1">
              <a:lnSpc>
                <a:spcPts val="4085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Objective Decision S</a:t>
            </a: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upport</a:t>
            </a:r>
          </a:p>
          <a:p>
            <a:pPr algn="l" marL="461756" indent="-230878" lvl="1">
              <a:lnSpc>
                <a:spcPts val="4085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Reduced Time-to-Hire</a:t>
            </a:r>
          </a:p>
          <a:p>
            <a:pPr algn="l" marL="461756" indent="-230878" lvl="1">
              <a:lnSpc>
                <a:spcPts val="4085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 AI-based soft skill evaluation scores.</a:t>
            </a:r>
          </a:p>
          <a:p>
            <a:pPr algn="l" marL="461756" indent="-230878" lvl="1">
              <a:lnSpc>
                <a:spcPts val="4085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 a Communication and Behavioral Cue Analysis Module</a:t>
            </a:r>
          </a:p>
          <a:p>
            <a:pPr algn="l" marL="461756" indent="-230878" lvl="1">
              <a:lnSpc>
                <a:spcPts val="4085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Integrate Automated Certificate Validation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AI-Based Interview Evaluation, Soft Skill Analysis &amp; Certificate Validation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99813" y="285128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Problem Definition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37457" y="265054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Sub-Objectives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77575" y="6193787"/>
            <a:ext cx="3848684" cy="3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Research Objective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415604">
            <a:off x="13980204" y="6166955"/>
            <a:ext cx="7129279" cy="7041566"/>
            <a:chOff x="0" y="0"/>
            <a:chExt cx="820785" cy="810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785" cy="810687"/>
            </a:xfrm>
            <a:custGeom>
              <a:avLst/>
              <a:gdLst/>
              <a:ahLst/>
              <a:cxnLst/>
              <a:rect r="r" b="b" t="t" l="l"/>
              <a:pathLst>
                <a:path h="810687" w="820785">
                  <a:moveTo>
                    <a:pt x="273743" y="19070"/>
                  </a:moveTo>
                  <a:cubicBezTo>
                    <a:pt x="315687" y="7556"/>
                    <a:pt x="363661" y="0"/>
                    <a:pt x="410614" y="0"/>
                  </a:cubicBezTo>
                  <a:cubicBezTo>
                    <a:pt x="457567" y="0"/>
                    <a:pt x="502748" y="6476"/>
                    <a:pt x="544384" y="17990"/>
                  </a:cubicBezTo>
                  <a:cubicBezTo>
                    <a:pt x="545271" y="18350"/>
                    <a:pt x="546157" y="18350"/>
                    <a:pt x="547042" y="18710"/>
                  </a:cubicBezTo>
                  <a:cubicBezTo>
                    <a:pt x="703403" y="64765"/>
                    <a:pt x="818570" y="186379"/>
                    <a:pt x="820785" y="328455"/>
                  </a:cubicBezTo>
                  <a:lnTo>
                    <a:pt x="820785" y="810687"/>
                  </a:lnTo>
                  <a:lnTo>
                    <a:pt x="0" y="810687"/>
                  </a:lnTo>
                  <a:lnTo>
                    <a:pt x="0" y="328813"/>
                  </a:lnTo>
                  <a:cubicBezTo>
                    <a:pt x="2215" y="185660"/>
                    <a:pt x="115610" y="64045"/>
                    <a:pt x="273743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820785" cy="721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false" flipV="true" rot="-3388613">
            <a:off x="-3024311" y="-3859077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2"/>
                </a:moveTo>
                <a:lnTo>
                  <a:pt x="4478846" y="6620192"/>
                </a:lnTo>
                <a:lnTo>
                  <a:pt x="4478846" y="0"/>
                </a:lnTo>
                <a:lnTo>
                  <a:pt x="0" y="0"/>
                </a:lnTo>
                <a:lnTo>
                  <a:pt x="0" y="6620192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Doors arch geometric shape"/>
          <p:cNvSpPr/>
          <p:nvPr/>
        </p:nvSpPr>
        <p:spPr>
          <a:xfrm flipH="false" flipV="true" rot="7970747">
            <a:off x="16048577" y="7344468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1"/>
                </a:moveTo>
                <a:lnTo>
                  <a:pt x="4478846" y="6620191"/>
                </a:lnTo>
                <a:lnTo>
                  <a:pt x="4478846" y="0"/>
                </a:lnTo>
                <a:lnTo>
                  <a:pt x="0" y="0"/>
                </a:lnTo>
                <a:lnTo>
                  <a:pt x="0" y="6620191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2206112" y="2748772"/>
            <a:ext cx="4013616" cy="2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27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Domain Knowledge Area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AI-Based Interview Evaluation, Soft Skill Analysis &amp; Certificate 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73026" y="2748772"/>
            <a:ext cx="2087536" cy="2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27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28422" y="2748772"/>
            <a:ext cx="2269732" cy="2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27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Technologies</a:t>
            </a:r>
          </a:p>
        </p:txBody>
      </p:sp>
      <p:sp>
        <p:nvSpPr>
          <p:cNvPr name="AutoShape 16" id="16"/>
          <p:cNvSpPr/>
          <p:nvPr/>
        </p:nvSpPr>
        <p:spPr>
          <a:xfrm rot="5400000">
            <a:off x="9504604" y="5185553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AutoShape 17" id="17"/>
          <p:cNvSpPr/>
          <p:nvPr/>
        </p:nvSpPr>
        <p:spPr>
          <a:xfrm rot="5400000">
            <a:off x="4238097" y="5185553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2381478" y="3729726"/>
            <a:ext cx="3662883" cy="313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(NLP)</a:t>
            </a:r>
          </a:p>
          <a:p>
            <a:pPr algn="l">
              <a:lnSpc>
                <a:spcPts val="3140"/>
              </a:lnSpc>
            </a:pP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rtificial Intelligence</a:t>
            </a:r>
          </a:p>
          <a:p>
            <a:pPr algn="l">
              <a:lnSpc>
                <a:spcPts val="3140"/>
              </a:lnSpc>
            </a:pPr>
          </a:p>
          <a:p>
            <a:pPr algn="l" marL="487725" indent="-243863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Software Engineering</a:t>
            </a:r>
          </a:p>
          <a:p>
            <a:pPr algn="l">
              <a:lnSpc>
                <a:spcPts val="3140"/>
              </a:lnSpc>
            </a:pPr>
          </a:p>
          <a:p>
            <a:pPr algn="l">
              <a:lnSpc>
                <a:spcPts val="31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495459" y="3667872"/>
            <a:ext cx="4934377" cy="4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Research Approach</a:t>
            </a:r>
          </a:p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ata Collection</a:t>
            </a:r>
          </a:p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Speech-to-Text Conversion</a:t>
            </a:r>
          </a:p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</a:t>
            </a:r>
          </a:p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Communication Pattern Analysis</a:t>
            </a:r>
          </a:p>
          <a:p>
            <a:pPr algn="l" marL="513655" indent="-256828" lvl="1">
              <a:lnSpc>
                <a:spcPts val="3568"/>
              </a:lnSpc>
              <a:buFont typeface="Arial"/>
              <a:buChar char="•"/>
            </a:pPr>
            <a:r>
              <a:rPr lang="en-US" sz="237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Soft Skill Scoring</a:t>
            </a:r>
          </a:p>
          <a:p>
            <a:pPr algn="l">
              <a:lnSpc>
                <a:spcPts val="3568"/>
              </a:lnSpc>
            </a:pPr>
          </a:p>
          <a:p>
            <a:pPr algn="l">
              <a:lnSpc>
                <a:spcPts val="3568"/>
              </a:lnSpc>
            </a:pPr>
          </a:p>
          <a:p>
            <a:pPr algn="l">
              <a:lnSpc>
                <a:spcPts val="356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876265" y="3729726"/>
            <a:ext cx="4169103" cy="378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725" indent="-243862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OpenAI Whisper</a:t>
            </a:r>
          </a:p>
          <a:p>
            <a:pPr algn="l">
              <a:lnSpc>
                <a:spcPts val="2167"/>
              </a:lnSpc>
            </a:pP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           T</a:t>
            </a: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ranscription of interview audio.</a:t>
            </a:r>
          </a:p>
          <a:p>
            <a:pPr algn="l">
              <a:lnSpc>
                <a:spcPts val="2167"/>
              </a:lnSpc>
            </a:pPr>
          </a:p>
          <a:p>
            <a:pPr algn="l" marL="487725" indent="-243862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aCy</a:t>
            </a:r>
          </a:p>
          <a:p>
            <a:pPr algn="l">
              <a:lnSpc>
                <a:spcPts val="2167"/>
              </a:lnSpc>
            </a:pP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           </a:t>
            </a: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NLP-based text analysis </a:t>
            </a:r>
          </a:p>
          <a:p>
            <a:pPr algn="l">
              <a:lnSpc>
                <a:spcPts val="2167"/>
              </a:lnSpc>
            </a:pPr>
          </a:p>
          <a:p>
            <a:pPr algn="l" marL="487725" indent="-243862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VADER / TextBlob</a:t>
            </a:r>
          </a:p>
          <a:p>
            <a:pPr algn="l">
              <a:lnSpc>
                <a:spcPts val="2167"/>
              </a:lnSpc>
            </a:pP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          </a:t>
            </a: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Integrated for sentiment analysis</a:t>
            </a:r>
          </a:p>
          <a:p>
            <a:pPr algn="l">
              <a:lnSpc>
                <a:spcPts val="2167"/>
              </a:lnSpc>
            </a:pPr>
          </a:p>
          <a:p>
            <a:pPr algn="l" marL="487725" indent="-243862" lvl="1">
              <a:lnSpc>
                <a:spcPts val="3140"/>
              </a:lnSpc>
              <a:buFont typeface="Arial"/>
              <a:buChar char="•"/>
            </a:pPr>
            <a:r>
              <a:rPr lang="en-US" sz="22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</a:p>
          <a:p>
            <a:pPr algn="l">
              <a:lnSpc>
                <a:spcPts val="1889"/>
              </a:lnSpc>
            </a:pPr>
            <a:r>
              <a:rPr lang="en-US" sz="13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              M</a:t>
            </a:r>
            <a:r>
              <a:rPr lang="en-US" sz="13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odel development</a:t>
            </a:r>
          </a:p>
          <a:p>
            <a:pPr algn="l">
              <a:lnSpc>
                <a:spcPts val="31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23" id="2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2973155">
            <a:off x="8303385" y="6259006"/>
            <a:ext cx="4408317" cy="13219535"/>
            <a:chOff x="0" y="0"/>
            <a:chExt cx="614225" cy="1841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4225" cy="1841921"/>
            </a:xfrm>
            <a:custGeom>
              <a:avLst/>
              <a:gdLst/>
              <a:ahLst/>
              <a:cxnLst/>
              <a:rect r="r" b="b" t="t" l="l"/>
              <a:pathLst>
                <a:path h="1841921" w="614225">
                  <a:moveTo>
                    <a:pt x="204852" y="19070"/>
                  </a:moveTo>
                  <a:cubicBezTo>
                    <a:pt x="236241" y="7556"/>
                    <a:pt x="272142" y="0"/>
                    <a:pt x="307278" y="0"/>
                  </a:cubicBezTo>
                  <a:cubicBezTo>
                    <a:pt x="342415" y="0"/>
                    <a:pt x="376226" y="6476"/>
                    <a:pt x="407384" y="17990"/>
                  </a:cubicBezTo>
                  <a:cubicBezTo>
                    <a:pt x="408048" y="18350"/>
                    <a:pt x="408710" y="18350"/>
                    <a:pt x="409373" y="18710"/>
                  </a:cubicBezTo>
                  <a:cubicBezTo>
                    <a:pt x="526384" y="64765"/>
                    <a:pt x="612568" y="186379"/>
                    <a:pt x="614225" y="351362"/>
                  </a:cubicBezTo>
                  <a:lnTo>
                    <a:pt x="614225" y="1841921"/>
                  </a:lnTo>
                  <a:lnTo>
                    <a:pt x="0" y="1841921"/>
                  </a:lnTo>
                  <a:lnTo>
                    <a:pt x="0" y="352468"/>
                  </a:lnTo>
                  <a:cubicBezTo>
                    <a:pt x="1657" y="185660"/>
                    <a:pt x="86515" y="64045"/>
                    <a:pt x="204852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14225" cy="175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10" id="10"/>
          <p:cNvGrpSpPr/>
          <p:nvPr/>
        </p:nvGrpSpPr>
        <p:grpSpPr>
          <a:xfrm rot="2973155">
            <a:off x="13987398" y="7048406"/>
            <a:ext cx="2268040" cy="7099470"/>
            <a:chOff x="0" y="0"/>
            <a:chExt cx="567691" cy="17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3021392">
            <a:off x="16690320" y="-2001910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951" y="2522596"/>
            <a:ext cx="7792876" cy="307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Validate &amp; Evaluate</a:t>
            </a:r>
          </a:p>
          <a:p>
            <a:pPr algn="l">
              <a:lnSpc>
                <a:spcPts val="2302"/>
              </a:lnSpc>
            </a:pP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Compare AI-generated soft skill scores with human HR expert evaluations.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Use sample interview datasets to test the system performance.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Conduct pilot testing with mock interview recordings.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Verify accuracy of speech-to-text transcription.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Validate sentiment detection results using labeled datasets.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AI-Based Interview Evaluation, Soft Skill Analysis &amp; Certificate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3951" y="6102030"/>
            <a:ext cx="4869838" cy="214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Data Availability</a:t>
            </a:r>
          </a:p>
          <a:p>
            <a:pPr algn="l">
              <a:lnSpc>
                <a:spcPts val="2465"/>
              </a:lnSpc>
            </a:pP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Public interview datasets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Simulated interview recordings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Candidate response datasets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collect through IBM HR data set</a:t>
            </a:r>
          </a:p>
          <a:p>
            <a:pPr algn="l">
              <a:lnSpc>
                <a:spcPts val="253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51580" y="2522596"/>
            <a:ext cx="4869838" cy="181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Security</a:t>
            </a:r>
          </a:p>
          <a:p>
            <a:pPr algn="l">
              <a:lnSpc>
                <a:spcPts val="2302"/>
              </a:lnSpc>
            </a:pP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Data anonymization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Secure storage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Encrypted interview recordings</a:t>
            </a:r>
          </a:p>
          <a:p>
            <a:pPr algn="l" marL="497079" indent="-248539" lvl="1">
              <a:lnSpc>
                <a:spcPts val="253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Ethical approval for human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51580" y="5426032"/>
            <a:ext cx="6475860" cy="233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3202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Ethical Clearance</a:t>
            </a:r>
          </a:p>
          <a:p>
            <a:pPr algn="l">
              <a:lnSpc>
                <a:spcPts val="2202"/>
              </a:lnSpc>
            </a:pPr>
          </a:p>
          <a:p>
            <a:pPr algn="l" marL="475490" indent="-237745" lvl="1">
              <a:lnSpc>
                <a:spcPts val="2422"/>
              </a:lnSpc>
              <a:buFont typeface="Arial"/>
              <a:buChar char="•"/>
            </a:pPr>
            <a:r>
              <a:rPr lang="en-US" sz="22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Ethical Conside</a:t>
            </a:r>
            <a:r>
              <a:rPr lang="en-US" sz="22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rations - Ensure fair AI decisions.</a:t>
            </a:r>
          </a:p>
          <a:p>
            <a:pPr algn="l" marL="475490" indent="-237745" lvl="1">
              <a:lnSpc>
                <a:spcPts val="2422"/>
              </a:lnSpc>
              <a:buFont typeface="Arial"/>
              <a:buChar char="•"/>
            </a:pPr>
            <a:r>
              <a:rPr lang="en-US" sz="22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Data Privacy &amp; Security -  secure and encrypted </a:t>
            </a:r>
          </a:p>
          <a:p>
            <a:pPr algn="l" marL="475490" indent="-237745" lvl="1">
              <a:lnSpc>
                <a:spcPts val="2422"/>
              </a:lnSpc>
              <a:buFont typeface="Arial"/>
              <a:buChar char="•"/>
            </a:pPr>
            <a:r>
              <a:rPr lang="en-US" sz="2202">
                <a:solidFill>
                  <a:srgbClr val="000000"/>
                </a:solidFill>
                <a:latin typeface="Signika"/>
                <a:ea typeface="Signika"/>
                <a:cs typeface="Signika"/>
                <a:sym typeface="Signika"/>
              </a:rPr>
              <a:t>The system will follow data protection guidelines and ethical research standards.</a:t>
            </a:r>
          </a:p>
          <a:p>
            <a:pPr algn="l">
              <a:lnSpc>
                <a:spcPts val="2202"/>
              </a:lnSpc>
            </a:pPr>
          </a:p>
          <a:p>
            <a:pPr algn="l">
              <a:lnSpc>
                <a:spcPts val="2202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20" id="20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8" id="8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3" id="13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100945" y="3102266"/>
            <a:ext cx="10605412" cy="5346783"/>
          </a:xfrm>
          <a:custGeom>
            <a:avLst/>
            <a:gdLst/>
            <a:ahLst/>
            <a:cxnLst/>
            <a:rect r="r" b="b" t="t" l="l"/>
            <a:pathLst>
              <a:path h="5346783" w="10605412">
                <a:moveTo>
                  <a:pt x="0" y="0"/>
                </a:moveTo>
                <a:lnTo>
                  <a:pt x="10605413" y="0"/>
                </a:lnTo>
                <a:lnTo>
                  <a:pt x="10605413" y="5346784"/>
                </a:lnTo>
                <a:lnTo>
                  <a:pt x="0" y="5346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101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AI-Based Interview Evaluation, Soft Skill Analysis &amp; Certificate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9622" y="2650308"/>
            <a:ext cx="4165250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System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021392">
            <a:off x="12629895" y="406052"/>
            <a:ext cx="7032902" cy="10395348"/>
          </a:xfrm>
          <a:custGeom>
            <a:avLst/>
            <a:gdLst/>
            <a:ahLst/>
            <a:cxnLst/>
            <a:rect r="r" b="b" t="t" l="l"/>
            <a:pathLst>
              <a:path h="10395348" w="7032902">
                <a:moveTo>
                  <a:pt x="0" y="10395348"/>
                </a:moveTo>
                <a:lnTo>
                  <a:pt x="7032902" y="10395348"/>
                </a:lnTo>
                <a:lnTo>
                  <a:pt x="7032902" y="0"/>
                </a:lnTo>
                <a:lnTo>
                  <a:pt x="0" y="0"/>
                </a:lnTo>
                <a:lnTo>
                  <a:pt x="0" y="10395348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8" id="8"/>
          <p:cNvSpPr/>
          <p:nvPr/>
        </p:nvSpPr>
        <p:spPr>
          <a:xfrm flipH="false" flipV="true" rot="3021392">
            <a:off x="13232914" y="-2563936"/>
            <a:ext cx="2900655" cy="4287465"/>
          </a:xfrm>
          <a:custGeom>
            <a:avLst/>
            <a:gdLst/>
            <a:ahLst/>
            <a:cxnLst/>
            <a:rect r="r" b="b" t="t" l="l"/>
            <a:pathLst>
              <a:path h="4287465" w="2900655">
                <a:moveTo>
                  <a:pt x="0" y="4287465"/>
                </a:moveTo>
                <a:lnTo>
                  <a:pt x="2900655" y="4287465"/>
                </a:lnTo>
                <a:lnTo>
                  <a:pt x="2900655" y="0"/>
                </a:lnTo>
                <a:lnTo>
                  <a:pt x="0" y="0"/>
                </a:lnTo>
                <a:lnTo>
                  <a:pt x="0" y="4287465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973155">
            <a:off x="352125" y="8995709"/>
            <a:ext cx="1688153" cy="2606140"/>
            <a:chOff x="0" y="0"/>
            <a:chExt cx="567691" cy="876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691" cy="876391"/>
            </a:xfrm>
            <a:custGeom>
              <a:avLst/>
              <a:gdLst/>
              <a:ahLst/>
              <a:cxnLst/>
              <a:rect r="r" b="b" t="t" l="l"/>
              <a:pathLst>
                <a:path h="876391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29915"/>
                  </a:cubicBezTo>
                  <a:lnTo>
                    <a:pt x="567691" y="876391"/>
                  </a:lnTo>
                  <a:lnTo>
                    <a:pt x="0" y="876391"/>
                  </a:lnTo>
                  <a:lnTo>
                    <a:pt x="0" y="330320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8900"/>
              <a:ext cx="567691" cy="787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59622" y="1623728"/>
            <a:ext cx="14559207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AI-Based Interview Evaluation, Soft Skill Analysis &amp; Certificate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7233" y="2826611"/>
            <a:ext cx="3310857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Dependencies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5" id="15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0" y="2826611"/>
            <a:ext cx="5178601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Common Components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4247" y="3748776"/>
            <a:ext cx="6732860" cy="404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777" indent="-189889" lvl="1">
              <a:lnSpc>
                <a:spcPts val="2445"/>
              </a:lnSpc>
              <a:buFont typeface="Arial"/>
              <a:buChar char="•"/>
            </a:pPr>
            <a:r>
              <a:rPr lang="en-US" b="true" sz="17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Audio Input to Transcription: </a:t>
            </a:r>
          </a:p>
          <a:p>
            <a:pPr algn="l">
              <a:lnSpc>
                <a:spcPts val="2306"/>
              </a:lnSpc>
            </a:pPr>
            <a:r>
              <a:rPr lang="en-US" sz="16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analysis cannot begin until the raw interview audio is successfully captured and fed into the OpenAI Whisper engine.</a:t>
            </a:r>
          </a:p>
          <a:p>
            <a:pPr algn="l">
              <a:lnSpc>
                <a:spcPts val="2584"/>
              </a:lnSpc>
            </a:pPr>
          </a:p>
          <a:p>
            <a:pPr algn="l" marL="379777" indent="-189889" lvl="1">
              <a:lnSpc>
                <a:spcPts val="2445"/>
              </a:lnSpc>
              <a:buFont typeface="Arial"/>
              <a:buChar char="•"/>
            </a:pPr>
            <a:r>
              <a:rPr lang="en-US" b="true" sz="17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Text to NLP Processing:</a:t>
            </a:r>
            <a:r>
              <a:rPr lang="en-US" sz="17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2167"/>
              </a:lnSpc>
            </a:pP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SpaCy and Transformer models for response evaluation and behavioral analysis depend entirely on the text transcripts generated by the transcription module.</a:t>
            </a:r>
          </a:p>
          <a:p>
            <a:pPr algn="l">
              <a:lnSpc>
                <a:spcPts val="2584"/>
              </a:lnSpc>
            </a:pPr>
          </a:p>
          <a:p>
            <a:pPr algn="l" marL="379777" indent="-189889" lvl="1">
              <a:lnSpc>
                <a:spcPts val="2445"/>
              </a:lnSpc>
              <a:buFont typeface="Arial"/>
              <a:buChar char="•"/>
            </a:pPr>
            <a:r>
              <a:rPr lang="en-US" b="true" sz="1759">
                <a:solidFill>
                  <a:srgbClr val="2C0D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 to Scoring: </a:t>
            </a:r>
          </a:p>
          <a:p>
            <a:pPr algn="l">
              <a:lnSpc>
                <a:spcPts val="2167"/>
              </a:lnSpc>
            </a:pPr>
            <a:r>
              <a:rPr lang="en-US" sz="15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The final "Candidate Readiness Score" depends on the aggregated outputs from the sentiment analysis, fluency detection, and relevance scoring sub-modules</a:t>
            </a:r>
          </a:p>
          <a:p>
            <a:pPr algn="l">
              <a:lnSpc>
                <a:spcPts val="258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039225" y="3748776"/>
            <a:ext cx="7174828" cy="274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Candidate Profile Database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Authentication &amp; User Management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Resume Repository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API Communication Layer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 Model Management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Recruiter Dashboard</a:t>
            </a:r>
          </a:p>
          <a:p>
            <a:pPr algn="l" marL="422956" indent="-211478" lvl="1">
              <a:lnSpc>
                <a:spcPts val="2723"/>
              </a:lnSpc>
              <a:buFont typeface="Arial"/>
              <a:buChar char="•"/>
            </a:pPr>
            <a:r>
              <a:rPr lang="en-US" sz="19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Security &amp; Data Protection Layer</a:t>
            </a:r>
          </a:p>
          <a:p>
            <a:pPr algn="l">
              <a:lnSpc>
                <a:spcPts val="286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126259" y="8849283"/>
            <a:ext cx="6657022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  <p:sp>
        <p:nvSpPr>
          <p:cNvPr name="AutoShape 20" id="20"/>
          <p:cNvSpPr/>
          <p:nvPr/>
        </p:nvSpPr>
        <p:spPr>
          <a:xfrm rot="5400000">
            <a:off x="6143244" y="5289269"/>
            <a:ext cx="5306809" cy="57643"/>
          </a:xfrm>
          <a:prstGeom prst="rect">
            <a:avLst/>
          </a:prstGeom>
          <a:solidFill>
            <a:srgbClr val="365B6D"/>
          </a:solidFill>
        </p:spPr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Freeform 6" id="6" descr="Doors arch geometric shape"/>
          <p:cNvSpPr/>
          <p:nvPr/>
        </p:nvSpPr>
        <p:spPr>
          <a:xfrm flipH="true" flipV="false" rot="-2466443">
            <a:off x="13556236" y="2742805"/>
            <a:ext cx="5980449" cy="8839715"/>
          </a:xfrm>
          <a:custGeom>
            <a:avLst/>
            <a:gdLst/>
            <a:ahLst/>
            <a:cxnLst/>
            <a:rect r="r" b="b" t="t" l="l"/>
            <a:pathLst>
              <a:path h="8839715" w="5980449">
                <a:moveTo>
                  <a:pt x="5980449" y="0"/>
                </a:moveTo>
                <a:lnTo>
                  <a:pt x="0" y="0"/>
                </a:lnTo>
                <a:lnTo>
                  <a:pt x="0" y="8839715"/>
                </a:lnTo>
                <a:lnTo>
                  <a:pt x="5980449" y="8839715"/>
                </a:lnTo>
                <a:lnTo>
                  <a:pt x="5980449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8" id="8"/>
          <p:cNvGrpSpPr/>
          <p:nvPr/>
        </p:nvGrpSpPr>
        <p:grpSpPr>
          <a:xfrm rot="-2291844">
            <a:off x="13577929" y="7798145"/>
            <a:ext cx="1590210" cy="4977710"/>
            <a:chOff x="0" y="0"/>
            <a:chExt cx="567691" cy="177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2" id="12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764358" y="1580325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AI-Powered Intelligent Talent Acquisition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3148" y="2534898"/>
            <a:ext cx="6684996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Cost &amp; Pricing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64689" y="2534898"/>
            <a:ext cx="4669199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Target Market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8436" y="5793340"/>
            <a:ext cx="5878677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Cost Recovery (Pricing)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4689" y="5736190"/>
            <a:ext cx="4669199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Customer Profile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5745" y="2863031"/>
            <a:ext cx="6958432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Cloud infrastructure and database hosting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 maintenance and updates</a:t>
            </a:r>
          </a:p>
          <a:p>
            <a:pPr algn="l">
              <a:lnSpc>
                <a:spcPts val="302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565745" y="6426273"/>
            <a:ext cx="766396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Software-as-a-Service (SaaS) subsc</a:t>
            </a: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ription model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Tier-based pricing depending on resume processing volume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Enterprise licensing for large organizations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00114" y="3175801"/>
            <a:ext cx="766396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rporate HR departments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Recruitment agencies and HR consultancies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Technology companies with high hiring volumes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00114" y="6372526"/>
            <a:ext cx="726742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HR</a:t>
            </a: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managers, 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recruiters</a:t>
            </a:r>
          </a:p>
          <a:p>
            <a:pPr algn="l" marL="543717" indent="-271858" lvl="1">
              <a:lnSpc>
                <a:spcPts val="3022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talent acquisition specialists</a:t>
            </a:r>
          </a:p>
          <a:p>
            <a:pPr algn="l">
              <a:lnSpc>
                <a:spcPts val="302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415604">
            <a:off x="13980204" y="6166955"/>
            <a:ext cx="7129279" cy="7041566"/>
            <a:chOff x="0" y="0"/>
            <a:chExt cx="820785" cy="8106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0785" cy="810687"/>
            </a:xfrm>
            <a:custGeom>
              <a:avLst/>
              <a:gdLst/>
              <a:ahLst/>
              <a:cxnLst/>
              <a:rect r="r" b="b" t="t" l="l"/>
              <a:pathLst>
                <a:path h="810687" w="820785">
                  <a:moveTo>
                    <a:pt x="273743" y="19070"/>
                  </a:moveTo>
                  <a:cubicBezTo>
                    <a:pt x="315687" y="7556"/>
                    <a:pt x="363661" y="0"/>
                    <a:pt x="410614" y="0"/>
                  </a:cubicBezTo>
                  <a:cubicBezTo>
                    <a:pt x="457567" y="0"/>
                    <a:pt x="502748" y="6476"/>
                    <a:pt x="544384" y="17990"/>
                  </a:cubicBezTo>
                  <a:cubicBezTo>
                    <a:pt x="545271" y="18350"/>
                    <a:pt x="546157" y="18350"/>
                    <a:pt x="547042" y="18710"/>
                  </a:cubicBezTo>
                  <a:cubicBezTo>
                    <a:pt x="703403" y="64765"/>
                    <a:pt x="818570" y="186379"/>
                    <a:pt x="820785" y="328455"/>
                  </a:cubicBezTo>
                  <a:lnTo>
                    <a:pt x="820785" y="810687"/>
                  </a:lnTo>
                  <a:lnTo>
                    <a:pt x="0" y="810687"/>
                  </a:lnTo>
                  <a:lnTo>
                    <a:pt x="0" y="328813"/>
                  </a:lnTo>
                  <a:cubicBezTo>
                    <a:pt x="2215" y="185660"/>
                    <a:pt x="115610" y="64045"/>
                    <a:pt x="273743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820785" cy="721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Doors arch geometric shape"/>
          <p:cNvSpPr/>
          <p:nvPr/>
        </p:nvSpPr>
        <p:spPr>
          <a:xfrm flipH="false" flipV="true" rot="-3388613">
            <a:off x="-3024311" y="-3859077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2"/>
                </a:moveTo>
                <a:lnTo>
                  <a:pt x="4478846" y="6620192"/>
                </a:lnTo>
                <a:lnTo>
                  <a:pt x="4478846" y="0"/>
                </a:lnTo>
                <a:lnTo>
                  <a:pt x="0" y="0"/>
                </a:lnTo>
                <a:lnTo>
                  <a:pt x="0" y="6620192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Doors arch geometric shape"/>
          <p:cNvSpPr/>
          <p:nvPr/>
        </p:nvSpPr>
        <p:spPr>
          <a:xfrm flipH="false" flipV="true" rot="7970747">
            <a:off x="16048577" y="7344468"/>
            <a:ext cx="4478846" cy="6620192"/>
          </a:xfrm>
          <a:custGeom>
            <a:avLst/>
            <a:gdLst/>
            <a:ahLst/>
            <a:cxnLst/>
            <a:rect r="r" b="b" t="t" l="l"/>
            <a:pathLst>
              <a:path h="6620192" w="4478846">
                <a:moveTo>
                  <a:pt x="0" y="6620191"/>
                </a:moveTo>
                <a:lnTo>
                  <a:pt x="4478846" y="6620191"/>
                </a:lnTo>
                <a:lnTo>
                  <a:pt x="4478846" y="0"/>
                </a:lnTo>
                <a:lnTo>
                  <a:pt x="0" y="0"/>
                </a:lnTo>
                <a:lnTo>
                  <a:pt x="0" y="6620191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2580883" y="2857531"/>
            <a:ext cx="4461288" cy="9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Value Proposition</a:t>
            </a:r>
          </a:p>
          <a:p>
            <a:pPr algn="l">
              <a:lnSpc>
                <a:spcPts val="2533"/>
              </a:lnSpc>
            </a:pPr>
          </a:p>
          <a:p>
            <a:pPr algn="l">
              <a:lnSpc>
                <a:spcPts val="25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404454" y="2857531"/>
            <a:ext cx="5130129" cy="9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32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Intellectual Property Rights</a:t>
            </a:r>
          </a:p>
          <a:p>
            <a:pPr algn="l">
              <a:lnSpc>
                <a:spcPts val="2533"/>
              </a:lnSpc>
            </a:pPr>
          </a:p>
          <a:p>
            <a:pPr algn="l">
              <a:lnSpc>
                <a:spcPts val="2533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rot="5400000">
            <a:off x="6617383" y="4982772"/>
            <a:ext cx="4182594" cy="103530"/>
          </a:xfrm>
          <a:prstGeom prst="rect">
            <a:avLst/>
          </a:prstGeom>
          <a:solidFill>
            <a:srgbClr val="365B6D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1433841" y="3688946"/>
            <a:ext cx="6820968" cy="183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Context-aware AI recruitment analysis</a:t>
            </a:r>
          </a:p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More accurate candidate evaluati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on than traditional ATS</a:t>
            </a:r>
          </a:p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Transparent and explainable hiring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0494" y="3688946"/>
            <a:ext cx="7618049" cy="277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AI algorithms and system ar</a:t>
            </a: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chitecture protected by software copyright</a:t>
            </a:r>
          </a:p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 Potential patent for context-aware skill proficiency model</a:t>
            </a:r>
          </a:p>
          <a:p>
            <a:pPr algn="l" marL="530905" indent="-265453" lvl="1">
              <a:lnSpc>
                <a:spcPts val="3688"/>
              </a:lnSpc>
              <a:buFont typeface="Arial"/>
              <a:buChar char="•"/>
            </a:pPr>
            <a:r>
              <a:rPr lang="en-US" sz="2459">
                <a:solidFill>
                  <a:srgbClr val="2C0D0A"/>
                </a:solidFill>
                <a:latin typeface="DM Sans"/>
                <a:ea typeface="DM Sans"/>
                <a:cs typeface="DM Sans"/>
                <a:sym typeface="DM Sans"/>
              </a:rPr>
              <a:t>Organizational recruitment data remains privately owned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7" id="17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29488" r="-256844" b="-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764358" y="1580325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AI-Powered Intelligent Talent Acquisition System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949501" y="-484374"/>
            <a:ext cx="5456723" cy="6472409"/>
            <a:chOff x="0" y="0"/>
            <a:chExt cx="706353" cy="837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6353" cy="837830"/>
            </a:xfrm>
            <a:custGeom>
              <a:avLst/>
              <a:gdLst/>
              <a:ahLst/>
              <a:cxnLst/>
              <a:rect r="r" b="b" t="t" l="l"/>
              <a:pathLst>
                <a:path h="837830" w="706353">
                  <a:moveTo>
                    <a:pt x="235578" y="19070"/>
                  </a:moveTo>
                  <a:cubicBezTo>
                    <a:pt x="271674" y="7556"/>
                    <a:pt x="312961" y="0"/>
                    <a:pt x="353367" y="0"/>
                  </a:cubicBezTo>
                  <a:cubicBezTo>
                    <a:pt x="393774" y="0"/>
                    <a:pt x="432656" y="6476"/>
                    <a:pt x="468487" y="17990"/>
                  </a:cubicBezTo>
                  <a:cubicBezTo>
                    <a:pt x="469251" y="18350"/>
                    <a:pt x="470013" y="18350"/>
                    <a:pt x="470775" y="18710"/>
                  </a:cubicBezTo>
                  <a:cubicBezTo>
                    <a:pt x="605336" y="64765"/>
                    <a:pt x="704447" y="186379"/>
                    <a:pt x="706353" y="329058"/>
                  </a:cubicBezTo>
                  <a:lnTo>
                    <a:pt x="706353" y="837830"/>
                  </a:lnTo>
                  <a:lnTo>
                    <a:pt x="0" y="837830"/>
                  </a:lnTo>
                  <a:lnTo>
                    <a:pt x="0" y="329436"/>
                  </a:lnTo>
                  <a:cubicBezTo>
                    <a:pt x="1906" y="185660"/>
                    <a:pt x="99492" y="64045"/>
                    <a:pt x="235578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706353" cy="748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5400000">
            <a:off x="5668814" y="4909950"/>
            <a:ext cx="1267106" cy="9963806"/>
          </a:xfrm>
          <a:prstGeom prst="rect">
            <a:avLst/>
          </a:prstGeom>
          <a:solidFill>
            <a:srgbClr val="365B6D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1" id="11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88" r="-256844" b="-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225714" y="2291516"/>
            <a:ext cx="11445560" cy="6237830"/>
          </a:xfrm>
          <a:custGeom>
            <a:avLst/>
            <a:gdLst/>
            <a:ahLst/>
            <a:cxnLst/>
            <a:rect r="r" b="b" t="t" l="l"/>
            <a:pathLst>
              <a:path h="6237830" w="11445560">
                <a:moveTo>
                  <a:pt x="0" y="0"/>
                </a:moveTo>
                <a:lnTo>
                  <a:pt x="11445560" y="0"/>
                </a:lnTo>
                <a:lnTo>
                  <a:pt x="11445560" y="6237830"/>
                </a:lnTo>
                <a:lnTo>
                  <a:pt x="0" y="6237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64358" y="1580325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AI-Powered Intelligent Talent Acquisition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8923" y="2606814"/>
            <a:ext cx="2854983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Gantt Chart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 descr="Doors arch geometric shape"/>
          <p:cNvSpPr/>
          <p:nvPr/>
        </p:nvSpPr>
        <p:spPr>
          <a:xfrm flipH="true" flipV="false" rot="-2466443">
            <a:off x="13556236" y="2742805"/>
            <a:ext cx="5980449" cy="8839715"/>
          </a:xfrm>
          <a:custGeom>
            <a:avLst/>
            <a:gdLst/>
            <a:ahLst/>
            <a:cxnLst/>
            <a:rect r="r" b="b" t="t" l="l"/>
            <a:pathLst>
              <a:path h="8839715" w="5980449">
                <a:moveTo>
                  <a:pt x="5980449" y="0"/>
                </a:moveTo>
                <a:lnTo>
                  <a:pt x="0" y="0"/>
                </a:lnTo>
                <a:lnTo>
                  <a:pt x="0" y="8839715"/>
                </a:lnTo>
                <a:lnTo>
                  <a:pt x="5980449" y="8839715"/>
                </a:lnTo>
                <a:lnTo>
                  <a:pt x="5980449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42738"/>
            <a:ext cx="16230600" cy="8215562"/>
            <a:chOff x="0" y="0"/>
            <a:chExt cx="4274726" cy="2163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769"/>
            </a:xfrm>
            <a:custGeom>
              <a:avLst/>
              <a:gdLst/>
              <a:ahLst/>
              <a:cxnLst/>
              <a:rect r="r" b="b" t="t" l="l"/>
              <a:pathLst>
                <a:path h="2163769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2137058"/>
                  </a:lnTo>
                  <a:cubicBezTo>
                    <a:pt x="4274726" y="2144142"/>
                    <a:pt x="4271912" y="2150936"/>
                    <a:pt x="4266902" y="2155946"/>
                  </a:cubicBezTo>
                  <a:cubicBezTo>
                    <a:pt x="4261893" y="2160955"/>
                    <a:pt x="4255098" y="2163769"/>
                    <a:pt x="4248014" y="2163769"/>
                  </a:cubicBezTo>
                  <a:lnTo>
                    <a:pt x="26712" y="2163769"/>
                  </a:lnTo>
                  <a:cubicBezTo>
                    <a:pt x="19627" y="2163769"/>
                    <a:pt x="12833" y="2160955"/>
                    <a:pt x="7824" y="2155946"/>
                  </a:cubicBezTo>
                  <a:cubicBezTo>
                    <a:pt x="2814" y="2150936"/>
                    <a:pt x="0" y="2144142"/>
                    <a:pt x="0" y="2137058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274726" cy="2106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8" id="8"/>
          <p:cNvGrpSpPr/>
          <p:nvPr/>
        </p:nvGrpSpPr>
        <p:grpSpPr>
          <a:xfrm rot="-2291844">
            <a:off x="13577929" y="7798145"/>
            <a:ext cx="1590210" cy="4977710"/>
            <a:chOff x="0" y="0"/>
            <a:chExt cx="567691" cy="177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691" cy="1777000"/>
            </a:xfrm>
            <a:custGeom>
              <a:avLst/>
              <a:gdLst/>
              <a:ahLst/>
              <a:cxnLst/>
              <a:rect r="r" b="b" t="t" l="l"/>
              <a:pathLst>
                <a:path h="1777000" w="567691">
                  <a:moveTo>
                    <a:pt x="189333" y="19070"/>
                  </a:moveTo>
                  <a:cubicBezTo>
                    <a:pt x="218343" y="7556"/>
                    <a:pt x="251524" y="0"/>
                    <a:pt x="283998" y="0"/>
                  </a:cubicBezTo>
                  <a:cubicBezTo>
                    <a:pt x="316474" y="0"/>
                    <a:pt x="347723" y="6476"/>
                    <a:pt x="376520" y="17990"/>
                  </a:cubicBezTo>
                  <a:cubicBezTo>
                    <a:pt x="377134" y="18350"/>
                    <a:pt x="377746" y="18350"/>
                    <a:pt x="378359" y="18710"/>
                  </a:cubicBezTo>
                  <a:cubicBezTo>
                    <a:pt x="486505" y="64765"/>
                    <a:pt x="566160" y="186379"/>
                    <a:pt x="567691" y="349920"/>
                  </a:cubicBezTo>
                  <a:lnTo>
                    <a:pt x="567691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532" y="185660"/>
                    <a:pt x="79961" y="64045"/>
                    <a:pt x="189333" y="1907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567691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0464" y="8449050"/>
            <a:ext cx="3771900" cy="735463"/>
            <a:chOff x="0" y="0"/>
            <a:chExt cx="5029200" cy="980618"/>
          </a:xfrm>
        </p:grpSpPr>
        <p:sp>
          <p:nvSpPr>
            <p:cNvPr name="Freeform 12" id="12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488" r="-256844" b="-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025948" y="1823361"/>
            <a:ext cx="10510988" cy="7002946"/>
          </a:xfrm>
          <a:custGeom>
            <a:avLst/>
            <a:gdLst/>
            <a:ahLst/>
            <a:cxnLst/>
            <a:rect r="r" b="b" t="t" l="l"/>
            <a:pathLst>
              <a:path h="7002946" w="10510988">
                <a:moveTo>
                  <a:pt x="0" y="0"/>
                </a:moveTo>
                <a:lnTo>
                  <a:pt x="10510988" y="0"/>
                </a:lnTo>
                <a:lnTo>
                  <a:pt x="10510988" y="7002945"/>
                </a:lnTo>
                <a:lnTo>
                  <a:pt x="0" y="7002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97634" y="7896119"/>
            <a:ext cx="1848826" cy="920662"/>
          </a:xfrm>
          <a:custGeom>
            <a:avLst/>
            <a:gdLst/>
            <a:ahLst/>
            <a:cxnLst/>
            <a:rect r="r" b="b" t="t" l="l"/>
            <a:pathLst>
              <a:path h="920662" w="1848826">
                <a:moveTo>
                  <a:pt x="0" y="0"/>
                </a:moveTo>
                <a:lnTo>
                  <a:pt x="1848827" y="0"/>
                </a:lnTo>
                <a:lnTo>
                  <a:pt x="1848827" y="920662"/>
                </a:lnTo>
                <a:lnTo>
                  <a:pt x="0" y="9206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94" t="-2150" r="-23997" b="-625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8923" y="2606814"/>
            <a:ext cx="6277631" cy="45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4090" b="true">
                <a:solidFill>
                  <a:srgbClr val="449497"/>
                </a:solidFill>
                <a:latin typeface="Signika Bold"/>
                <a:ea typeface="Signika Bold"/>
                <a:cs typeface="Signika Bold"/>
                <a:sym typeface="Signika Bold"/>
              </a:rPr>
              <a:t>Work Breakdown Chart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64358" y="1580325"/>
            <a:ext cx="11023659" cy="3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3539" b="true">
                <a:solidFill>
                  <a:srgbClr val="365B6D"/>
                </a:solidFill>
                <a:latin typeface="Signika Bold"/>
                <a:ea typeface="Signika Bold"/>
                <a:cs typeface="Signika Bold"/>
                <a:sym typeface="Signika Bold"/>
              </a:rPr>
              <a:t>AI-Powered Intelligent Talent Acquisition System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928738">
            <a:off x="-144620" y="1040076"/>
            <a:ext cx="4497140" cy="9844432"/>
            <a:chOff x="0" y="0"/>
            <a:chExt cx="617069" cy="1350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069" cy="1350791"/>
            </a:xfrm>
            <a:custGeom>
              <a:avLst/>
              <a:gdLst/>
              <a:ahLst/>
              <a:cxnLst/>
              <a:rect r="r" b="b" t="t" l="l"/>
              <a:pathLst>
                <a:path h="1350791" w="617069">
                  <a:moveTo>
                    <a:pt x="205801" y="19070"/>
                  </a:moveTo>
                  <a:cubicBezTo>
                    <a:pt x="237334" y="7556"/>
                    <a:pt x="273402" y="0"/>
                    <a:pt x="308701" y="0"/>
                  </a:cubicBezTo>
                  <a:cubicBezTo>
                    <a:pt x="344001" y="0"/>
                    <a:pt x="377968" y="6476"/>
                    <a:pt x="409270" y="17990"/>
                  </a:cubicBezTo>
                  <a:cubicBezTo>
                    <a:pt x="409937" y="18350"/>
                    <a:pt x="410603" y="18350"/>
                    <a:pt x="411268" y="18710"/>
                  </a:cubicBezTo>
                  <a:cubicBezTo>
                    <a:pt x="528821" y="64765"/>
                    <a:pt x="615404" y="186379"/>
                    <a:pt x="617069" y="340452"/>
                  </a:cubicBezTo>
                  <a:lnTo>
                    <a:pt x="617069" y="1350791"/>
                  </a:lnTo>
                  <a:lnTo>
                    <a:pt x="0" y="1350791"/>
                  </a:lnTo>
                  <a:lnTo>
                    <a:pt x="0" y="341202"/>
                  </a:lnTo>
                  <a:cubicBezTo>
                    <a:pt x="1665" y="185660"/>
                    <a:pt x="86916" y="64045"/>
                    <a:pt x="205801" y="1907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17069" cy="126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Doors arch geometric shape"/>
          <p:cNvSpPr/>
          <p:nvPr/>
        </p:nvSpPr>
        <p:spPr>
          <a:xfrm flipH="false" flipV="true" rot="3021392">
            <a:off x="15225438" y="-998309"/>
            <a:ext cx="3195360" cy="4723069"/>
          </a:xfrm>
          <a:custGeom>
            <a:avLst/>
            <a:gdLst/>
            <a:ahLst/>
            <a:cxnLst/>
            <a:rect r="r" b="b" t="t" l="l"/>
            <a:pathLst>
              <a:path h="4723069" w="3195360">
                <a:moveTo>
                  <a:pt x="0" y="4723069"/>
                </a:moveTo>
                <a:lnTo>
                  <a:pt x="3195360" y="4723069"/>
                </a:lnTo>
                <a:lnTo>
                  <a:pt x="3195360" y="0"/>
                </a:lnTo>
                <a:lnTo>
                  <a:pt x="0" y="0"/>
                </a:lnTo>
                <a:lnTo>
                  <a:pt x="0" y="4723069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3261170">
            <a:off x="1993052" y="5396636"/>
            <a:ext cx="2665670" cy="7610591"/>
            <a:chOff x="0" y="0"/>
            <a:chExt cx="622408" cy="177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408" cy="1777000"/>
            </a:xfrm>
            <a:custGeom>
              <a:avLst/>
              <a:gdLst/>
              <a:ahLst/>
              <a:cxnLst/>
              <a:rect r="r" b="b" t="t" l="l"/>
              <a:pathLst>
                <a:path h="1777000" w="622408">
                  <a:moveTo>
                    <a:pt x="207582" y="19070"/>
                  </a:moveTo>
                  <a:cubicBezTo>
                    <a:pt x="239388" y="7556"/>
                    <a:pt x="275768" y="0"/>
                    <a:pt x="311372" y="0"/>
                  </a:cubicBezTo>
                  <a:cubicBezTo>
                    <a:pt x="346977" y="0"/>
                    <a:pt x="381238" y="6476"/>
                    <a:pt x="412811" y="17990"/>
                  </a:cubicBezTo>
                  <a:cubicBezTo>
                    <a:pt x="413484" y="18350"/>
                    <a:pt x="414155" y="18350"/>
                    <a:pt x="414827" y="18710"/>
                  </a:cubicBezTo>
                  <a:cubicBezTo>
                    <a:pt x="533397" y="64765"/>
                    <a:pt x="620729" y="186379"/>
                    <a:pt x="622408" y="349920"/>
                  </a:cubicBezTo>
                  <a:lnTo>
                    <a:pt x="622408" y="1777000"/>
                  </a:lnTo>
                  <a:lnTo>
                    <a:pt x="0" y="1777000"/>
                  </a:lnTo>
                  <a:lnTo>
                    <a:pt x="0" y="350979"/>
                  </a:lnTo>
                  <a:cubicBezTo>
                    <a:pt x="1679" y="185660"/>
                    <a:pt x="87668" y="64045"/>
                    <a:pt x="207582" y="19070"/>
                  </a:cubicBezTo>
                  <a:close/>
                </a:path>
              </a:pathLst>
            </a:custGeom>
            <a:solidFill>
              <a:srgbClr val="289D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22408" cy="16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98958" y="2782127"/>
            <a:ext cx="14260342" cy="5165103"/>
            <a:chOff x="0" y="0"/>
            <a:chExt cx="5310173" cy="19233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0173" cy="1923347"/>
            </a:xfrm>
            <a:custGeom>
              <a:avLst/>
              <a:gdLst/>
              <a:ahLst/>
              <a:cxnLst/>
              <a:rect r="r" b="b" t="t" l="l"/>
              <a:pathLst>
                <a:path h="1923347" w="5310173">
                  <a:moveTo>
                    <a:pt x="30402" y="0"/>
                  </a:moveTo>
                  <a:lnTo>
                    <a:pt x="5279770" y="0"/>
                  </a:lnTo>
                  <a:cubicBezTo>
                    <a:pt x="5296561" y="0"/>
                    <a:pt x="5310173" y="13612"/>
                    <a:pt x="5310173" y="30402"/>
                  </a:cubicBezTo>
                  <a:lnTo>
                    <a:pt x="5310173" y="1892945"/>
                  </a:lnTo>
                  <a:cubicBezTo>
                    <a:pt x="5310173" y="1901008"/>
                    <a:pt x="5306970" y="1908741"/>
                    <a:pt x="5301268" y="1914443"/>
                  </a:cubicBezTo>
                  <a:cubicBezTo>
                    <a:pt x="5295567" y="1920144"/>
                    <a:pt x="5287834" y="1923347"/>
                    <a:pt x="5279770" y="1923347"/>
                  </a:cubicBezTo>
                  <a:lnTo>
                    <a:pt x="30402" y="1923347"/>
                  </a:lnTo>
                  <a:cubicBezTo>
                    <a:pt x="22339" y="1923347"/>
                    <a:pt x="14606" y="1920144"/>
                    <a:pt x="8905" y="1914443"/>
                  </a:cubicBezTo>
                  <a:cubicBezTo>
                    <a:pt x="3203" y="1908741"/>
                    <a:pt x="0" y="1901008"/>
                    <a:pt x="0" y="1892945"/>
                  </a:cubicBezTo>
                  <a:lnTo>
                    <a:pt x="0" y="30402"/>
                  </a:lnTo>
                  <a:cubicBezTo>
                    <a:pt x="0" y="22339"/>
                    <a:pt x="3203" y="14606"/>
                    <a:pt x="8905" y="8905"/>
                  </a:cubicBezTo>
                  <a:cubicBezTo>
                    <a:pt x="14606" y="3203"/>
                    <a:pt x="22339" y="0"/>
                    <a:pt x="30402" y="0"/>
                  </a:cubicBezTo>
                  <a:close/>
                </a:path>
              </a:pathLst>
            </a:custGeom>
            <a:solidFill>
              <a:srgbClr val="62DDD6">
                <a:alpha val="5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5310173" cy="186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255304" y="3086888"/>
            <a:ext cx="13747649" cy="4517796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13" id="13" descr="Doors arch geometric shape"/>
          <p:cNvSpPr/>
          <p:nvPr/>
        </p:nvSpPr>
        <p:spPr>
          <a:xfrm flipH="false" flipV="true" rot="3021392">
            <a:off x="13677129" y="-1194510"/>
            <a:ext cx="1603006" cy="2369407"/>
          </a:xfrm>
          <a:custGeom>
            <a:avLst/>
            <a:gdLst/>
            <a:ahLst/>
            <a:cxnLst/>
            <a:rect r="r" b="b" t="t" l="l"/>
            <a:pathLst>
              <a:path h="2369407" w="1603006">
                <a:moveTo>
                  <a:pt x="0" y="2369407"/>
                </a:moveTo>
                <a:lnTo>
                  <a:pt x="1603007" y="2369407"/>
                </a:lnTo>
                <a:lnTo>
                  <a:pt x="1603007" y="0"/>
                </a:lnTo>
                <a:lnTo>
                  <a:pt x="0" y="0"/>
                </a:lnTo>
                <a:lnTo>
                  <a:pt x="0" y="2369407"/>
                </a:lnTo>
                <a:close/>
              </a:path>
            </a:pathLst>
          </a:custGeom>
          <a:blipFill>
            <a:blip r:embed="rId4">
              <a:alphaModFix amt="7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5400000">
            <a:off x="-638078" y="4670084"/>
            <a:ext cx="4722745" cy="1389189"/>
            <a:chOff x="0" y="0"/>
            <a:chExt cx="6296994" cy="1852253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653030" cy="2654300"/>
              </a:xfrm>
              <a:custGeom>
                <a:avLst/>
                <a:gdLst/>
                <a:ahLst/>
                <a:cxnLst/>
                <a:rect r="r" b="b" t="t" l="l"/>
                <a:pathLst>
                  <a:path h="2654300" w="265303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AutoShape 17" id="17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FFFFFF"/>
            </a:solidFill>
          </p:spPr>
        </p: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3512702" y="4385155"/>
            <a:ext cx="9270404" cy="1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2"/>
              </a:lnSpc>
            </a:pPr>
            <a:r>
              <a:rPr lang="en-US" b="true" sz="11494">
                <a:solidFill>
                  <a:srgbClr val="1D4355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grpSp>
        <p:nvGrpSpPr>
          <p:cNvPr name="Group 21" id="21"/>
          <p:cNvGrpSpPr/>
          <p:nvPr/>
        </p:nvGrpSpPr>
        <p:grpSpPr>
          <a:xfrm rot="-5400000">
            <a:off x="12459123" y="2782127"/>
            <a:ext cx="7901300" cy="790130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1C1BA"/>
            </a:solid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E81A56-481B-4BAD-9224-7BEA89D75B4C}"/>
</file>

<file path=customXml/itemProps2.xml><?xml version="1.0" encoding="utf-8"?>
<ds:datastoreItem xmlns:ds="http://schemas.openxmlformats.org/officeDocument/2006/customXml" ds:itemID="{D35D1814-83D0-4A36-A553-3B03F1234E24}"/>
</file>

<file path=customXml/itemProps3.xml><?xml version="1.0" encoding="utf-8"?>
<ds:datastoreItem xmlns:ds="http://schemas.openxmlformats.org/officeDocument/2006/customXml" ds:itemID="{480BB7C4-D993-4EE6-A0EE-EFA660361C3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Borcelle Clinic</dc:title>
  <cp:revision>1</cp:revision>
  <dcterms:created xsi:type="dcterms:W3CDTF">2006-08-16T00:00:00Z</dcterms:created>
  <dcterms:modified xsi:type="dcterms:W3CDTF">2011-08-01T06:04:30Z</dcterms:modified>
  <dc:identifier>DAHECkEdm6w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