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ragmatica" charset="1" panose="020B0503040502020204"/>
      <p:regular r:id="rId15"/>
    </p:embeddedFont>
    <p:embeddedFont>
      <p:font typeface="Poppins" charset="1" panose="00000500000000000000"/>
      <p:regular r:id="rId16"/>
    </p:embeddedFont>
    <p:embeddedFont>
      <p:font typeface="Times New Roman MT Bold" charset="1" panose="02030802070405020303"/>
      <p:regular r:id="rId17"/>
    </p:embeddedFont>
    <p:embeddedFont>
      <p:font typeface="DM Sans Bold" charset="1" panose="00000000000000000000"/>
      <p:regular r:id="rId18"/>
    </p:embeddedFont>
    <p:embeddedFont>
      <p:font typeface="DM Sans" charset="1" panose="00000000000000000000"/>
      <p:regular r:id="rId19"/>
    </p:embeddedFont>
    <p:embeddedFont>
      <p:font typeface="Poppins Bold" charset="1" panose="00000800000000000000"/>
      <p:regular r:id="rId20"/>
    </p:embeddedFont>
    <p:embeddedFont>
      <p:font typeface="Pragmatica Bold" charset="1" panose="020B07030405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Relationship Id="rId5" Target="../media/VAHEKalFVA4.mp4" Type="http://schemas.openxmlformats.org/officeDocument/2006/relationships/video"/><Relationship Id="rId6" Target="../media/VAHEKalFVA4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24718" y="7071244"/>
            <a:ext cx="13236047" cy="1974528"/>
            <a:chOff x="0" y="0"/>
            <a:chExt cx="3486037" cy="520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86037" cy="520040"/>
            </a:xfrm>
            <a:custGeom>
              <a:avLst/>
              <a:gdLst/>
              <a:ahLst/>
              <a:cxnLst/>
              <a:rect r="r" b="b" t="t" l="l"/>
              <a:pathLst>
                <a:path h="520040" w="3486037">
                  <a:moveTo>
                    <a:pt x="0" y="0"/>
                  </a:moveTo>
                  <a:lnTo>
                    <a:pt x="3486037" y="0"/>
                  </a:lnTo>
                  <a:lnTo>
                    <a:pt x="3486037" y="520040"/>
                  </a:lnTo>
                  <a:lnTo>
                    <a:pt x="0" y="520040"/>
                  </a:lnTo>
                  <a:close/>
                </a:path>
              </a:pathLst>
            </a:custGeom>
            <a:solidFill>
              <a:srgbClr val="84181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3486037" cy="500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1210" y="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404406" y="1951698"/>
            <a:ext cx="8979216" cy="897921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209550" cap="sq">
              <a:solidFill>
                <a:srgbClr val="841818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634841" y="-938864"/>
            <a:ext cx="2586689" cy="2586689"/>
          </a:xfrm>
          <a:custGeom>
            <a:avLst/>
            <a:gdLst/>
            <a:ahLst/>
            <a:cxnLst/>
            <a:rect r="r" b="b" t="t" l="l"/>
            <a:pathLst>
              <a:path h="2586689" w="2586689">
                <a:moveTo>
                  <a:pt x="0" y="0"/>
                </a:moveTo>
                <a:lnTo>
                  <a:pt x="2586689" y="0"/>
                </a:lnTo>
                <a:lnTo>
                  <a:pt x="2586689" y="2586689"/>
                </a:lnTo>
                <a:lnTo>
                  <a:pt x="0" y="25866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74810" y="3219450"/>
            <a:ext cx="11466562" cy="3153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7"/>
              </a:lnSpc>
            </a:pPr>
            <a:r>
              <a:rPr lang="en-US" sz="7958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74885" y="7857470"/>
            <a:ext cx="8927988" cy="44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31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R26-IT-082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34644" y="752475"/>
            <a:ext cx="2627017" cy="2641057"/>
            <a:chOff x="0" y="0"/>
            <a:chExt cx="4598226" cy="462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4547362" cy="4572000"/>
            </a:xfrm>
            <a:custGeom>
              <a:avLst/>
              <a:gdLst/>
              <a:ahLst/>
              <a:cxnLst/>
              <a:rect r="r" b="b" t="t" l="l"/>
              <a:pathLst>
                <a:path h="4572000" w="4547362">
                  <a:moveTo>
                    <a:pt x="0" y="0"/>
                  </a:moveTo>
                  <a:lnTo>
                    <a:pt x="4547362" y="0"/>
                  </a:lnTo>
                  <a:lnTo>
                    <a:pt x="4547362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/>
              <a:stretch>
                <a:fillRect l="0" t="-14421" r="0" b="-21904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98162" cy="4622800"/>
            </a:xfrm>
            <a:custGeom>
              <a:avLst/>
              <a:gdLst/>
              <a:ahLst/>
              <a:cxnLst/>
              <a:rect r="r" b="b" t="t" l="l"/>
              <a:pathLst>
                <a:path h="4622800" w="4598162">
                  <a:moveTo>
                    <a:pt x="25400" y="0"/>
                  </a:moveTo>
                  <a:lnTo>
                    <a:pt x="4572762" y="0"/>
                  </a:lnTo>
                  <a:cubicBezTo>
                    <a:pt x="4586732" y="0"/>
                    <a:pt x="4598162" y="11430"/>
                    <a:pt x="4598162" y="25400"/>
                  </a:cubicBezTo>
                  <a:lnTo>
                    <a:pt x="4598162" y="4597400"/>
                  </a:lnTo>
                  <a:cubicBezTo>
                    <a:pt x="4598162" y="4611370"/>
                    <a:pt x="4586732" y="4622800"/>
                    <a:pt x="4572762" y="4622800"/>
                  </a:cubicBezTo>
                  <a:lnTo>
                    <a:pt x="25400" y="4622800"/>
                  </a:lnTo>
                  <a:cubicBezTo>
                    <a:pt x="11430" y="4622800"/>
                    <a:pt x="0" y="4611370"/>
                    <a:pt x="0" y="459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597400"/>
                  </a:lnTo>
                  <a:lnTo>
                    <a:pt x="25400" y="4597400"/>
                  </a:lnTo>
                  <a:lnTo>
                    <a:pt x="25400" y="4572000"/>
                  </a:lnTo>
                  <a:lnTo>
                    <a:pt x="4572762" y="4572000"/>
                  </a:lnTo>
                  <a:lnTo>
                    <a:pt x="4572762" y="4597400"/>
                  </a:lnTo>
                  <a:lnTo>
                    <a:pt x="4547362" y="4597400"/>
                  </a:lnTo>
                  <a:lnTo>
                    <a:pt x="4547362" y="25400"/>
                  </a:lnTo>
                  <a:lnTo>
                    <a:pt x="4572762" y="25400"/>
                  </a:lnTo>
                  <a:lnTo>
                    <a:pt x="457276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263136" y="7488331"/>
            <a:ext cx="9082214" cy="908221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5700" y="1009650"/>
            <a:ext cx="4570870" cy="929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sz="59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 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34644" y="3867032"/>
            <a:ext cx="3215432" cy="685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b="true" sz="274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IT22248796</a:t>
            </a:r>
          </a:p>
          <a:p>
            <a:pPr algn="l">
              <a:lnSpc>
                <a:spcPts val="2622"/>
              </a:lnSpc>
            </a:pPr>
            <a:r>
              <a:rPr lang="en-US" b="true" sz="254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FONSEKA W.G.K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9551537"/>
            <a:ext cx="3771900" cy="735463"/>
            <a:chOff x="0" y="0"/>
            <a:chExt cx="5029200" cy="980618"/>
          </a:xfrm>
        </p:grpSpPr>
        <p:sp>
          <p:nvSpPr>
            <p:cNvPr name="Freeform 10" id="10" descr="A picture containing photo, table, person, monitor  Description automatically generated"/>
            <p:cNvSpPr/>
            <p:nvPr/>
          </p:nvSpPr>
          <p:spPr>
            <a:xfrm flipH="false" flipV="false" rot="0">
              <a:off x="0" y="0"/>
              <a:ext cx="5029200" cy="980567"/>
            </a:xfrm>
            <a:custGeom>
              <a:avLst/>
              <a:gdLst/>
              <a:ahLst/>
              <a:cxnLst/>
              <a:rect r="r" b="b" t="t" l="l"/>
              <a:pathLst>
                <a:path h="98056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29488" r="-256844" b="-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254297" y="9762089"/>
            <a:ext cx="7689121" cy="34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2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SPECIALIZATION : INFORMATION TECHNOLOGY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75924" y="9959047"/>
            <a:ext cx="1638776" cy="32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31</a:t>
            </a:r>
            <a:r>
              <a:rPr lang="en-US" sz="241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/08/2026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1065028" y="-446789"/>
            <a:ext cx="2950978" cy="2950978"/>
          </a:xfrm>
          <a:custGeom>
            <a:avLst/>
            <a:gdLst/>
            <a:ahLst/>
            <a:cxnLst/>
            <a:rect r="r" b="b" t="t" l="l"/>
            <a:pathLst>
              <a:path h="2950978" w="2950978">
                <a:moveTo>
                  <a:pt x="0" y="0"/>
                </a:moveTo>
                <a:lnTo>
                  <a:pt x="2950978" y="0"/>
                </a:lnTo>
                <a:lnTo>
                  <a:pt x="2950978" y="2950978"/>
                </a:lnTo>
                <a:lnTo>
                  <a:pt x="0" y="2950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289144" y="752475"/>
            <a:ext cx="2627017" cy="2641057"/>
            <a:chOff x="0" y="0"/>
            <a:chExt cx="4598226" cy="462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4547362" cy="4572000"/>
            </a:xfrm>
            <a:custGeom>
              <a:avLst/>
              <a:gdLst/>
              <a:ahLst/>
              <a:cxnLst/>
              <a:rect r="r" b="b" t="t" l="l"/>
              <a:pathLst>
                <a:path h="4572000" w="4547362">
                  <a:moveTo>
                    <a:pt x="0" y="0"/>
                  </a:moveTo>
                  <a:lnTo>
                    <a:pt x="4547362" y="0"/>
                  </a:lnTo>
                  <a:lnTo>
                    <a:pt x="4547362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6"/>
              <a:stretch>
                <a:fillRect l="0" t="-8480" r="0" b="-33404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98162" cy="4622800"/>
            </a:xfrm>
            <a:custGeom>
              <a:avLst/>
              <a:gdLst/>
              <a:ahLst/>
              <a:cxnLst/>
              <a:rect r="r" b="b" t="t" l="l"/>
              <a:pathLst>
                <a:path h="4622800" w="4598162">
                  <a:moveTo>
                    <a:pt x="25400" y="0"/>
                  </a:moveTo>
                  <a:lnTo>
                    <a:pt x="4572762" y="0"/>
                  </a:lnTo>
                  <a:cubicBezTo>
                    <a:pt x="4586732" y="0"/>
                    <a:pt x="4598162" y="11430"/>
                    <a:pt x="4598162" y="25400"/>
                  </a:cubicBezTo>
                  <a:lnTo>
                    <a:pt x="4598162" y="4597400"/>
                  </a:lnTo>
                  <a:cubicBezTo>
                    <a:pt x="4598162" y="4611370"/>
                    <a:pt x="4586732" y="4622800"/>
                    <a:pt x="4572762" y="4622800"/>
                  </a:cubicBezTo>
                  <a:lnTo>
                    <a:pt x="25400" y="4622800"/>
                  </a:lnTo>
                  <a:cubicBezTo>
                    <a:pt x="11430" y="4622800"/>
                    <a:pt x="0" y="4611370"/>
                    <a:pt x="0" y="459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597400"/>
                  </a:lnTo>
                  <a:lnTo>
                    <a:pt x="25400" y="4597400"/>
                  </a:lnTo>
                  <a:lnTo>
                    <a:pt x="25400" y="4572000"/>
                  </a:lnTo>
                  <a:lnTo>
                    <a:pt x="4572762" y="4572000"/>
                  </a:lnTo>
                  <a:lnTo>
                    <a:pt x="4572762" y="4597400"/>
                  </a:lnTo>
                  <a:lnTo>
                    <a:pt x="4547362" y="4597400"/>
                  </a:lnTo>
                  <a:lnTo>
                    <a:pt x="4547362" y="25400"/>
                  </a:lnTo>
                  <a:lnTo>
                    <a:pt x="4572762" y="25400"/>
                  </a:lnTo>
                  <a:lnTo>
                    <a:pt x="457276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834644" y="4998723"/>
            <a:ext cx="2569363" cy="2641057"/>
            <a:chOff x="0" y="0"/>
            <a:chExt cx="4497309" cy="462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4843" y="25400"/>
              <a:ext cx="4447562" cy="4572000"/>
            </a:xfrm>
            <a:custGeom>
              <a:avLst/>
              <a:gdLst/>
              <a:ahLst/>
              <a:cxnLst/>
              <a:rect r="r" b="b" t="t" l="l"/>
              <a:pathLst>
                <a:path h="4572000" w="4447562">
                  <a:moveTo>
                    <a:pt x="0" y="0"/>
                  </a:moveTo>
                  <a:lnTo>
                    <a:pt x="4447562" y="0"/>
                  </a:lnTo>
                  <a:lnTo>
                    <a:pt x="4447562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7"/>
              <a:stretch>
                <a:fillRect l="-558" t="-19466" r="-571" b="-75339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97247" cy="4622800"/>
            </a:xfrm>
            <a:custGeom>
              <a:avLst/>
              <a:gdLst/>
              <a:ahLst/>
              <a:cxnLst/>
              <a:rect r="r" b="b" t="t" l="l"/>
              <a:pathLst>
                <a:path h="4622800" w="4497247">
                  <a:moveTo>
                    <a:pt x="24843" y="0"/>
                  </a:moveTo>
                  <a:lnTo>
                    <a:pt x="4472405" y="0"/>
                  </a:lnTo>
                  <a:cubicBezTo>
                    <a:pt x="4486068" y="0"/>
                    <a:pt x="4497247" y="11430"/>
                    <a:pt x="4497247" y="25400"/>
                  </a:cubicBezTo>
                  <a:lnTo>
                    <a:pt x="4497247" y="4597400"/>
                  </a:lnTo>
                  <a:cubicBezTo>
                    <a:pt x="4497247" y="4611370"/>
                    <a:pt x="4486068" y="4622800"/>
                    <a:pt x="4472405" y="4622800"/>
                  </a:cubicBezTo>
                  <a:lnTo>
                    <a:pt x="24843" y="4622800"/>
                  </a:lnTo>
                  <a:cubicBezTo>
                    <a:pt x="11179" y="4622800"/>
                    <a:pt x="0" y="4611370"/>
                    <a:pt x="0" y="4597400"/>
                  </a:cubicBezTo>
                  <a:lnTo>
                    <a:pt x="0" y="25400"/>
                  </a:lnTo>
                  <a:cubicBezTo>
                    <a:pt x="0" y="11430"/>
                    <a:pt x="11179" y="0"/>
                    <a:pt x="24843" y="0"/>
                  </a:cubicBezTo>
                  <a:moveTo>
                    <a:pt x="24843" y="50800"/>
                  </a:moveTo>
                  <a:lnTo>
                    <a:pt x="24843" y="25400"/>
                  </a:lnTo>
                  <a:lnTo>
                    <a:pt x="49685" y="25400"/>
                  </a:lnTo>
                  <a:lnTo>
                    <a:pt x="49685" y="4597400"/>
                  </a:lnTo>
                  <a:lnTo>
                    <a:pt x="24843" y="4597400"/>
                  </a:lnTo>
                  <a:lnTo>
                    <a:pt x="24843" y="4572000"/>
                  </a:lnTo>
                  <a:lnTo>
                    <a:pt x="4472405" y="4572000"/>
                  </a:lnTo>
                  <a:lnTo>
                    <a:pt x="4472405" y="4597400"/>
                  </a:lnTo>
                  <a:lnTo>
                    <a:pt x="4447562" y="4597400"/>
                  </a:lnTo>
                  <a:lnTo>
                    <a:pt x="4447562" y="25400"/>
                  </a:lnTo>
                  <a:lnTo>
                    <a:pt x="4472405" y="25400"/>
                  </a:lnTo>
                  <a:lnTo>
                    <a:pt x="4472405" y="50800"/>
                  </a:lnTo>
                  <a:lnTo>
                    <a:pt x="24843" y="508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1401036" y="4998723"/>
            <a:ext cx="2515126" cy="2641057"/>
          </a:xfrm>
          <a:custGeom>
            <a:avLst/>
            <a:gdLst/>
            <a:ahLst/>
            <a:cxnLst/>
            <a:rect r="r" b="b" t="t" l="l"/>
            <a:pathLst>
              <a:path h="2641057" w="2515126">
                <a:moveTo>
                  <a:pt x="0" y="0"/>
                </a:moveTo>
                <a:lnTo>
                  <a:pt x="2515125" y="0"/>
                </a:lnTo>
                <a:lnTo>
                  <a:pt x="2515125" y="2641057"/>
                </a:lnTo>
                <a:lnTo>
                  <a:pt x="0" y="26410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705" t="-3289" r="-747" b="-2936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11346798" y="3857507"/>
            <a:ext cx="3215432" cy="66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b="true" sz="254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IT22226914  JAYANTHA C 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90590" y="8197823"/>
            <a:ext cx="3215432" cy="66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b="true" sz="254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IT22195616 </a:t>
            </a:r>
          </a:p>
          <a:p>
            <a:pPr algn="l">
              <a:lnSpc>
                <a:spcPts val="2622"/>
              </a:lnSpc>
            </a:pPr>
            <a:r>
              <a:rPr lang="en-US" b="true" sz="254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DESHAN MAK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89144" y="8197823"/>
            <a:ext cx="3598207" cy="66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b="true" sz="254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IT22197832 TENNAKOON T.M.S.S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81255" y="7405465"/>
            <a:ext cx="3705671" cy="3705671"/>
          </a:xfrm>
          <a:custGeom>
            <a:avLst/>
            <a:gdLst/>
            <a:ahLst/>
            <a:cxnLst/>
            <a:rect r="r" b="b" t="t" l="l"/>
            <a:pathLst>
              <a:path h="3705671" w="3705671">
                <a:moveTo>
                  <a:pt x="0" y="0"/>
                </a:moveTo>
                <a:lnTo>
                  <a:pt x="3705671" y="0"/>
                </a:lnTo>
                <a:lnTo>
                  <a:pt x="3705671" y="3705670"/>
                </a:lnTo>
                <a:lnTo>
                  <a:pt x="0" y="3705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47745" y="-1021621"/>
            <a:ext cx="3705671" cy="3705671"/>
          </a:xfrm>
          <a:custGeom>
            <a:avLst/>
            <a:gdLst/>
            <a:ahLst/>
            <a:cxnLst/>
            <a:rect r="r" b="b" t="t" l="l"/>
            <a:pathLst>
              <a:path h="3705671" w="3705671">
                <a:moveTo>
                  <a:pt x="0" y="0"/>
                </a:moveTo>
                <a:lnTo>
                  <a:pt x="3705671" y="0"/>
                </a:lnTo>
                <a:lnTo>
                  <a:pt x="3705671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923226" y="9830121"/>
            <a:ext cx="22347526" cy="913758"/>
            <a:chOff x="0" y="0"/>
            <a:chExt cx="6395869" cy="261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95869" cy="261518"/>
            </a:xfrm>
            <a:custGeom>
              <a:avLst/>
              <a:gdLst/>
              <a:ahLst/>
              <a:cxnLst/>
              <a:rect r="r" b="b" t="t" l="l"/>
              <a:pathLst>
                <a:path h="261518" w="6395869">
                  <a:moveTo>
                    <a:pt x="8661" y="0"/>
                  </a:moveTo>
                  <a:lnTo>
                    <a:pt x="6387209" y="0"/>
                  </a:lnTo>
                  <a:cubicBezTo>
                    <a:pt x="6391992" y="0"/>
                    <a:pt x="6395869" y="3878"/>
                    <a:pt x="6395869" y="8661"/>
                  </a:cubicBezTo>
                  <a:lnTo>
                    <a:pt x="6395869" y="252857"/>
                  </a:lnTo>
                  <a:cubicBezTo>
                    <a:pt x="6395869" y="257640"/>
                    <a:pt x="6391992" y="261518"/>
                    <a:pt x="6387209" y="261518"/>
                  </a:cubicBezTo>
                  <a:lnTo>
                    <a:pt x="8661" y="261518"/>
                  </a:lnTo>
                  <a:cubicBezTo>
                    <a:pt x="6364" y="261518"/>
                    <a:pt x="4161" y="260605"/>
                    <a:pt x="2537" y="258981"/>
                  </a:cubicBezTo>
                  <a:cubicBezTo>
                    <a:pt x="912" y="257357"/>
                    <a:pt x="0" y="255154"/>
                    <a:pt x="0" y="252857"/>
                  </a:cubicBezTo>
                  <a:lnTo>
                    <a:pt x="0" y="8661"/>
                  </a:lnTo>
                  <a:cubicBezTo>
                    <a:pt x="0" y="6364"/>
                    <a:pt x="912" y="4161"/>
                    <a:pt x="2537" y="2537"/>
                  </a:cubicBezTo>
                  <a:cubicBezTo>
                    <a:pt x="4161" y="912"/>
                    <a:pt x="6364" y="0"/>
                    <a:pt x="8661" y="0"/>
                  </a:cubicBezTo>
                  <a:close/>
                </a:path>
              </a:pathLst>
            </a:custGeom>
            <a:solidFill>
              <a:srgbClr val="30384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6395869" cy="242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05091" y="1135833"/>
            <a:ext cx="2858453" cy="49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35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50704" y="294171"/>
            <a:ext cx="13366509" cy="5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1680" y="2308632"/>
            <a:ext cx="17467339" cy="258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4" indent="-237492" lvl="1">
              <a:lnSpc>
                <a:spcPts val="415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alent acquisition is a critical process, but it is often time-consuming, subjective, and inefficient</a:t>
            </a:r>
          </a:p>
          <a:p>
            <a:pPr algn="l" marL="474984" indent="-237492" lvl="1">
              <a:lnSpc>
                <a:spcPts val="415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Traditional systems rely on manual resume screening an</a:t>
            </a: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human judgment, leading to bia</a:t>
            </a: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and inconsistency</a:t>
            </a:r>
          </a:p>
          <a:p>
            <a:pPr algn="l" marL="474984" indent="-237492" lvl="1">
              <a:lnSpc>
                <a:spcPts val="415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Existing ATS systems focus on keyword-based filtering, failing to understand context and candidate potential</a:t>
            </a:r>
          </a:p>
          <a:p>
            <a:pPr algn="l" marL="474984" indent="-237492" lvl="1">
              <a:lnSpc>
                <a:spcPts val="415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Interview evaluations are subjective with limited analysis of communication skills, behavior, and emotional intelligence</a:t>
            </a:r>
          </a:p>
          <a:p>
            <a:pPr algn="l" marL="474984" indent="-237492" lvl="1">
              <a:lnSpc>
                <a:spcPts val="415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Organizations struggle with accurate job-candidate matching and predicting long-term employee retention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5091" y="1881390"/>
            <a:ext cx="17443928" cy="347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1"/>
              </a:lnSpc>
              <a:spcBef>
                <a:spcPct val="0"/>
              </a:spcBef>
            </a:pPr>
            <a:r>
              <a:rPr lang="en-US" b="true" sz="24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Develops an AI-Powered Intelligent Talent Acquisition System to improve recruitment efficiency and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1680" y="5774547"/>
            <a:ext cx="9195049" cy="242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4" indent="-237492" lvl="1">
              <a:lnSpc>
                <a:spcPts val="492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HR</a:t>
            </a: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Managers and Recruiters</a:t>
            </a:r>
          </a:p>
          <a:p>
            <a:pPr algn="l" marL="474984" indent="-237492" lvl="1">
              <a:lnSpc>
                <a:spcPts val="492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Recruitment Agencies</a:t>
            </a:r>
          </a:p>
          <a:p>
            <a:pPr algn="l" marL="474984" indent="-237492" lvl="1">
              <a:lnSpc>
                <a:spcPts val="492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Organizations and Hiring Teams</a:t>
            </a:r>
          </a:p>
          <a:p>
            <a:pPr algn="l" marL="474984" indent="-237492" lvl="1">
              <a:lnSpc>
                <a:spcPts val="492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Job Candidates</a:t>
            </a:r>
          </a:p>
        </p:txBody>
      </p:sp>
      <p:pic>
        <p:nvPicPr>
          <p:cNvPr name="Picture 12" id="12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9977760" y="5143500"/>
            <a:ext cx="8071259" cy="452594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605091" y="5339486"/>
            <a:ext cx="2351812" cy="347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1"/>
              </a:lnSpc>
              <a:spcBef>
                <a:spcPct val="0"/>
              </a:spcBef>
            </a:pPr>
            <a:r>
              <a:rPr lang="en-US" b="true" sz="24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Users: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1872" y="2378329"/>
            <a:ext cx="10702251" cy="1879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Traditional recruitment systems mainly rely on keyword matching and manual decision-making. These systems cannot accurately evaluate candidate skills, explain hiring decisions, assess interview performance, or predict early employee attrition. This leads to inefficient, inconsistent, and less data-driven hiring decisions.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374124" y="48863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51725" y="835496"/>
            <a:ext cx="2334902" cy="2334902"/>
          </a:xfrm>
          <a:custGeom>
            <a:avLst/>
            <a:gdLst/>
            <a:ahLst/>
            <a:cxnLst/>
            <a:rect r="r" b="b" t="t" l="l"/>
            <a:pathLst>
              <a:path h="2334902" w="2334902">
                <a:moveTo>
                  <a:pt x="0" y="0"/>
                </a:moveTo>
                <a:lnTo>
                  <a:pt x="2334902" y="0"/>
                </a:lnTo>
                <a:lnTo>
                  <a:pt x="2334902" y="2334902"/>
                </a:lnTo>
                <a:lnTo>
                  <a:pt x="0" y="2334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41179" y="294171"/>
            <a:ext cx="14071101" cy="5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32146" y="4914900"/>
            <a:ext cx="5244584" cy="49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35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of Our Solution: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84071" y="5512475"/>
            <a:ext cx="12498586" cy="41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b="true" sz="26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Recruitment Impact:</a:t>
            </a:r>
          </a:p>
          <a:p>
            <a:pPr algn="l">
              <a:lnSpc>
                <a:spcPts val="3906"/>
              </a:lnSpc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Faster and more accurate candidate screening and hiring decisions</a:t>
            </a:r>
          </a:p>
          <a:p>
            <a:pPr algn="l">
              <a:lnSpc>
                <a:spcPts val="4230"/>
              </a:lnSpc>
            </a:pPr>
            <a:r>
              <a:rPr lang="en-US" b="true" sz="26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Organizational Impact:</a:t>
            </a:r>
          </a:p>
          <a:p>
            <a:pPr algn="l">
              <a:lnSpc>
                <a:spcPts val="3906"/>
              </a:lnSpc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Reduces recruitment costs and early employee turnover</a:t>
            </a:r>
          </a:p>
          <a:p>
            <a:pPr algn="l">
              <a:lnSpc>
                <a:spcPts val="4230"/>
              </a:lnSpc>
            </a:pPr>
            <a:r>
              <a:rPr lang="en-US" b="true" sz="26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Recruiter Impact:</a:t>
            </a:r>
          </a:p>
          <a:p>
            <a:pPr algn="l">
              <a:lnSpc>
                <a:spcPts val="3906"/>
              </a:lnSpc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Provides explainable and data-driven candidate evaluation insights</a:t>
            </a:r>
          </a:p>
          <a:p>
            <a:pPr algn="l">
              <a:lnSpc>
                <a:spcPts val="4230"/>
              </a:lnSpc>
            </a:pPr>
            <a:r>
              <a:rPr lang="en-US" b="true" sz="26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Impact:</a:t>
            </a:r>
          </a:p>
          <a:p>
            <a:pPr algn="l">
              <a:lnSpc>
                <a:spcPts val="3906"/>
              </a:lnSpc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Advances AI-driven recruitment using NLP, Explainable AI, and predictive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1767851"/>
            <a:ext cx="2062401" cy="49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35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35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roblem,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4541107" y="6042317"/>
            <a:ext cx="9082214" cy="908221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52658" y="-2602013"/>
            <a:ext cx="5764939" cy="5764939"/>
          </a:xfrm>
          <a:custGeom>
            <a:avLst/>
            <a:gdLst/>
            <a:ahLst/>
            <a:cxnLst/>
            <a:rect r="r" b="b" t="t" l="l"/>
            <a:pathLst>
              <a:path h="5764939" w="5764939">
                <a:moveTo>
                  <a:pt x="0" y="0"/>
                </a:moveTo>
                <a:lnTo>
                  <a:pt x="5764940" y="0"/>
                </a:lnTo>
                <a:lnTo>
                  <a:pt x="5764940" y="5764939"/>
                </a:lnTo>
                <a:lnTo>
                  <a:pt x="0" y="5764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3224" y="5006678"/>
            <a:ext cx="2421924" cy="2421924"/>
          </a:xfrm>
          <a:custGeom>
            <a:avLst/>
            <a:gdLst/>
            <a:ahLst/>
            <a:cxnLst/>
            <a:rect r="r" b="b" t="t" l="l"/>
            <a:pathLst>
              <a:path h="2421924" w="2421924">
                <a:moveTo>
                  <a:pt x="0" y="0"/>
                </a:moveTo>
                <a:lnTo>
                  <a:pt x="2421924" y="0"/>
                </a:lnTo>
                <a:lnTo>
                  <a:pt x="2421924" y="2421923"/>
                </a:lnTo>
                <a:lnTo>
                  <a:pt x="0" y="2421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42729" y="1866690"/>
            <a:ext cx="12605315" cy="872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227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Gap – Existing recruitment systems usually:</a:t>
            </a:r>
          </a:p>
          <a:p>
            <a:pPr algn="l" marL="469071" indent="-234535" lvl="1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Focus on individual recruitment tasks rather than an integrated end-to-end process.</a:t>
            </a:r>
          </a:p>
          <a:p>
            <a:pPr algn="l" marL="469071" indent="-234535" lvl="1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 limited integration of resume analysis, job matching, interview evaluation and attrition prediction.</a:t>
            </a:r>
          </a:p>
          <a:p>
            <a:pPr algn="l" marL="469071" indent="-234535" lvl="1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rovide limited explainability for AI-generated recruitment scores and predictions.</a:t>
            </a:r>
          </a:p>
          <a:p>
            <a:pPr algn="l" marL="469071" indent="-234535" lvl="1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Mainly focus on candidate selection, with limited support for predicting early attrition risk before hiring.</a:t>
            </a:r>
          </a:p>
          <a:p>
            <a:pPr algn="l" marL="469071" indent="-234535" lvl="1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Have limit</a:t>
            </a: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 validation and adaptation for the Sri Lankan recruitment context.</a:t>
            </a:r>
          </a:p>
          <a:p>
            <a:pPr algn="l">
              <a:lnSpc>
                <a:spcPts val="4522"/>
              </a:lnSpc>
            </a:pPr>
            <a:r>
              <a:rPr lang="en-US" sz="227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</a:t>
            </a:r>
            <a:r>
              <a:rPr lang="en-US" sz="227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ive – Develop an AI-powered intelligent talent acquisition system that can:</a:t>
            </a:r>
          </a:p>
          <a:p>
            <a:pPr algn="l" marL="469071" indent="-234535" lvl="1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 intelligent resume and skill proficiency analysis.</a:t>
            </a:r>
          </a:p>
          <a:p>
            <a:pPr algn="l" marL="469071" indent="-234535" lvl="1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rovide job–candidate matching with explainable AI.</a:t>
            </a:r>
          </a:p>
          <a:p>
            <a:pPr algn="l" marL="469071" indent="-234535" lvl="1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</a:t>
            </a: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port AI-assisted interview evaluation.</a:t>
            </a:r>
          </a:p>
          <a:p>
            <a:pPr algn="l" marL="469071" indent="-234535" lvl="1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edict hiring attrition risk using machine learning.</a:t>
            </a:r>
          </a:p>
          <a:p>
            <a:pPr algn="l" marL="469071" indent="-234535" lvl="1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 explainable risk factors and what-if retention simulations to                                     support recruiter decision-making.</a:t>
            </a:r>
          </a:p>
          <a:p>
            <a:pPr algn="l">
              <a:lnSpc>
                <a:spcPts val="4323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3152553" y="6200781"/>
            <a:ext cx="9082214" cy="908221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994986"/>
            <a:ext cx="1124947" cy="1124947"/>
          </a:xfrm>
          <a:custGeom>
            <a:avLst/>
            <a:gdLst/>
            <a:ahLst/>
            <a:cxnLst/>
            <a:rect r="r" b="b" t="t" l="l"/>
            <a:pathLst>
              <a:path h="1124947" w="1124947">
                <a:moveTo>
                  <a:pt x="0" y="0"/>
                </a:moveTo>
                <a:lnTo>
                  <a:pt x="1124947" y="0"/>
                </a:lnTo>
                <a:lnTo>
                  <a:pt x="1124947" y="1124947"/>
                </a:lnTo>
                <a:lnTo>
                  <a:pt x="0" y="11249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58143" y="1311568"/>
            <a:ext cx="3285411" cy="52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b="true" sz="36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GAP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41179" y="294171"/>
            <a:ext cx="14071101" cy="5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82638" y="1982725"/>
            <a:ext cx="13081796" cy="884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6"/>
              </a:lnSpc>
            </a:pPr>
            <a:r>
              <a:rPr lang="en-US" sz="251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</a:t>
            </a:r>
            <a:r>
              <a:rPr lang="en-US" b="true" sz="25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tion Summary</a:t>
            </a:r>
          </a:p>
          <a:p>
            <a:pPr algn="l" marL="542238" indent="-271119" lvl="1">
              <a:lnSpc>
                <a:spcPts val="587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AI-powered intelligent talent acquisition system that integrates resume intelligence, job matching, interview evaluation, and hiring attrition prediction to provide explainable, data-driven recruitment decision support.</a:t>
            </a:r>
          </a:p>
          <a:p>
            <a:pPr algn="l">
              <a:lnSpc>
                <a:spcPts val="5876"/>
              </a:lnSpc>
            </a:pPr>
            <a:r>
              <a:rPr lang="en-US" b="true" sz="25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Features</a:t>
            </a:r>
          </a:p>
          <a:p>
            <a:pPr algn="l" marL="542238" indent="-271119" lvl="1">
              <a:lnSpc>
                <a:spcPts val="587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Intelligent CV parsing &amp; skill proficiency analysis</a:t>
            </a:r>
          </a:p>
          <a:p>
            <a:pPr algn="l" marL="542238" indent="-271119" lvl="1">
              <a:lnSpc>
                <a:spcPts val="587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Job–candidate matching with explainable insights</a:t>
            </a:r>
          </a:p>
          <a:p>
            <a:pPr algn="l" marL="542238" indent="-271119" lvl="1">
              <a:lnSpc>
                <a:spcPts val="587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AI-assisted live interview and candidate evaluation</a:t>
            </a:r>
          </a:p>
          <a:p>
            <a:pPr algn="l" marL="542238" indent="-271119" lvl="1">
              <a:lnSpc>
                <a:spcPts val="587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Hiring attrition risk prediction</a:t>
            </a:r>
          </a:p>
          <a:p>
            <a:pPr algn="l" marL="542238" indent="-271119" lvl="1">
              <a:lnSpc>
                <a:spcPts val="587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SHAP-based risk explanation &amp; AI recommendations</a:t>
            </a:r>
          </a:p>
          <a:p>
            <a:pPr algn="l" marL="542238" indent="-271119" lvl="1">
              <a:lnSpc>
                <a:spcPts val="587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What-If retention simulation for proactive decision support</a:t>
            </a:r>
          </a:p>
          <a:p>
            <a:pPr algn="l">
              <a:lnSpc>
                <a:spcPts val="5876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72022" y="1274828"/>
            <a:ext cx="993647" cy="993647"/>
          </a:xfrm>
          <a:custGeom>
            <a:avLst/>
            <a:gdLst/>
            <a:ahLst/>
            <a:cxnLst/>
            <a:rect r="r" b="b" t="t" l="l"/>
            <a:pathLst>
              <a:path h="993647" w="993647">
                <a:moveTo>
                  <a:pt x="0" y="0"/>
                </a:moveTo>
                <a:lnTo>
                  <a:pt x="993647" y="0"/>
                </a:lnTo>
                <a:lnTo>
                  <a:pt x="993647" y="993647"/>
                </a:lnTo>
                <a:lnTo>
                  <a:pt x="0" y="993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63381" y="1536555"/>
            <a:ext cx="4148971" cy="49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35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41179" y="294171"/>
            <a:ext cx="14071101" cy="5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752658" y="-2602013"/>
            <a:ext cx="5764939" cy="5764939"/>
          </a:xfrm>
          <a:custGeom>
            <a:avLst/>
            <a:gdLst/>
            <a:ahLst/>
            <a:cxnLst/>
            <a:rect r="r" b="b" t="t" l="l"/>
            <a:pathLst>
              <a:path h="5764939" w="5764939">
                <a:moveTo>
                  <a:pt x="0" y="0"/>
                </a:moveTo>
                <a:lnTo>
                  <a:pt x="5764940" y="0"/>
                </a:lnTo>
                <a:lnTo>
                  <a:pt x="5764940" y="5764939"/>
                </a:lnTo>
                <a:lnTo>
                  <a:pt x="0" y="5764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393224" y="4218757"/>
            <a:ext cx="2421924" cy="2421924"/>
          </a:xfrm>
          <a:custGeom>
            <a:avLst/>
            <a:gdLst/>
            <a:ahLst/>
            <a:cxnLst/>
            <a:rect r="r" b="b" t="t" l="l"/>
            <a:pathLst>
              <a:path h="2421924" w="2421924">
                <a:moveTo>
                  <a:pt x="0" y="0"/>
                </a:moveTo>
                <a:lnTo>
                  <a:pt x="2421924" y="0"/>
                </a:lnTo>
                <a:lnTo>
                  <a:pt x="2421924" y="2421923"/>
                </a:lnTo>
                <a:lnTo>
                  <a:pt x="0" y="24219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402050" y="6217640"/>
            <a:ext cx="9082214" cy="908221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75211" y="1028700"/>
            <a:ext cx="2334902" cy="2334902"/>
          </a:xfrm>
          <a:custGeom>
            <a:avLst/>
            <a:gdLst/>
            <a:ahLst/>
            <a:cxnLst/>
            <a:rect r="r" b="b" t="t" l="l"/>
            <a:pathLst>
              <a:path h="2334902" w="2334902">
                <a:moveTo>
                  <a:pt x="0" y="0"/>
                </a:moveTo>
                <a:lnTo>
                  <a:pt x="2334902" y="0"/>
                </a:lnTo>
                <a:lnTo>
                  <a:pt x="2334902" y="2334902"/>
                </a:lnTo>
                <a:lnTo>
                  <a:pt x="0" y="2334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357961" y="5979192"/>
            <a:ext cx="9082214" cy="908221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906527" y="1339460"/>
            <a:ext cx="992137" cy="992137"/>
          </a:xfrm>
          <a:custGeom>
            <a:avLst/>
            <a:gdLst/>
            <a:ahLst/>
            <a:cxnLst/>
            <a:rect r="r" b="b" t="t" l="l"/>
            <a:pathLst>
              <a:path h="992137" w="992137">
                <a:moveTo>
                  <a:pt x="0" y="0"/>
                </a:moveTo>
                <a:lnTo>
                  <a:pt x="992137" y="0"/>
                </a:lnTo>
                <a:lnTo>
                  <a:pt x="992137" y="992137"/>
                </a:lnTo>
                <a:lnTo>
                  <a:pt x="0" y="992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33583" y="2143901"/>
            <a:ext cx="13225717" cy="7938912"/>
          </a:xfrm>
          <a:custGeom>
            <a:avLst/>
            <a:gdLst/>
            <a:ahLst/>
            <a:cxnLst/>
            <a:rect r="r" b="b" t="t" l="l"/>
            <a:pathLst>
              <a:path h="7938912" w="13225717">
                <a:moveTo>
                  <a:pt x="0" y="0"/>
                </a:moveTo>
                <a:lnTo>
                  <a:pt x="13225717" y="0"/>
                </a:lnTo>
                <a:lnTo>
                  <a:pt x="13225717" y="7938912"/>
                </a:lnTo>
                <a:lnTo>
                  <a:pt x="0" y="7938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514" t="-13085" r="-3794" b="-1092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41179" y="294171"/>
            <a:ext cx="14071101" cy="5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55789" y="1514707"/>
            <a:ext cx="5405518" cy="49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35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38588" y="2185750"/>
            <a:ext cx="15273568" cy="4207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667" indent="-294334" lvl="1">
              <a:lnSpc>
                <a:spcPts val="6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AI-powered recruitment platform for companies and recruitment agencies.</a:t>
            </a:r>
          </a:p>
          <a:p>
            <a:pPr algn="l" marL="588667" indent="-294334" lvl="1">
              <a:lnSpc>
                <a:spcPts val="6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Integration with existing ATS and HR management systems.</a:t>
            </a:r>
          </a:p>
          <a:p>
            <a:pPr algn="l" marL="588667" indent="-294334" lvl="1">
              <a:lnSpc>
                <a:spcPts val="6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Subscription-based and enterprise licensing business model.</a:t>
            </a:r>
          </a:p>
          <a:p>
            <a:pPr algn="l" marL="588667" indent="-294334" lvl="1">
              <a:lnSpc>
                <a:spcPts val="6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Cloud-based scalable deployment with low operational cost.</a:t>
            </a:r>
          </a:p>
          <a:p>
            <a:pPr algn="l" marL="588667" indent="-294334" lvl="1">
              <a:lnSpc>
                <a:spcPts val="6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Continuous AI model improvement using recruitment data and recruiter feedback.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374124" y="48863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75211" y="1028700"/>
            <a:ext cx="2334902" cy="2334902"/>
          </a:xfrm>
          <a:custGeom>
            <a:avLst/>
            <a:gdLst/>
            <a:ahLst/>
            <a:cxnLst/>
            <a:rect r="r" b="b" t="t" l="l"/>
            <a:pathLst>
              <a:path h="2334902" w="2334902">
                <a:moveTo>
                  <a:pt x="0" y="0"/>
                </a:moveTo>
                <a:lnTo>
                  <a:pt x="2334902" y="0"/>
                </a:lnTo>
                <a:lnTo>
                  <a:pt x="2334902" y="2334902"/>
                </a:lnTo>
                <a:lnTo>
                  <a:pt x="0" y="2334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5731" y="1363778"/>
            <a:ext cx="873332" cy="873332"/>
          </a:xfrm>
          <a:custGeom>
            <a:avLst/>
            <a:gdLst/>
            <a:ahLst/>
            <a:cxnLst/>
            <a:rect r="r" b="b" t="t" l="l"/>
            <a:pathLst>
              <a:path h="873332" w="873332">
                <a:moveTo>
                  <a:pt x="0" y="0"/>
                </a:moveTo>
                <a:lnTo>
                  <a:pt x="873332" y="0"/>
                </a:lnTo>
                <a:lnTo>
                  <a:pt x="873332" y="873332"/>
                </a:lnTo>
                <a:lnTo>
                  <a:pt x="0" y="873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41179" y="294171"/>
            <a:ext cx="14071101" cy="5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8588" y="1524562"/>
            <a:ext cx="5159509" cy="52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b="true" sz="36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Commercialization</a:t>
            </a:r>
            <a:r>
              <a:rPr lang="en-US" b="true" sz="36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8588" y="6402843"/>
            <a:ext cx="6278342" cy="450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667" indent="-294334" lvl="1">
              <a:lnSpc>
                <a:spcPts val="6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</a:t>
            </a: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rget Market Includes:</a:t>
            </a:r>
          </a:p>
          <a:p>
            <a:pPr algn="l">
              <a:lnSpc>
                <a:spcPts val="4771"/>
              </a:lnSpc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</a:t>
            </a: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⚬ Corporate HR departments</a:t>
            </a:r>
          </a:p>
          <a:p>
            <a:pPr algn="l">
              <a:lnSpc>
                <a:spcPts val="4771"/>
              </a:lnSpc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</a:t>
            </a: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⚬ Recruitment agencies</a:t>
            </a:r>
          </a:p>
          <a:p>
            <a:pPr algn="l">
              <a:lnSpc>
                <a:spcPts val="4771"/>
              </a:lnSpc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</a:t>
            </a: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⚬ IT companies and startups</a:t>
            </a:r>
          </a:p>
          <a:p>
            <a:pPr algn="l">
              <a:lnSpc>
                <a:spcPts val="4771"/>
              </a:lnSpc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</a:t>
            </a: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⚬ Large-scale enterprises</a:t>
            </a:r>
          </a:p>
          <a:p>
            <a:pPr algn="l">
              <a:lnSpc>
                <a:spcPts val="4771"/>
              </a:lnSpc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</a:t>
            </a: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⚬ Online recruitment platforms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03719" y="5112467"/>
            <a:ext cx="4623164" cy="4623164"/>
          </a:xfrm>
          <a:custGeom>
            <a:avLst/>
            <a:gdLst/>
            <a:ahLst/>
            <a:cxnLst/>
            <a:rect r="r" b="b" t="t" l="l"/>
            <a:pathLst>
              <a:path h="4623164" w="4623164">
                <a:moveTo>
                  <a:pt x="0" y="0"/>
                </a:moveTo>
                <a:lnTo>
                  <a:pt x="4623164" y="0"/>
                </a:lnTo>
                <a:lnTo>
                  <a:pt x="4623164" y="4623164"/>
                </a:lnTo>
                <a:lnTo>
                  <a:pt x="0" y="4623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17166" y="4274514"/>
            <a:ext cx="20707970" cy="3149534"/>
            <a:chOff x="0" y="0"/>
            <a:chExt cx="5453951" cy="8295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53951" cy="829507"/>
            </a:xfrm>
            <a:custGeom>
              <a:avLst/>
              <a:gdLst/>
              <a:ahLst/>
              <a:cxnLst/>
              <a:rect r="r" b="b" t="t" l="l"/>
              <a:pathLst>
                <a:path h="829507" w="5453951">
                  <a:moveTo>
                    <a:pt x="0" y="0"/>
                  </a:moveTo>
                  <a:lnTo>
                    <a:pt x="5453951" y="0"/>
                  </a:lnTo>
                  <a:lnTo>
                    <a:pt x="5453951" y="829507"/>
                  </a:lnTo>
                  <a:lnTo>
                    <a:pt x="0" y="829507"/>
                  </a:lnTo>
                  <a:close/>
                </a:path>
              </a:pathLst>
            </a:custGeom>
            <a:solidFill>
              <a:srgbClr val="84181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453951" cy="810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552767" y="-556884"/>
            <a:ext cx="1281626" cy="11499983"/>
            <a:chOff x="0" y="0"/>
            <a:chExt cx="337548" cy="30288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7548" cy="3028802"/>
            </a:xfrm>
            <a:custGeom>
              <a:avLst/>
              <a:gdLst/>
              <a:ahLst/>
              <a:cxnLst/>
              <a:rect r="r" b="b" t="t" l="l"/>
              <a:pathLst>
                <a:path h="3028802" w="337548">
                  <a:moveTo>
                    <a:pt x="0" y="0"/>
                  </a:moveTo>
                  <a:lnTo>
                    <a:pt x="337548" y="0"/>
                  </a:lnTo>
                  <a:lnTo>
                    <a:pt x="337548" y="3028802"/>
                  </a:lnTo>
                  <a:lnTo>
                    <a:pt x="0" y="3028802"/>
                  </a:lnTo>
                  <a:close/>
                </a:path>
              </a:pathLst>
            </a:custGeom>
            <a:solidFill>
              <a:srgbClr val="3038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337548" cy="3009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55386" y="1177089"/>
            <a:ext cx="2591816" cy="2591816"/>
          </a:xfrm>
          <a:custGeom>
            <a:avLst/>
            <a:gdLst/>
            <a:ahLst/>
            <a:cxnLst/>
            <a:rect r="r" b="b" t="t" l="l"/>
            <a:pathLst>
              <a:path h="2591816" w="2591816">
                <a:moveTo>
                  <a:pt x="0" y="0"/>
                </a:moveTo>
                <a:lnTo>
                  <a:pt x="2591816" y="0"/>
                </a:lnTo>
                <a:lnTo>
                  <a:pt x="2591816" y="2591816"/>
                </a:lnTo>
                <a:lnTo>
                  <a:pt x="0" y="25918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85218" y="2440167"/>
            <a:ext cx="6089240" cy="608924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237705" y="1350333"/>
            <a:ext cx="1353863" cy="1353863"/>
          </a:xfrm>
          <a:custGeom>
            <a:avLst/>
            <a:gdLst/>
            <a:ahLst/>
            <a:cxnLst/>
            <a:rect r="r" b="b" t="t" l="l"/>
            <a:pathLst>
              <a:path h="1353863" w="1353863">
                <a:moveTo>
                  <a:pt x="0" y="0"/>
                </a:moveTo>
                <a:lnTo>
                  <a:pt x="1353864" y="0"/>
                </a:lnTo>
                <a:lnTo>
                  <a:pt x="1353864" y="1353863"/>
                </a:lnTo>
                <a:lnTo>
                  <a:pt x="0" y="135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823104" y="5383607"/>
            <a:ext cx="8768464" cy="153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94"/>
              </a:lnSpc>
            </a:pPr>
            <a:r>
              <a:rPr lang="en-US" b="true" sz="11354">
                <a:solidFill>
                  <a:srgbClr val="FFFFFF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THANK YOU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DAHI6YO0gWw</dc:identifier>
  <dcterms:modified xsi:type="dcterms:W3CDTF">2011-08-01T06:04:30Z</dcterms:modified>
  <cp:revision>1</cp:revision>
  <dc:title>Literacy Analysis Presentation</dc:title>
</cp:coreProperties>
</file>