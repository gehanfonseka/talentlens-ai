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DM Sans" pitchFamily="2" charset="0"/>
      <p:regular r:id="rId25"/>
    </p:embeddedFont>
    <p:embeddedFont>
      <p:font typeface="DM Sans Bold" panose="020B0604020202020204" charset="0"/>
      <p:regular r:id="rId26"/>
    </p:embeddedFont>
    <p:embeddedFont>
      <p:font typeface="League Spartan" panose="020B0604020202020204" charset="0"/>
      <p:regular r:id="rId27"/>
    </p:embeddedFont>
    <p:embeddedFont>
      <p:font typeface="Poppins" panose="00000500000000000000" pitchFamily="2" charset="0"/>
      <p:regular r:id="rId28"/>
    </p:embeddedFont>
    <p:embeddedFont>
      <p:font typeface="Poppins Bold" panose="00000800000000000000" charset="0"/>
      <p:regular r:id="rId29"/>
    </p:embeddedFont>
    <p:embeddedFont>
      <p:font typeface="Pragmatica" panose="020B0604020202020204" charset="0"/>
      <p:regular r:id="rId30"/>
    </p:embeddedFont>
    <p:embeddedFont>
      <p:font typeface="Pragmatica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jpe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24718" y="7071244"/>
            <a:ext cx="13236047" cy="1974528"/>
            <a:chOff x="0" y="0"/>
            <a:chExt cx="3486037" cy="520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86037" cy="520040"/>
            </a:xfrm>
            <a:custGeom>
              <a:avLst/>
              <a:gdLst/>
              <a:ahLst/>
              <a:cxnLst/>
              <a:rect l="l" t="t" r="r" b="b"/>
              <a:pathLst>
                <a:path w="3486037" h="520040">
                  <a:moveTo>
                    <a:pt x="0" y="0"/>
                  </a:moveTo>
                  <a:lnTo>
                    <a:pt x="3486037" y="0"/>
                  </a:lnTo>
                  <a:lnTo>
                    <a:pt x="3486037" y="520040"/>
                  </a:lnTo>
                  <a:lnTo>
                    <a:pt x="0" y="520040"/>
                  </a:ln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3486037" cy="500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3121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1404406" y="1951698"/>
            <a:ext cx="8979216" cy="897921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209550" cap="sq">
              <a:solidFill>
                <a:srgbClr val="8418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6634841" y="-938864"/>
            <a:ext cx="2586689" cy="2586689"/>
          </a:xfrm>
          <a:custGeom>
            <a:avLst/>
            <a:gdLst/>
            <a:ahLst/>
            <a:cxnLst/>
            <a:rect l="l" t="t" r="r" b="b"/>
            <a:pathLst>
              <a:path w="2586689" h="2586689">
                <a:moveTo>
                  <a:pt x="0" y="0"/>
                </a:moveTo>
                <a:lnTo>
                  <a:pt x="2586689" y="0"/>
                </a:lnTo>
                <a:lnTo>
                  <a:pt x="2586689" y="2586689"/>
                </a:lnTo>
                <a:lnTo>
                  <a:pt x="0" y="2586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74810" y="3219450"/>
            <a:ext cx="11466562" cy="3153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7"/>
              </a:lnSpc>
            </a:pPr>
            <a:r>
              <a:rPr lang="en-US" sz="7958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74885" y="7857470"/>
            <a:ext cx="8927988" cy="440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31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R26-IT-082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18562" y="4731420"/>
            <a:ext cx="15193718" cy="0"/>
          </a:xfrm>
          <a:prstGeom prst="line">
            <a:avLst/>
          </a:prstGeom>
          <a:ln w="47625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4185075489"/>
              </p:ext>
            </p:extLst>
          </p:nvPr>
        </p:nvGraphicFramePr>
        <p:xfrm>
          <a:off x="1028700" y="2386013"/>
          <a:ext cx="20904200" cy="335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0063637" imgH="5029389" progId="Excel.Sheet.12">
                  <p:embed/>
                </p:oleObj>
              </mc:Choice>
              <mc:Fallback>
                <p:oleObj name="Worksheet" r:id="rId2" imgW="20063637" imgH="50293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2386013"/>
                        <a:ext cx="20904200" cy="3351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1385405"/>
            <a:ext cx="7989332" cy="438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1"/>
              </a:lnSpc>
              <a:spcBef>
                <a:spcPct val="0"/>
              </a:spcBef>
            </a:pPr>
            <a:r>
              <a:rPr lang="en-US" sz="301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Comments for the Proposal Presentation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41179" y="294171"/>
            <a:ext cx="1407110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317207"/>
            <a:ext cx="4818459" cy="438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1"/>
              </a:lnSpc>
              <a:spcBef>
                <a:spcPct val="0"/>
              </a:spcBef>
            </a:pPr>
            <a:r>
              <a:rPr lang="en-US" sz="301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we addressed them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890405"/>
            <a:ext cx="16742265" cy="373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Conducted extensive searches for Sri Lankan recruitment datasets.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However, publicly available Sri Lankan datasets were difficult to obtain due to privacy and confidentiality concerns.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Survey-based data collection was also attempted, but the response rate was limited.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Therefore, the IBM HR dataset is currently being used for prototype development and model training.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81255" y="7405465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0"/>
                </a:lnTo>
                <a:lnTo>
                  <a:pt x="0" y="37056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47745" y="-1021621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1923226" y="9830121"/>
            <a:ext cx="22347526" cy="913758"/>
            <a:chOff x="0" y="0"/>
            <a:chExt cx="6395869" cy="2615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95869" cy="261518"/>
            </a:xfrm>
            <a:custGeom>
              <a:avLst/>
              <a:gdLst/>
              <a:ahLst/>
              <a:cxnLst/>
              <a:rect l="l" t="t" r="r" b="b"/>
              <a:pathLst>
                <a:path w="6395869" h="261518">
                  <a:moveTo>
                    <a:pt x="8661" y="0"/>
                  </a:moveTo>
                  <a:lnTo>
                    <a:pt x="6387209" y="0"/>
                  </a:lnTo>
                  <a:cubicBezTo>
                    <a:pt x="6391992" y="0"/>
                    <a:pt x="6395869" y="3878"/>
                    <a:pt x="6395869" y="8661"/>
                  </a:cubicBezTo>
                  <a:lnTo>
                    <a:pt x="6395869" y="252857"/>
                  </a:lnTo>
                  <a:cubicBezTo>
                    <a:pt x="6395869" y="257640"/>
                    <a:pt x="6391992" y="261518"/>
                    <a:pt x="6387209" y="261518"/>
                  </a:cubicBezTo>
                  <a:lnTo>
                    <a:pt x="8661" y="261518"/>
                  </a:lnTo>
                  <a:cubicBezTo>
                    <a:pt x="6364" y="261518"/>
                    <a:pt x="4161" y="260605"/>
                    <a:pt x="2537" y="258981"/>
                  </a:cubicBezTo>
                  <a:cubicBezTo>
                    <a:pt x="912" y="257357"/>
                    <a:pt x="0" y="255154"/>
                    <a:pt x="0" y="252857"/>
                  </a:cubicBezTo>
                  <a:lnTo>
                    <a:pt x="0" y="8661"/>
                  </a:lnTo>
                  <a:cubicBezTo>
                    <a:pt x="0" y="6364"/>
                    <a:pt x="912" y="4161"/>
                    <a:pt x="2537" y="2537"/>
                  </a:cubicBezTo>
                  <a:cubicBezTo>
                    <a:pt x="4161" y="912"/>
                    <a:pt x="6364" y="0"/>
                    <a:pt x="8661" y="0"/>
                  </a:cubicBezTo>
                  <a:close/>
                </a:path>
              </a:pathLst>
            </a:custGeom>
            <a:solidFill>
              <a:srgbClr val="3038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6395869" cy="242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1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5091" y="1135833"/>
            <a:ext cx="2858453" cy="49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sz="35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1179" y="294171"/>
            <a:ext cx="13366509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1680" y="2308632"/>
            <a:ext cx="17467339" cy="258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4" lvl="1" indent="-237492" algn="l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Talent acquisition is a critical process, but it is often time-consuming, subjective, and inefficient</a:t>
            </a:r>
          </a:p>
          <a:p>
            <a:pPr marL="474984" lvl="1" indent="-237492" algn="l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systems rely on manual resume screening and human judgment, leading to bias and inconsistency</a:t>
            </a:r>
          </a:p>
          <a:p>
            <a:pPr marL="474984" lvl="1" indent="-237492" algn="l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ATS systems focus on keyword-based filtering, failing to understand context and candidate potential</a:t>
            </a:r>
          </a:p>
          <a:p>
            <a:pPr marL="474984" lvl="1" indent="-237492" algn="l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Interview evaluations are subjective with limited analysis of communication skills, behavior, and emotional intelligence</a:t>
            </a:r>
          </a:p>
          <a:p>
            <a:pPr marL="474984" lvl="1" indent="-237492" algn="l">
              <a:lnSpc>
                <a:spcPts val="415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struggle with accurate job-candidate matching and predicting long-term employee retention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5091" y="1881390"/>
            <a:ext cx="17443928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1"/>
              </a:lnSpc>
              <a:spcBef>
                <a:spcPct val="0"/>
              </a:spcBef>
            </a:pPr>
            <a:r>
              <a:rPr lang="en-US" sz="24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Develops an AI-Powered Intelligent Talent Acquisition System to improve recruitment efficiency and accuracy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1680" y="5774547"/>
            <a:ext cx="9195049" cy="242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4" lvl="1" indent="-237492" algn="l">
              <a:lnSpc>
                <a:spcPts val="492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a fully automated, intelligent recruitment pipeline</a:t>
            </a:r>
          </a:p>
          <a:p>
            <a:pPr marL="474984" lvl="1" indent="-237492" algn="l">
              <a:lnSpc>
                <a:spcPts val="492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human bias and manual workload</a:t>
            </a:r>
          </a:p>
          <a:p>
            <a:pPr marL="474984" lvl="1" indent="-237492" algn="l">
              <a:lnSpc>
                <a:spcPts val="492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accuracy, transparency, and efficiency in hiring</a:t>
            </a:r>
          </a:p>
          <a:p>
            <a:pPr marL="474984" lvl="1" indent="-237492" algn="l">
              <a:lnSpc>
                <a:spcPts val="4928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data-driven decision making in talent acquisition</a:t>
            </a:r>
          </a:p>
        </p:txBody>
      </p:sp>
      <p:pic>
        <p:nvPicPr>
          <p:cNvPr id="12" name="Picture 1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9977760" y="5143500"/>
            <a:ext cx="8071259" cy="452594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05091" y="5339486"/>
            <a:ext cx="2351812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1"/>
              </a:lnSpc>
              <a:spcBef>
                <a:spcPct val="0"/>
              </a:spcBef>
            </a:pPr>
            <a:r>
              <a:rPr lang="en-US" sz="24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26660" y="-635059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1923226" y="9830121"/>
            <a:ext cx="22347526" cy="913758"/>
            <a:chOff x="0" y="0"/>
            <a:chExt cx="6395869" cy="2615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95869" cy="261518"/>
            </a:xfrm>
            <a:custGeom>
              <a:avLst/>
              <a:gdLst/>
              <a:ahLst/>
              <a:cxnLst/>
              <a:rect l="l" t="t" r="r" b="b"/>
              <a:pathLst>
                <a:path w="6395869" h="261518">
                  <a:moveTo>
                    <a:pt x="8661" y="0"/>
                  </a:moveTo>
                  <a:lnTo>
                    <a:pt x="6387209" y="0"/>
                  </a:lnTo>
                  <a:cubicBezTo>
                    <a:pt x="6391992" y="0"/>
                    <a:pt x="6395869" y="3878"/>
                    <a:pt x="6395869" y="8661"/>
                  </a:cubicBezTo>
                  <a:lnTo>
                    <a:pt x="6395869" y="252857"/>
                  </a:lnTo>
                  <a:cubicBezTo>
                    <a:pt x="6395869" y="257640"/>
                    <a:pt x="6391992" y="261518"/>
                    <a:pt x="6387209" y="261518"/>
                  </a:cubicBezTo>
                  <a:lnTo>
                    <a:pt x="8661" y="261518"/>
                  </a:lnTo>
                  <a:cubicBezTo>
                    <a:pt x="6364" y="261518"/>
                    <a:pt x="4161" y="260605"/>
                    <a:pt x="2537" y="258981"/>
                  </a:cubicBezTo>
                  <a:cubicBezTo>
                    <a:pt x="912" y="257357"/>
                    <a:pt x="0" y="255154"/>
                    <a:pt x="0" y="252857"/>
                  </a:cubicBezTo>
                  <a:lnTo>
                    <a:pt x="0" y="8661"/>
                  </a:lnTo>
                  <a:cubicBezTo>
                    <a:pt x="0" y="6364"/>
                    <a:pt x="912" y="4161"/>
                    <a:pt x="2537" y="2537"/>
                  </a:cubicBezTo>
                  <a:cubicBezTo>
                    <a:pt x="4161" y="912"/>
                    <a:pt x="6364" y="0"/>
                    <a:pt x="8661" y="0"/>
                  </a:cubicBezTo>
                  <a:close/>
                </a:path>
              </a:pathLst>
            </a:custGeom>
            <a:solidFill>
              <a:srgbClr val="3038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6395869" cy="242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1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>
            <p:extLst>
              <p:ext uri="{D42A27DB-BD31-4B8C-83A1-F6EECF244321}">
                <p14:modId xmlns:p14="http://schemas.microsoft.com/office/powerpoint/2010/main" val="3159984414"/>
              </p:ext>
            </p:extLst>
          </p:nvPr>
        </p:nvGraphicFramePr>
        <p:xfrm>
          <a:off x="1736725" y="2638425"/>
          <a:ext cx="14362113" cy="455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0650129" imgH="7094424" progId="Excel.Sheet.12">
                  <p:embed/>
                </p:oleObj>
              </mc:Choice>
              <mc:Fallback>
                <p:oleObj name="Worksheet" r:id="rId3" imgW="20650129" imgH="709442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6725" y="2638425"/>
                        <a:ext cx="14362113" cy="4554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2741179" y="294171"/>
            <a:ext cx="1407110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9544" y="1417764"/>
            <a:ext cx="9250537" cy="49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sz="35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Excellence of the Overall Solution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1872" y="2378329"/>
            <a:ext cx="10113915" cy="1879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recruitment systems mainly rely on keyword matching and manual decision-making. These systems cannot accurately evaluate candidate skills, explain hiring decisions, assess interview performance, or predict early employee attrition. This leads to inefficient and inaccurate hiring processes.</a:t>
            </a:r>
          </a:p>
        </p:txBody>
      </p:sp>
      <p:sp>
        <p:nvSpPr>
          <p:cNvPr id="3" name="Freeform 3"/>
          <p:cNvSpPr/>
          <p:nvPr/>
        </p:nvSpPr>
        <p:spPr>
          <a:xfrm>
            <a:off x="12374124" y="48863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475211" y="1028700"/>
            <a:ext cx="2334902" cy="2334902"/>
          </a:xfrm>
          <a:custGeom>
            <a:avLst/>
            <a:gdLst/>
            <a:ahLst/>
            <a:cxnLst/>
            <a:rect l="l" t="t" r="r" b="b"/>
            <a:pathLst>
              <a:path w="2334902" h="2334902">
                <a:moveTo>
                  <a:pt x="0" y="0"/>
                </a:moveTo>
                <a:lnTo>
                  <a:pt x="2334902" y="0"/>
                </a:lnTo>
                <a:lnTo>
                  <a:pt x="2334902" y="2334902"/>
                </a:lnTo>
                <a:lnTo>
                  <a:pt x="0" y="233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1179" y="294171"/>
            <a:ext cx="1407110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2146" y="4914900"/>
            <a:ext cx="5244584" cy="49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sz="35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of Our Solution: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4071" y="5512475"/>
            <a:ext cx="12498586" cy="410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26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Recruitment Impact:</a:t>
            </a:r>
          </a:p>
          <a:p>
            <a:pPr algn="l">
              <a:lnSpc>
                <a:spcPts val="3906"/>
              </a:lnSpc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and more accurate candidate screening and hiring decisions</a:t>
            </a:r>
          </a:p>
          <a:p>
            <a:pPr algn="l">
              <a:lnSpc>
                <a:spcPts val="4230"/>
              </a:lnSpc>
            </a:pPr>
            <a:r>
              <a:rPr lang="en-US" sz="26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Organizational Impact:</a:t>
            </a:r>
          </a:p>
          <a:p>
            <a:pPr algn="l">
              <a:lnSpc>
                <a:spcPts val="3906"/>
              </a:lnSpc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recruitment costs and early employee turnover</a:t>
            </a:r>
          </a:p>
          <a:p>
            <a:pPr algn="l">
              <a:lnSpc>
                <a:spcPts val="4230"/>
              </a:lnSpc>
            </a:pPr>
            <a:r>
              <a:rPr lang="en-US" sz="26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Recruiter Impact:</a:t>
            </a:r>
          </a:p>
          <a:p>
            <a:pPr algn="l">
              <a:lnSpc>
                <a:spcPts val="3906"/>
              </a:lnSpc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explainable and data-driven candidate evaluation insights</a:t>
            </a:r>
          </a:p>
          <a:p>
            <a:pPr algn="l">
              <a:lnSpc>
                <a:spcPts val="4230"/>
              </a:lnSpc>
            </a:pPr>
            <a:r>
              <a:rPr lang="en-US" sz="26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Impact:</a:t>
            </a:r>
          </a:p>
          <a:p>
            <a:pPr algn="l">
              <a:lnSpc>
                <a:spcPts val="3906"/>
              </a:lnSpc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Advances AI-driven recruitment using NLP, Explainable AI, and predictive analytics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750" y="1767851"/>
            <a:ext cx="2062401" cy="49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sz="35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Problem,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4550069" y="5413667"/>
            <a:ext cx="9082214" cy="908221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60728" y="306981"/>
            <a:ext cx="3223697" cy="3240925"/>
            <a:chOff x="0" y="0"/>
            <a:chExt cx="4598226" cy="4622800"/>
          </a:xfrm>
        </p:grpSpPr>
        <p:sp>
          <p:nvSpPr>
            <p:cNvPr id="3" name="Freeform 3"/>
            <p:cNvSpPr/>
            <p:nvPr/>
          </p:nvSpPr>
          <p:spPr>
            <a:xfrm>
              <a:off x="25400" y="25400"/>
              <a:ext cx="4547362" cy="4572000"/>
            </a:xfrm>
            <a:custGeom>
              <a:avLst/>
              <a:gdLst/>
              <a:ahLst/>
              <a:cxnLst/>
              <a:rect l="l" t="t" r="r" b="b"/>
              <a:pathLst>
                <a:path w="4547362" h="4572000">
                  <a:moveTo>
                    <a:pt x="0" y="0"/>
                  </a:moveTo>
                  <a:lnTo>
                    <a:pt x="4547362" y="0"/>
                  </a:lnTo>
                  <a:lnTo>
                    <a:pt x="4547362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/>
              <a:stretch>
                <a:fillRect t="-14421" b="-219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4598162" cy="4622800"/>
            </a:xfrm>
            <a:custGeom>
              <a:avLst/>
              <a:gdLst/>
              <a:ahLst/>
              <a:cxnLst/>
              <a:rect l="l" t="t" r="r" b="b"/>
              <a:pathLst>
                <a:path w="4598162" h="4622800">
                  <a:moveTo>
                    <a:pt x="25400" y="0"/>
                  </a:moveTo>
                  <a:lnTo>
                    <a:pt x="4572762" y="0"/>
                  </a:lnTo>
                  <a:cubicBezTo>
                    <a:pt x="4586732" y="0"/>
                    <a:pt x="4598162" y="11430"/>
                    <a:pt x="4598162" y="25400"/>
                  </a:cubicBezTo>
                  <a:lnTo>
                    <a:pt x="4598162" y="4597400"/>
                  </a:lnTo>
                  <a:cubicBezTo>
                    <a:pt x="4598162" y="4611370"/>
                    <a:pt x="4586732" y="4622800"/>
                    <a:pt x="4572762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4572762" y="4572000"/>
                  </a:lnTo>
                  <a:lnTo>
                    <a:pt x="4572762" y="4597400"/>
                  </a:lnTo>
                  <a:lnTo>
                    <a:pt x="4547362" y="4597400"/>
                  </a:lnTo>
                  <a:lnTo>
                    <a:pt x="4547362" y="25400"/>
                  </a:lnTo>
                  <a:lnTo>
                    <a:pt x="4572762" y="25400"/>
                  </a:lnTo>
                  <a:lnTo>
                    <a:pt x="457276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425815" y="4473973"/>
            <a:ext cx="9082214" cy="908221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747134"/>
            <a:ext cx="11792294" cy="140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52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HIRING RISK &amp; EARLY ATTRITION PREDICTION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209794"/>
            <a:ext cx="9626922" cy="713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3"/>
              </a:lnSpc>
            </a:pPr>
            <a:r>
              <a:rPr lang="en-US" sz="524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IT22248796 - FONSEKA W.G.K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88178" y="9881168"/>
            <a:ext cx="6129426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| Gehan Fonseka | R26-IT-082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1" name="Freeform 11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7323387"/>
            <a:ext cx="9626922" cy="4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2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SPECIALIZATION : INFORMATION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71756" y="9959047"/>
            <a:ext cx="1647111" cy="32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05/12/2026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065028" y="-446789"/>
            <a:ext cx="2950978" cy="2950978"/>
          </a:xfrm>
          <a:custGeom>
            <a:avLst/>
            <a:gdLst/>
            <a:ahLst/>
            <a:cxnLst/>
            <a:rect l="l" t="t" r="r" b="b"/>
            <a:pathLst>
              <a:path w="2950978" h="2950978">
                <a:moveTo>
                  <a:pt x="0" y="0"/>
                </a:moveTo>
                <a:lnTo>
                  <a:pt x="2950978" y="0"/>
                </a:lnTo>
                <a:lnTo>
                  <a:pt x="2950978" y="2950978"/>
                </a:lnTo>
                <a:lnTo>
                  <a:pt x="0" y="2950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410461" y="5469127"/>
            <a:ext cx="12833750" cy="0"/>
          </a:xfrm>
          <a:prstGeom prst="line">
            <a:avLst/>
          </a:prstGeom>
          <a:ln w="19050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6368" y="1224788"/>
            <a:ext cx="17431651" cy="51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9"/>
              </a:lnSpc>
            </a:pPr>
            <a:r>
              <a:rPr lang="en-US" sz="37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HOW THE SOLUTION WILL ADDRESS THE SUB-PROBLEM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621948" y="7602328"/>
            <a:ext cx="5432924" cy="54329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974490" y="175894"/>
            <a:ext cx="7400146" cy="36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HIRING RISK &amp; EARLY ATTRITION PREDICTION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5610" y="2419565"/>
            <a:ext cx="5158449" cy="45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  <a:spcBef>
                <a:spcPct val="0"/>
              </a:spcBef>
            </a:pPr>
            <a:r>
              <a:rPr lang="en-US" sz="3211" b="1">
                <a:solidFill>
                  <a:srgbClr val="841818"/>
                </a:solidFill>
                <a:latin typeface="Poppins Bold"/>
                <a:ea typeface="Poppins Bold"/>
                <a:cs typeface="Poppins Bold"/>
                <a:sym typeface="Poppins Bold"/>
              </a:rPr>
              <a:t>Sub-Problem Addressed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49471" y="2419565"/>
            <a:ext cx="3794257" cy="45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  <a:spcBef>
                <a:spcPct val="0"/>
              </a:spcBef>
            </a:pPr>
            <a:r>
              <a:rPr lang="en-US" sz="3211" b="1">
                <a:solidFill>
                  <a:srgbClr val="841818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428024" y="2089051"/>
            <a:ext cx="17551472" cy="3648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V="1">
            <a:off x="8794446" y="2390990"/>
            <a:ext cx="0" cy="6402796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46368" y="3104621"/>
            <a:ext cx="8246540" cy="449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Organizations cannot identify high-risk hires early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ATS cannot analyze employee retention patterns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Poor role alignment leads to early resignation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Recruiters lack hiring risk insights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risk evaluation is difficult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7541" y="3104621"/>
            <a:ext cx="9390459" cy="449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model predicts early attrition risk before hiring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analyzes career history and job-switching behavior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Evaluates skill-role and expectation-role mismatch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Generates attrition risk scores and retention indicators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skill proficiency levels and candidate dashboards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88178" y="9881168"/>
            <a:ext cx="6172771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| Gehan Fonseka | R26-IT-082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5" name="Freeform 1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371756" y="9959047"/>
            <a:ext cx="1647111" cy="32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05/12/2026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475399" y="3589462"/>
            <a:ext cx="4336429" cy="4336429"/>
          </a:xfrm>
          <a:custGeom>
            <a:avLst/>
            <a:gdLst/>
            <a:ahLst/>
            <a:cxnLst/>
            <a:rect l="l" t="t" r="r" b="b"/>
            <a:pathLst>
              <a:path w="4336429" h="4336429">
                <a:moveTo>
                  <a:pt x="0" y="0"/>
                </a:moveTo>
                <a:lnTo>
                  <a:pt x="4336430" y="0"/>
                </a:lnTo>
                <a:lnTo>
                  <a:pt x="4336430" y="4336430"/>
                </a:lnTo>
                <a:lnTo>
                  <a:pt x="0" y="4336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818419" y="921539"/>
            <a:ext cx="881763" cy="881763"/>
          </a:xfrm>
          <a:custGeom>
            <a:avLst/>
            <a:gdLst/>
            <a:ahLst/>
            <a:cxnLst/>
            <a:rect l="l" t="t" r="r" b="b"/>
            <a:pathLst>
              <a:path w="881763" h="881763">
                <a:moveTo>
                  <a:pt x="0" y="0"/>
                </a:moveTo>
                <a:lnTo>
                  <a:pt x="881762" y="0"/>
                </a:lnTo>
                <a:lnTo>
                  <a:pt x="881762" y="881762"/>
                </a:lnTo>
                <a:lnTo>
                  <a:pt x="0" y="8817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175" y="1095375"/>
            <a:ext cx="17431651" cy="48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USER REQUIREMENTS ADDRESSED BY THE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20906" y="6335486"/>
            <a:ext cx="4860926" cy="354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AI-based attrition prediction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Career pattern analysis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 mismatch detection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score generation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Data-driven hiring insights</a:t>
            </a:r>
          </a:p>
          <a:p>
            <a:pPr algn="l">
              <a:lnSpc>
                <a:spcPts val="4799"/>
              </a:lnSpc>
            </a:pPr>
            <a:endParaRPr lang="en-US" sz="221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126660" y="-635059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6523439" y="8577346"/>
            <a:ext cx="9878059" cy="6756604"/>
            <a:chOff x="0" y="0"/>
            <a:chExt cx="1188302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8302" cy="812800"/>
            </a:xfrm>
            <a:custGeom>
              <a:avLst/>
              <a:gdLst/>
              <a:ahLst/>
              <a:cxnLst/>
              <a:rect l="l" t="t" r="r" b="b"/>
              <a:pathLst>
                <a:path w="1188302" h="812800">
                  <a:moveTo>
                    <a:pt x="594151" y="0"/>
                  </a:moveTo>
                  <a:cubicBezTo>
                    <a:pt x="266010" y="0"/>
                    <a:pt x="0" y="181951"/>
                    <a:pt x="0" y="406400"/>
                  </a:cubicBezTo>
                  <a:cubicBezTo>
                    <a:pt x="0" y="630849"/>
                    <a:pt x="266010" y="812800"/>
                    <a:pt x="594151" y="812800"/>
                  </a:cubicBezTo>
                  <a:cubicBezTo>
                    <a:pt x="922292" y="812800"/>
                    <a:pt x="1188302" y="630849"/>
                    <a:pt x="1188302" y="406400"/>
                  </a:cubicBezTo>
                  <a:cubicBezTo>
                    <a:pt x="1188302" y="181951"/>
                    <a:pt x="922292" y="0"/>
                    <a:pt x="594151" y="0"/>
                  </a:cubicBezTo>
                  <a:close/>
                </a:path>
              </a:pathLst>
            </a:custGeom>
            <a:solidFill>
              <a:srgbClr val="841818"/>
            </a:solidFill>
            <a:ln w="152400" cap="sq">
              <a:solidFill>
                <a:srgbClr val="F7F7F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9591343" y="5719903"/>
            <a:ext cx="0" cy="3689393"/>
          </a:xfrm>
          <a:prstGeom prst="line">
            <a:avLst/>
          </a:prstGeom>
          <a:ln w="19050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0" name="Freeform 10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1" name="Object 11"/>
          <p:cNvGraphicFramePr/>
          <p:nvPr/>
        </p:nvGraphicFramePr>
        <p:xfrm>
          <a:off x="1627635" y="1909903"/>
          <a:ext cx="16425652" cy="4040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697700" imgH="7315200" progId="Excel.Sheet.12">
                  <p:embed/>
                </p:oleObj>
              </mc:Choice>
              <mc:Fallback>
                <p:oleObj name="Worksheet" r:id="rId4" imgW="19697700" imgH="7315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7635" y="1909903"/>
                        <a:ext cx="16425652" cy="40402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4974490" y="175894"/>
            <a:ext cx="7400146" cy="36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HIRING RISK &amp; EARLY ATTRITION PREDICTION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296" y="5767528"/>
            <a:ext cx="8246389" cy="48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DESIGN EXCELLENCE / CONTRIBUTION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84304" y="5767528"/>
            <a:ext cx="7375522" cy="48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USER FEEDBACK ON PROTOTYPE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86594" y="6300195"/>
            <a:ext cx="5953407" cy="36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 risk identification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Useful recruitment insights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 attrition risk scores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Helpful for hiring decisions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Suggested dashboard improvements</a:t>
            </a:r>
          </a:p>
          <a:p>
            <a:pPr algn="l">
              <a:lnSpc>
                <a:spcPts val="4843"/>
              </a:lnSpc>
            </a:pPr>
            <a:endParaRPr lang="en-US" sz="221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371756" y="9959047"/>
            <a:ext cx="1647111" cy="32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05/12/2026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8178" y="9881168"/>
            <a:ext cx="6172771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IT22248794 | Gehan Fonseka | R26-IT-082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20365" y="4681911"/>
            <a:ext cx="2950978" cy="2950978"/>
          </a:xfrm>
          <a:custGeom>
            <a:avLst/>
            <a:gdLst/>
            <a:ahLst/>
            <a:cxnLst/>
            <a:rect l="l" t="t" r="r" b="b"/>
            <a:pathLst>
              <a:path w="2950978" h="2950978">
                <a:moveTo>
                  <a:pt x="0" y="0"/>
                </a:moveTo>
                <a:lnTo>
                  <a:pt x="2950978" y="0"/>
                </a:lnTo>
                <a:lnTo>
                  <a:pt x="2950978" y="2950978"/>
                </a:lnTo>
                <a:lnTo>
                  <a:pt x="0" y="2950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552486" y="3547906"/>
            <a:ext cx="6544983" cy="65449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  <a:ln w="152400" cap="sq">
              <a:solidFill>
                <a:srgbClr val="F7F7F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60728" y="306981"/>
            <a:ext cx="3223697" cy="3240925"/>
            <a:chOff x="0" y="0"/>
            <a:chExt cx="4598226" cy="4622800"/>
          </a:xfrm>
        </p:grpSpPr>
        <p:sp>
          <p:nvSpPr>
            <p:cNvPr id="6" name="Freeform 6"/>
            <p:cNvSpPr/>
            <p:nvPr/>
          </p:nvSpPr>
          <p:spPr>
            <a:xfrm>
              <a:off x="25400" y="25400"/>
              <a:ext cx="4547362" cy="4572000"/>
            </a:xfrm>
            <a:custGeom>
              <a:avLst/>
              <a:gdLst/>
              <a:ahLst/>
              <a:cxnLst/>
              <a:rect l="l" t="t" r="r" b="b"/>
              <a:pathLst>
                <a:path w="4547362" h="4572000">
                  <a:moveTo>
                    <a:pt x="0" y="0"/>
                  </a:moveTo>
                  <a:lnTo>
                    <a:pt x="4547362" y="0"/>
                  </a:lnTo>
                  <a:lnTo>
                    <a:pt x="4547362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3"/>
              <a:stretch>
                <a:fillRect t="-8480" b="-334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4598162" cy="4622800"/>
            </a:xfrm>
            <a:custGeom>
              <a:avLst/>
              <a:gdLst/>
              <a:ahLst/>
              <a:cxnLst/>
              <a:rect l="l" t="t" r="r" b="b"/>
              <a:pathLst>
                <a:path w="4598162" h="4622800">
                  <a:moveTo>
                    <a:pt x="25400" y="0"/>
                  </a:moveTo>
                  <a:lnTo>
                    <a:pt x="4572762" y="0"/>
                  </a:lnTo>
                  <a:cubicBezTo>
                    <a:pt x="4586732" y="0"/>
                    <a:pt x="4598162" y="11430"/>
                    <a:pt x="4598162" y="25400"/>
                  </a:cubicBezTo>
                  <a:lnTo>
                    <a:pt x="4598162" y="4597400"/>
                  </a:lnTo>
                  <a:cubicBezTo>
                    <a:pt x="4598162" y="4611370"/>
                    <a:pt x="4586732" y="4622800"/>
                    <a:pt x="4572762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4572762" y="4572000"/>
                  </a:lnTo>
                  <a:lnTo>
                    <a:pt x="4572762" y="4597400"/>
                  </a:lnTo>
                  <a:lnTo>
                    <a:pt x="4547362" y="4597400"/>
                  </a:lnTo>
                  <a:lnTo>
                    <a:pt x="4547362" y="25400"/>
                  </a:lnTo>
                  <a:lnTo>
                    <a:pt x="4572762" y="25400"/>
                  </a:lnTo>
                  <a:lnTo>
                    <a:pt x="457276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747134"/>
            <a:ext cx="11792294" cy="140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52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INTELLIGENT RESUME PARSING &amp; SKILL PROFICIENCY ANALYSIS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209794"/>
            <a:ext cx="9139565" cy="713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3"/>
              </a:lnSpc>
            </a:pPr>
            <a:r>
              <a:rPr lang="en-US" sz="524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IT22226914 - JAYANTHA C 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8178" y="9881168"/>
            <a:ext cx="7148030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 |  Chamudi Jayantha  |  R26-IT-082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2" name="Freeform 12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7323387"/>
            <a:ext cx="9626922" cy="4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2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SPECIALIZATION : INFORMATION TECHNOLOGY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50623" y="9939997"/>
            <a:ext cx="1689378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  <p:sp>
        <p:nvSpPr>
          <p:cNvPr id="15" name="Freeform 15"/>
          <p:cNvSpPr/>
          <p:nvPr/>
        </p:nvSpPr>
        <p:spPr>
          <a:xfrm>
            <a:off x="-1065028" y="-446789"/>
            <a:ext cx="2950978" cy="2950978"/>
          </a:xfrm>
          <a:custGeom>
            <a:avLst/>
            <a:gdLst/>
            <a:ahLst/>
            <a:cxnLst/>
            <a:rect l="l" t="t" r="r" b="b"/>
            <a:pathLst>
              <a:path w="2950978" h="2950978">
                <a:moveTo>
                  <a:pt x="0" y="0"/>
                </a:moveTo>
                <a:lnTo>
                  <a:pt x="2950978" y="0"/>
                </a:lnTo>
                <a:lnTo>
                  <a:pt x="2950978" y="2950978"/>
                </a:lnTo>
                <a:lnTo>
                  <a:pt x="0" y="2950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410461" y="5469127"/>
            <a:ext cx="12833750" cy="0"/>
          </a:xfrm>
          <a:prstGeom prst="line">
            <a:avLst/>
          </a:prstGeom>
          <a:ln w="19050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6368" y="1224788"/>
            <a:ext cx="1743165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3800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HOW THE SOLUTION WILL ADDRESS THE SUB-PROBLEM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602898" y="7113659"/>
            <a:ext cx="5432924" cy="54329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126660" y="-635059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849324" y="114968"/>
            <a:ext cx="10589050" cy="36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INTELLIGENT RESUME PARSING &amp; SKILL PROFICIENCY ANALYSIS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5610" y="2544638"/>
            <a:ext cx="5158449" cy="45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  <a:spcBef>
                <a:spcPct val="0"/>
              </a:spcBef>
            </a:pPr>
            <a:r>
              <a:rPr lang="en-US" sz="3211" b="1">
                <a:solidFill>
                  <a:srgbClr val="841818"/>
                </a:solidFill>
                <a:latin typeface="Poppins Bold"/>
                <a:ea typeface="Poppins Bold"/>
                <a:cs typeface="Poppins Bold"/>
                <a:sym typeface="Poppins Bold"/>
              </a:rPr>
              <a:t>Sub-Problem Addressed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49471" y="2544638"/>
            <a:ext cx="3794257" cy="45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  <a:spcBef>
                <a:spcPct val="0"/>
              </a:spcBef>
            </a:pPr>
            <a:r>
              <a:rPr lang="en-US" sz="3211" b="1">
                <a:solidFill>
                  <a:srgbClr val="841818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28024" y="2089051"/>
            <a:ext cx="17551472" cy="3648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8794446" y="2516063"/>
            <a:ext cx="0" cy="6402796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18499" y="3229695"/>
            <a:ext cx="7953110" cy="373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ATS only checks keywords in resumes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Cannot understand actual skill proficiency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Difficulty identifying relevant candidate skills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resume screening takes time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Recruiters lack clear candidate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97541" y="3229695"/>
            <a:ext cx="9304734" cy="373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NLP-based intelligent resume parsing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experience duration and project context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 skills, education, and experience using NER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Automatically generate structured candidate profiles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skill proficiency levels and candidate dashboards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88178" y="9881168"/>
            <a:ext cx="7148030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 |  Chamudi Jayantha  |  R26-IT-082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6" name="Freeform 16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350696" y="9939997"/>
            <a:ext cx="1689232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517946" y="1886374"/>
          <a:ext cx="37719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21200" imgH="3263900" progId="Excel.Sheet.12">
                  <p:embed/>
                </p:oleObj>
              </mc:Choice>
              <mc:Fallback>
                <p:oleObj name="Worksheet" r:id="rId2" imgW="4521200" imgH="3263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7946" y="1886374"/>
                        <a:ext cx="377190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28175" y="1105959"/>
            <a:ext cx="17431651" cy="48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3500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USER REQUIREMENTS ADDRESSED BY THE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2082" y="5537327"/>
            <a:ext cx="9287470" cy="48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DESIGN EXCELLENCE / CONTRIBUTION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9789" y="6059579"/>
            <a:ext cx="10822157" cy="354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NLP-based Resume Parsing: Extracts skills and experience automatically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Context-Aware Analysis: Evaluates real skill proficiency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NER-based Skill Detection: Identifies candidate information accurately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Structured Skill Profiles: Generates recruiter-friendly outputs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Beyond Keyword Matching: Understands skill depth and relevance</a:t>
            </a:r>
          </a:p>
          <a:p>
            <a:pPr algn="l">
              <a:lnSpc>
                <a:spcPts val="4799"/>
              </a:lnSpc>
            </a:pPr>
            <a:endParaRPr lang="en-US" sz="221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118495" y="5308727"/>
            <a:ext cx="5861001" cy="9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USER FEEDBACK ON </a:t>
            </a:r>
          </a:p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PROTOTYPE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22138" y="6245552"/>
            <a:ext cx="4917863" cy="238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User-friendly interface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 resume processing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 skill proficiency insights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Helpful candidate profiles</a:t>
            </a:r>
          </a:p>
        </p:txBody>
      </p:sp>
      <p:sp>
        <p:nvSpPr>
          <p:cNvPr id="8" name="Freeform 8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126660" y="-635059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-6523439" y="8577346"/>
            <a:ext cx="9878059" cy="6756604"/>
            <a:chOff x="0" y="0"/>
            <a:chExt cx="1188302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88302" cy="812800"/>
            </a:xfrm>
            <a:custGeom>
              <a:avLst/>
              <a:gdLst/>
              <a:ahLst/>
              <a:cxnLst/>
              <a:rect l="l" t="t" r="r" b="b"/>
              <a:pathLst>
                <a:path w="1188302" h="812800">
                  <a:moveTo>
                    <a:pt x="594151" y="0"/>
                  </a:moveTo>
                  <a:cubicBezTo>
                    <a:pt x="266010" y="0"/>
                    <a:pt x="0" y="181951"/>
                    <a:pt x="0" y="406400"/>
                  </a:cubicBezTo>
                  <a:cubicBezTo>
                    <a:pt x="0" y="630849"/>
                    <a:pt x="266010" y="812800"/>
                    <a:pt x="594151" y="812800"/>
                  </a:cubicBezTo>
                  <a:cubicBezTo>
                    <a:pt x="922292" y="812800"/>
                    <a:pt x="1188302" y="630849"/>
                    <a:pt x="1188302" y="406400"/>
                  </a:cubicBezTo>
                  <a:cubicBezTo>
                    <a:pt x="1188302" y="181951"/>
                    <a:pt x="922292" y="0"/>
                    <a:pt x="594151" y="0"/>
                  </a:cubicBezTo>
                  <a:close/>
                </a:path>
              </a:pathLst>
            </a:custGeom>
            <a:solidFill>
              <a:srgbClr val="841818"/>
            </a:solidFill>
            <a:ln w="152400" cap="sq">
              <a:solidFill>
                <a:srgbClr val="F7F7F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588178" y="9881168"/>
            <a:ext cx="7148030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IT22226914  |  Chamudi Jayantha  |  R26-IT-082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4" name="Freeform 14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350623" y="9939997"/>
            <a:ext cx="1689378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49324" y="114968"/>
            <a:ext cx="10589050" cy="36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INTELLIGENT RESUME PARSING &amp; SKILL PROFICIENCY ANALYSIS 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1221471" y="5489702"/>
            <a:ext cx="0" cy="3689393"/>
          </a:xfrm>
          <a:prstGeom prst="line">
            <a:avLst/>
          </a:prstGeom>
          <a:ln w="19050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20365" y="4681911"/>
            <a:ext cx="2950978" cy="2950978"/>
          </a:xfrm>
          <a:custGeom>
            <a:avLst/>
            <a:gdLst/>
            <a:ahLst/>
            <a:cxnLst/>
            <a:rect l="l" t="t" r="r" b="b"/>
            <a:pathLst>
              <a:path w="2950978" h="2950978">
                <a:moveTo>
                  <a:pt x="0" y="0"/>
                </a:moveTo>
                <a:lnTo>
                  <a:pt x="2950978" y="0"/>
                </a:lnTo>
                <a:lnTo>
                  <a:pt x="2950978" y="2950978"/>
                </a:lnTo>
                <a:lnTo>
                  <a:pt x="0" y="2950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552486" y="3547906"/>
            <a:ext cx="6544983" cy="65449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  <a:ln w="152400" cap="sq">
              <a:solidFill>
                <a:srgbClr val="F7F7F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60728" y="306981"/>
            <a:ext cx="3223697" cy="3240925"/>
            <a:chOff x="0" y="0"/>
            <a:chExt cx="4598226" cy="4622800"/>
          </a:xfrm>
        </p:grpSpPr>
        <p:sp>
          <p:nvSpPr>
            <p:cNvPr id="6" name="Freeform 6"/>
            <p:cNvSpPr/>
            <p:nvPr/>
          </p:nvSpPr>
          <p:spPr>
            <a:xfrm>
              <a:off x="25400" y="25400"/>
              <a:ext cx="4547362" cy="4572000"/>
            </a:xfrm>
            <a:custGeom>
              <a:avLst/>
              <a:gdLst/>
              <a:ahLst/>
              <a:cxnLst/>
              <a:rect l="l" t="t" r="r" b="b"/>
              <a:pathLst>
                <a:path w="4547362" h="4572000">
                  <a:moveTo>
                    <a:pt x="0" y="0"/>
                  </a:moveTo>
                  <a:lnTo>
                    <a:pt x="4547362" y="0"/>
                  </a:lnTo>
                  <a:lnTo>
                    <a:pt x="4547362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3"/>
              <a:stretch>
                <a:fillRect t="-20225" b="-7672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4598162" cy="4622800"/>
            </a:xfrm>
            <a:custGeom>
              <a:avLst/>
              <a:gdLst/>
              <a:ahLst/>
              <a:cxnLst/>
              <a:rect l="l" t="t" r="r" b="b"/>
              <a:pathLst>
                <a:path w="4598162" h="4622800">
                  <a:moveTo>
                    <a:pt x="25400" y="0"/>
                  </a:moveTo>
                  <a:lnTo>
                    <a:pt x="4572762" y="0"/>
                  </a:lnTo>
                  <a:cubicBezTo>
                    <a:pt x="4586732" y="0"/>
                    <a:pt x="4598162" y="11430"/>
                    <a:pt x="4598162" y="25400"/>
                  </a:cubicBezTo>
                  <a:lnTo>
                    <a:pt x="4598162" y="4597400"/>
                  </a:lnTo>
                  <a:cubicBezTo>
                    <a:pt x="4598162" y="4611370"/>
                    <a:pt x="4586732" y="4622800"/>
                    <a:pt x="4572762" y="4622800"/>
                  </a:cubicBezTo>
                  <a:lnTo>
                    <a:pt x="25400" y="4622800"/>
                  </a:lnTo>
                  <a:cubicBezTo>
                    <a:pt x="11430" y="4622800"/>
                    <a:pt x="0" y="4611370"/>
                    <a:pt x="0" y="45974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597400"/>
                  </a:lnTo>
                  <a:lnTo>
                    <a:pt x="25400" y="4597400"/>
                  </a:lnTo>
                  <a:lnTo>
                    <a:pt x="25400" y="4572000"/>
                  </a:lnTo>
                  <a:lnTo>
                    <a:pt x="4572762" y="4572000"/>
                  </a:lnTo>
                  <a:lnTo>
                    <a:pt x="4572762" y="4597400"/>
                  </a:lnTo>
                  <a:lnTo>
                    <a:pt x="4547362" y="4597400"/>
                  </a:lnTo>
                  <a:lnTo>
                    <a:pt x="4547362" y="25400"/>
                  </a:lnTo>
                  <a:lnTo>
                    <a:pt x="4572762" y="25400"/>
                  </a:lnTo>
                  <a:lnTo>
                    <a:pt x="457276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747134"/>
            <a:ext cx="11792294" cy="140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52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JOB–CANDIDATE MATCHING &amp; EXPLAINABLE AI ENGINE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209794"/>
            <a:ext cx="9139565" cy="713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3"/>
              </a:lnSpc>
            </a:pPr>
            <a:r>
              <a:rPr lang="en-US" sz="524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IT22195616 - DESHAN MAK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8178" y="9881168"/>
            <a:ext cx="5730235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| Deshan M A K | R26-IT-082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2" name="Freeform 12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7323387"/>
            <a:ext cx="9626922" cy="4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2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SPECIALIZATION : INFORMATION TECHNOLOGY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50623" y="9939997"/>
            <a:ext cx="1689378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  <p:sp>
        <p:nvSpPr>
          <p:cNvPr id="15" name="Freeform 15"/>
          <p:cNvSpPr/>
          <p:nvPr/>
        </p:nvSpPr>
        <p:spPr>
          <a:xfrm>
            <a:off x="-1065028" y="-446789"/>
            <a:ext cx="2950978" cy="2950978"/>
          </a:xfrm>
          <a:custGeom>
            <a:avLst/>
            <a:gdLst/>
            <a:ahLst/>
            <a:cxnLst/>
            <a:rect l="l" t="t" r="r" b="b"/>
            <a:pathLst>
              <a:path w="2950978" h="2950978">
                <a:moveTo>
                  <a:pt x="0" y="0"/>
                </a:moveTo>
                <a:lnTo>
                  <a:pt x="2950978" y="0"/>
                </a:lnTo>
                <a:lnTo>
                  <a:pt x="2950978" y="2950978"/>
                </a:lnTo>
                <a:lnTo>
                  <a:pt x="0" y="2950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410461" y="5469127"/>
            <a:ext cx="12833750" cy="0"/>
          </a:xfrm>
          <a:prstGeom prst="line">
            <a:avLst/>
          </a:prstGeom>
          <a:ln w="19050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6368" y="1224788"/>
            <a:ext cx="1743165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3800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HOW THE SOLUTION WILL ADDRESS THE SUB-PROBLEM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602898" y="7113659"/>
            <a:ext cx="5432924" cy="54329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126660" y="-635059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849324" y="114968"/>
            <a:ext cx="10876484" cy="36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JOB–CANDIDATE MATCHING &amp; EXPLAINABLE AI ENGINE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5610" y="2544638"/>
            <a:ext cx="5158449" cy="45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  <a:spcBef>
                <a:spcPct val="0"/>
              </a:spcBef>
            </a:pPr>
            <a:r>
              <a:rPr lang="en-US" sz="3211" b="1">
                <a:solidFill>
                  <a:srgbClr val="841818"/>
                </a:solidFill>
                <a:latin typeface="Poppins Bold"/>
                <a:ea typeface="Poppins Bold"/>
                <a:cs typeface="Poppins Bold"/>
                <a:sym typeface="Poppins Bold"/>
              </a:rPr>
              <a:t>Sub-Problem Addressed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49471" y="2544638"/>
            <a:ext cx="3794257" cy="45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  <a:spcBef>
                <a:spcPct val="0"/>
              </a:spcBef>
            </a:pPr>
            <a:r>
              <a:rPr lang="en-US" sz="3211" b="1">
                <a:solidFill>
                  <a:srgbClr val="841818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28024" y="2089051"/>
            <a:ext cx="17551472" cy="3648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8794446" y="2516063"/>
            <a:ext cx="0" cy="6402796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18499" y="3229695"/>
            <a:ext cx="8173832" cy="373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ATS systems fail to understand candidate context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Hiring decisions are difficult to justify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Recruiters spend too much time filtering resumes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Candidate ranking lacks fairness and accuracy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Candidate evaluation is often inconsistent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97541" y="3127762"/>
            <a:ext cx="9390459" cy="373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semantic AI matching to understand skill meaning and relevance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Generate explainable recommendation reports using XAI recommendations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Perform standardized AI-driven profile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88178" y="9881168"/>
            <a:ext cx="7148030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| Deshan M A K | R26-IT-082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6" name="Freeform 16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350696" y="9939997"/>
            <a:ext cx="1689232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517946" y="1886374"/>
          <a:ext cx="37719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21200" imgH="3263900" progId="Excel.Sheet.12">
                  <p:embed/>
                </p:oleObj>
              </mc:Choice>
              <mc:Fallback>
                <p:oleObj name="Worksheet" r:id="rId2" imgW="4521200" imgH="3263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7946" y="1886374"/>
                        <a:ext cx="377190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28175" y="1105959"/>
            <a:ext cx="17431651" cy="48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3500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USER REQUIREMENTS ADDRESSED BY THE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2082" y="5537327"/>
            <a:ext cx="9287470" cy="48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DESIGN EXCELLENCE / CONTRIBUTION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7449" y="5336412"/>
            <a:ext cx="5861001" cy="94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USER FEEDBACK ON </a:t>
            </a:r>
          </a:p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PROTOTYPE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30601" y="6180589"/>
            <a:ext cx="6415546" cy="360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Simple and easy recruitment interface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Easy-to-understand AI explanations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 AI recommendation explanations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confidence in AI recommendations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Improved trust in AI decisions</a:t>
            </a:r>
          </a:p>
          <a:p>
            <a:pPr algn="l">
              <a:lnSpc>
                <a:spcPts val="4843"/>
              </a:lnSpc>
            </a:pPr>
            <a:endParaRPr lang="en-US" sz="221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126660" y="-635059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6523439" y="8577346"/>
            <a:ext cx="9878059" cy="6756604"/>
            <a:chOff x="0" y="0"/>
            <a:chExt cx="1188302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8302" cy="812800"/>
            </a:xfrm>
            <a:custGeom>
              <a:avLst/>
              <a:gdLst/>
              <a:ahLst/>
              <a:cxnLst/>
              <a:rect l="l" t="t" r="r" b="b"/>
              <a:pathLst>
                <a:path w="1188302" h="812800">
                  <a:moveTo>
                    <a:pt x="594151" y="0"/>
                  </a:moveTo>
                  <a:cubicBezTo>
                    <a:pt x="266010" y="0"/>
                    <a:pt x="0" y="181951"/>
                    <a:pt x="0" y="406400"/>
                  </a:cubicBezTo>
                  <a:cubicBezTo>
                    <a:pt x="0" y="630849"/>
                    <a:pt x="266010" y="812800"/>
                    <a:pt x="594151" y="812800"/>
                  </a:cubicBezTo>
                  <a:cubicBezTo>
                    <a:pt x="922292" y="812800"/>
                    <a:pt x="1188302" y="630849"/>
                    <a:pt x="1188302" y="406400"/>
                  </a:cubicBezTo>
                  <a:cubicBezTo>
                    <a:pt x="1188302" y="181951"/>
                    <a:pt x="922292" y="0"/>
                    <a:pt x="594151" y="0"/>
                  </a:cubicBezTo>
                  <a:close/>
                </a:path>
              </a:pathLst>
            </a:custGeom>
            <a:solidFill>
              <a:srgbClr val="841818"/>
            </a:solidFill>
            <a:ln w="152400" cap="sq">
              <a:solidFill>
                <a:srgbClr val="F7F7F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588178" y="9881168"/>
            <a:ext cx="7148030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IT22195616 | Deshan M A K | R26-IT-082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3" name="Freeform 13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350623" y="9939997"/>
            <a:ext cx="1689378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49324" y="114968"/>
            <a:ext cx="10589050" cy="36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JOB–CANDIDATE MATCHING &amp; EXPLAINABLE AI ENGINE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10374297" y="5480331"/>
            <a:ext cx="0" cy="3689393"/>
          </a:xfrm>
          <a:prstGeom prst="line">
            <a:avLst/>
          </a:prstGeom>
          <a:ln w="19050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389789" y="6059579"/>
            <a:ext cx="10822157" cy="354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Semantic AI-based recruitment matching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Transparent and interpretable AI outputs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Context-aware skill and experience analysis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candidate recommendation system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Human-readable matching insights</a:t>
            </a:r>
          </a:p>
          <a:p>
            <a:pPr algn="l">
              <a:lnSpc>
                <a:spcPts val="4799"/>
              </a:lnSpc>
            </a:pPr>
            <a:endParaRPr lang="en-US" sz="221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910" y="8355754"/>
            <a:ext cx="364597" cy="3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21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id="3" name="Freeform 3"/>
          <p:cNvSpPr/>
          <p:nvPr/>
        </p:nvSpPr>
        <p:spPr>
          <a:xfrm>
            <a:off x="10598884" y="7464054"/>
            <a:ext cx="982899" cy="982899"/>
          </a:xfrm>
          <a:custGeom>
            <a:avLst/>
            <a:gdLst/>
            <a:ahLst/>
            <a:cxnLst/>
            <a:rect l="l" t="t" r="r" b="b"/>
            <a:pathLst>
              <a:path w="982899" h="982899">
                <a:moveTo>
                  <a:pt x="0" y="0"/>
                </a:moveTo>
                <a:lnTo>
                  <a:pt x="982899" y="0"/>
                </a:lnTo>
                <a:lnTo>
                  <a:pt x="982899" y="982900"/>
                </a:lnTo>
                <a:lnTo>
                  <a:pt x="0" y="982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67454" y="-510516"/>
            <a:ext cx="1755830" cy="1755830"/>
          </a:xfrm>
          <a:custGeom>
            <a:avLst/>
            <a:gdLst/>
            <a:ahLst/>
            <a:cxnLst/>
            <a:rect l="l" t="t" r="r" b="b"/>
            <a:pathLst>
              <a:path w="1755830" h="1755830">
                <a:moveTo>
                  <a:pt x="0" y="0"/>
                </a:moveTo>
                <a:lnTo>
                  <a:pt x="1755830" y="0"/>
                </a:lnTo>
                <a:lnTo>
                  <a:pt x="1755830" y="1755830"/>
                </a:lnTo>
                <a:lnTo>
                  <a:pt x="0" y="17558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979545" y="367399"/>
            <a:ext cx="2959732" cy="2918498"/>
          </a:xfrm>
          <a:custGeom>
            <a:avLst/>
            <a:gdLst/>
            <a:ahLst/>
            <a:cxnLst/>
            <a:rect l="l" t="t" r="r" b="b"/>
            <a:pathLst>
              <a:path w="2959732" h="2918498">
                <a:moveTo>
                  <a:pt x="0" y="0"/>
                </a:moveTo>
                <a:lnTo>
                  <a:pt x="2959732" y="0"/>
                </a:lnTo>
                <a:lnTo>
                  <a:pt x="2959732" y="2918498"/>
                </a:lnTo>
                <a:lnTo>
                  <a:pt x="0" y="2918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05" t="-5750" r="-747" b="-7369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33395" y="6025665"/>
            <a:ext cx="13590825" cy="69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5"/>
              </a:lnSpc>
            </a:pPr>
            <a:r>
              <a:rPr lang="en-US" sz="5053" b="1">
                <a:solidFill>
                  <a:srgbClr val="000000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IT22197832 - TENNAKOON T.M.S.S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79392" y="9881168"/>
            <a:ext cx="6657022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 |  Sajani Tennakoon  |  R26-IT-082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50623" y="9939997"/>
            <a:ext cx="1689378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0" name="Freeform 10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33395" y="7323387"/>
            <a:ext cx="9626922" cy="43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2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SPECIALIZATION : INFORMATION TECHNOLOGY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3395" y="3701080"/>
            <a:ext cx="1283375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9"/>
              </a:lnSpc>
            </a:pPr>
            <a:r>
              <a:rPr lang="en-US" sz="40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AI-BASED INTERVIEW EVALUATION, SOFT SKILL ANALYSIS &amp; CERTIFICATE VALIDATION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33395" y="5318771"/>
            <a:ext cx="12833750" cy="0"/>
          </a:xfrm>
          <a:prstGeom prst="line">
            <a:avLst/>
          </a:prstGeom>
          <a:ln w="19050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3820365" y="4681911"/>
            <a:ext cx="2950978" cy="2950978"/>
          </a:xfrm>
          <a:custGeom>
            <a:avLst/>
            <a:gdLst/>
            <a:ahLst/>
            <a:cxnLst/>
            <a:rect l="l" t="t" r="r" b="b"/>
            <a:pathLst>
              <a:path w="2950978" h="2950978">
                <a:moveTo>
                  <a:pt x="0" y="0"/>
                </a:moveTo>
                <a:lnTo>
                  <a:pt x="2950978" y="0"/>
                </a:lnTo>
                <a:lnTo>
                  <a:pt x="2950978" y="2950978"/>
                </a:lnTo>
                <a:lnTo>
                  <a:pt x="0" y="2950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4552486" y="3547906"/>
            <a:ext cx="6544983" cy="654498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  <a:ln w="152400" cap="sq">
              <a:solidFill>
                <a:srgbClr val="F7F7F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-1065028" y="-1089794"/>
            <a:ext cx="2950978" cy="2950978"/>
          </a:xfrm>
          <a:custGeom>
            <a:avLst/>
            <a:gdLst/>
            <a:ahLst/>
            <a:cxnLst/>
            <a:rect l="l" t="t" r="r" b="b"/>
            <a:pathLst>
              <a:path w="2950978" h="2950978">
                <a:moveTo>
                  <a:pt x="0" y="0"/>
                </a:moveTo>
                <a:lnTo>
                  <a:pt x="2950978" y="0"/>
                </a:lnTo>
                <a:lnTo>
                  <a:pt x="2950978" y="2950978"/>
                </a:lnTo>
                <a:lnTo>
                  <a:pt x="0" y="2950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6368" y="1224788"/>
            <a:ext cx="1743165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3800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HOW THE SOLUTION WILL ADDRESS THE SUB-PROBLEM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602898" y="7113659"/>
            <a:ext cx="5432924" cy="54329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126660" y="-635059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393166" y="114968"/>
            <a:ext cx="14646762" cy="36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AI-BASED INTERVIEW EVALUATION, SOFT SKILL ANALYSIS &amp; CERTIFICATE VALIDATION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5762" y="2544638"/>
            <a:ext cx="5158145" cy="45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  <a:spcBef>
                <a:spcPct val="0"/>
              </a:spcBef>
            </a:pPr>
            <a:r>
              <a:rPr lang="en-US" sz="3211" b="1">
                <a:solidFill>
                  <a:srgbClr val="841818"/>
                </a:solidFill>
                <a:latin typeface="Poppins Bold"/>
                <a:ea typeface="Poppins Bold"/>
                <a:cs typeface="Poppins Bold"/>
                <a:sym typeface="Poppins Bold"/>
              </a:rPr>
              <a:t>Sub-Problem Addressed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49577" y="2544638"/>
            <a:ext cx="3794046" cy="453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  <a:spcBef>
                <a:spcPct val="0"/>
              </a:spcBef>
            </a:pPr>
            <a:r>
              <a:rPr lang="en-US" sz="3211" b="1">
                <a:solidFill>
                  <a:srgbClr val="841818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28024" y="2089051"/>
            <a:ext cx="17551472" cy="3648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8794446" y="2516063"/>
            <a:ext cx="0" cy="6402796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18499" y="3229695"/>
            <a:ext cx="6536531" cy="373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Subjective interview evaluation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soft skill assessment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Lack of communication analysis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emotional intelligence evaluation</a:t>
            </a:r>
          </a:p>
          <a:p>
            <a:pPr marL="520649" lvl="1" indent="-260324" algn="just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Recruiters lack clear candidate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97541" y="3229695"/>
            <a:ext cx="9304973" cy="373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AI-based scoring using NLP + communication analysis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fluency, tone, sentiment, and behavior patterns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 filler words, pauses, response structure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Sentiment analysis (confidence, positivity, tone)</a:t>
            </a:r>
          </a:p>
          <a:p>
            <a:pPr marL="520649" lvl="1" indent="-260324" algn="l">
              <a:lnSpc>
                <a:spcPts val="6028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skill proficiency levels and candidate dashboards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5" name="Freeform 15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350696" y="9939997"/>
            <a:ext cx="1689232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79392" y="9881168"/>
            <a:ext cx="6657022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 |  Sajani Tennakoon  |  R26-IT-082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175" y="1095375"/>
            <a:ext cx="17431651" cy="48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USER REQUIREMENTS ADDRESSED BY THE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1296" y="6309720"/>
            <a:ext cx="8246389" cy="294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Integration of NLP and speech processing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Explainable AI scoring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automated evaluation</a:t>
            </a:r>
          </a:p>
          <a:p>
            <a:pPr marL="477470" lvl="1" indent="-238735" algn="l">
              <a:lnSpc>
                <a:spcPts val="4799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Score generation</a:t>
            </a:r>
          </a:p>
          <a:p>
            <a:pPr algn="l">
              <a:lnSpc>
                <a:spcPts val="4799"/>
              </a:lnSpc>
            </a:pPr>
            <a:endParaRPr lang="en-US" sz="221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2416126" y="272702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0" y="0"/>
                </a:lnTo>
                <a:lnTo>
                  <a:pt x="3705670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126660" y="-635059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6523439" y="8577346"/>
            <a:ext cx="9878059" cy="6756604"/>
            <a:chOff x="0" y="0"/>
            <a:chExt cx="1188302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8302" cy="812800"/>
            </a:xfrm>
            <a:custGeom>
              <a:avLst/>
              <a:gdLst/>
              <a:ahLst/>
              <a:cxnLst/>
              <a:rect l="l" t="t" r="r" b="b"/>
              <a:pathLst>
                <a:path w="1188302" h="812800">
                  <a:moveTo>
                    <a:pt x="594151" y="0"/>
                  </a:moveTo>
                  <a:cubicBezTo>
                    <a:pt x="266010" y="0"/>
                    <a:pt x="0" y="181951"/>
                    <a:pt x="0" y="406400"/>
                  </a:cubicBezTo>
                  <a:cubicBezTo>
                    <a:pt x="0" y="630849"/>
                    <a:pt x="266010" y="812800"/>
                    <a:pt x="594151" y="812800"/>
                  </a:cubicBezTo>
                  <a:cubicBezTo>
                    <a:pt x="922292" y="812800"/>
                    <a:pt x="1188302" y="630849"/>
                    <a:pt x="1188302" y="406400"/>
                  </a:cubicBezTo>
                  <a:cubicBezTo>
                    <a:pt x="1188302" y="181951"/>
                    <a:pt x="922292" y="0"/>
                    <a:pt x="594151" y="0"/>
                  </a:cubicBezTo>
                  <a:close/>
                </a:path>
              </a:pathLst>
            </a:custGeom>
            <a:solidFill>
              <a:srgbClr val="841818"/>
            </a:solidFill>
            <a:ln w="152400" cap="sq">
              <a:solidFill>
                <a:srgbClr val="F7F7F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9591343" y="5719903"/>
            <a:ext cx="0" cy="3689393"/>
          </a:xfrm>
          <a:prstGeom prst="line">
            <a:avLst/>
          </a:prstGeom>
          <a:ln w="19050" cap="rnd">
            <a:solidFill>
              <a:srgbClr val="84181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551537"/>
            <a:ext cx="3771900" cy="735463"/>
            <a:chOff x="0" y="0"/>
            <a:chExt cx="5029200" cy="980618"/>
          </a:xfrm>
        </p:grpSpPr>
        <p:sp>
          <p:nvSpPr>
            <p:cNvPr id="10" name="Freeform 10" descr="A picture containing photo, table, person, monitor  Description automatically generated"/>
            <p:cNvSpPr/>
            <p:nvPr/>
          </p:nvSpPr>
          <p:spPr>
            <a:xfrm>
              <a:off x="0" y="0"/>
              <a:ext cx="5029200" cy="980567"/>
            </a:xfrm>
            <a:custGeom>
              <a:avLst/>
              <a:gdLst/>
              <a:ahLst/>
              <a:cxnLst/>
              <a:rect l="l" t="t" r="r" b="b"/>
              <a:pathLst>
                <a:path w="5029200" h="980567">
                  <a:moveTo>
                    <a:pt x="0" y="0"/>
                  </a:moveTo>
                  <a:lnTo>
                    <a:pt x="5029200" y="0"/>
                  </a:lnTo>
                  <a:lnTo>
                    <a:pt x="5029200" y="980567"/>
                  </a:lnTo>
                  <a:lnTo>
                    <a:pt x="0" y="98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9488" r="-256844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1" name="Object 11"/>
          <p:cNvGraphicFramePr/>
          <p:nvPr/>
        </p:nvGraphicFramePr>
        <p:xfrm>
          <a:off x="1627635" y="1909903"/>
          <a:ext cx="16425652" cy="4040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697700" imgH="7315200" progId="Excel.Sheet.12">
                  <p:embed/>
                </p:oleObj>
              </mc:Choice>
              <mc:Fallback>
                <p:oleObj name="Worksheet" r:id="rId4" imgW="19697700" imgH="7315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7635" y="1909903"/>
                        <a:ext cx="16425652" cy="40402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851296" y="5767528"/>
            <a:ext cx="8246389" cy="48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DESIGN EXCELLENCE / CONTRIBUTION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84304" y="5767528"/>
            <a:ext cx="7375522" cy="48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495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USER FEEDBACK ON PROTOTYPE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84304" y="6300195"/>
            <a:ext cx="7375522" cy="299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 and understandable scoring reports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Useful recruitment insights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Helpful for hiring decisions</a:t>
            </a:r>
          </a:p>
          <a:p>
            <a:pPr marL="477470" lvl="1" indent="-238735" algn="l">
              <a:lnSpc>
                <a:spcPts val="4843"/>
              </a:lnSpc>
              <a:buFont typeface="Arial"/>
              <a:buChar char="•"/>
            </a:pPr>
            <a:r>
              <a:rPr lang="en-US" sz="22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Suggested dashboard improvements</a:t>
            </a:r>
          </a:p>
          <a:p>
            <a:pPr algn="l">
              <a:lnSpc>
                <a:spcPts val="4843"/>
              </a:lnSpc>
            </a:pPr>
            <a:endParaRPr lang="en-US" sz="221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350623" y="9939997"/>
            <a:ext cx="1689378" cy="34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05/12/2026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93166" y="114968"/>
            <a:ext cx="14646762" cy="36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AI-BASED INTERVIEW EVALUATION, SOFT SKILL ANALYSIS &amp; CERTIFICATE VALIDATION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79392" y="9881168"/>
            <a:ext cx="6657022" cy="38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29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IT22197832  |  Sajani Tennakoon  |  R26-IT-082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59556" y="2809443"/>
            <a:ext cx="15273568" cy="420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8667" lvl="1" indent="-294334" algn="l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AI-powered recruitment platform for companies and recruitment agencies.</a:t>
            </a:r>
          </a:p>
          <a:p>
            <a:pPr marL="588667" lvl="1" indent="-294334" algn="l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Integration with existing ATS and HR management systems.</a:t>
            </a:r>
          </a:p>
          <a:p>
            <a:pPr marL="588667" lvl="1" indent="-294334" algn="l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Subscription-based and enterprise licensing business model.</a:t>
            </a:r>
          </a:p>
          <a:p>
            <a:pPr marL="588667" lvl="1" indent="-294334" algn="l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Cloud-based scalable deployment with low operational cost.</a:t>
            </a:r>
          </a:p>
          <a:p>
            <a:pPr marL="588667" lvl="1" indent="-294334" algn="l">
              <a:lnSpc>
                <a:spcPts val="6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 AI model improvement using recruitment data and recruiter feedback.</a:t>
            </a:r>
          </a:p>
        </p:txBody>
      </p:sp>
      <p:sp>
        <p:nvSpPr>
          <p:cNvPr id="3" name="Freeform 3"/>
          <p:cNvSpPr/>
          <p:nvPr/>
        </p:nvSpPr>
        <p:spPr>
          <a:xfrm>
            <a:off x="12374124" y="48863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475211" y="1028700"/>
            <a:ext cx="2334902" cy="2334902"/>
          </a:xfrm>
          <a:custGeom>
            <a:avLst/>
            <a:gdLst/>
            <a:ahLst/>
            <a:cxnLst/>
            <a:rect l="l" t="t" r="r" b="b"/>
            <a:pathLst>
              <a:path w="2334902" h="2334902">
                <a:moveTo>
                  <a:pt x="0" y="0"/>
                </a:moveTo>
                <a:lnTo>
                  <a:pt x="2334902" y="0"/>
                </a:lnTo>
                <a:lnTo>
                  <a:pt x="2334902" y="2334902"/>
                </a:lnTo>
                <a:lnTo>
                  <a:pt x="0" y="233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55731" y="1363778"/>
            <a:ext cx="873332" cy="873332"/>
          </a:xfrm>
          <a:custGeom>
            <a:avLst/>
            <a:gdLst/>
            <a:ahLst/>
            <a:cxnLst/>
            <a:rect l="l" t="t" r="r" b="b"/>
            <a:pathLst>
              <a:path w="873332" h="873332">
                <a:moveTo>
                  <a:pt x="0" y="0"/>
                </a:moveTo>
                <a:lnTo>
                  <a:pt x="873332" y="0"/>
                </a:lnTo>
                <a:lnTo>
                  <a:pt x="873332" y="873332"/>
                </a:lnTo>
                <a:lnTo>
                  <a:pt x="0" y="873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741179" y="294171"/>
            <a:ext cx="1407110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38588" y="1524562"/>
            <a:ext cx="8748030" cy="52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sz="36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Commercialization &amp; Sustainability 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41179" y="294171"/>
            <a:ext cx="1407110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3" name="Freeform 3"/>
          <p:cNvSpPr/>
          <p:nvPr/>
        </p:nvSpPr>
        <p:spPr>
          <a:xfrm>
            <a:off x="-1306202" y="-1047998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959445" y="-564906"/>
            <a:ext cx="3705671" cy="3705671"/>
          </a:xfrm>
          <a:custGeom>
            <a:avLst/>
            <a:gdLst/>
            <a:ahLst/>
            <a:cxnLst/>
            <a:rect l="l" t="t" r="r" b="b"/>
            <a:pathLst>
              <a:path w="3705671" h="3705671">
                <a:moveTo>
                  <a:pt x="0" y="0"/>
                </a:moveTo>
                <a:lnTo>
                  <a:pt x="3705671" y="0"/>
                </a:lnTo>
                <a:lnTo>
                  <a:pt x="3705671" y="3705671"/>
                </a:lnTo>
                <a:lnTo>
                  <a:pt x="0" y="3705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-2602898" y="7113659"/>
            <a:ext cx="5432924" cy="54329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7664064" y="1028700"/>
            <a:ext cx="9595236" cy="8995534"/>
          </a:xfrm>
          <a:custGeom>
            <a:avLst/>
            <a:gdLst/>
            <a:ahLst/>
            <a:cxnLst/>
            <a:rect l="l" t="t" r="r" b="b"/>
            <a:pathLst>
              <a:path w="9595236" h="8995534">
                <a:moveTo>
                  <a:pt x="0" y="0"/>
                </a:moveTo>
                <a:lnTo>
                  <a:pt x="9595236" y="0"/>
                </a:lnTo>
                <a:lnTo>
                  <a:pt x="9595236" y="8995534"/>
                </a:lnTo>
                <a:lnTo>
                  <a:pt x="0" y="8995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1306202" y="1973314"/>
            <a:ext cx="2334902" cy="2334902"/>
          </a:xfrm>
          <a:custGeom>
            <a:avLst/>
            <a:gdLst/>
            <a:ahLst/>
            <a:cxnLst/>
            <a:rect l="l" t="t" r="r" b="b"/>
            <a:pathLst>
              <a:path w="2334902" h="2334902">
                <a:moveTo>
                  <a:pt x="0" y="0"/>
                </a:moveTo>
                <a:lnTo>
                  <a:pt x="2334902" y="0"/>
                </a:lnTo>
                <a:lnTo>
                  <a:pt x="2334902" y="2334902"/>
                </a:lnTo>
                <a:lnTo>
                  <a:pt x="0" y="233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06967" y="3428402"/>
            <a:ext cx="848196" cy="848196"/>
          </a:xfrm>
          <a:custGeom>
            <a:avLst/>
            <a:gdLst/>
            <a:ahLst/>
            <a:cxnLst/>
            <a:rect l="l" t="t" r="r" b="b"/>
            <a:pathLst>
              <a:path w="848196" h="848196">
                <a:moveTo>
                  <a:pt x="0" y="0"/>
                </a:moveTo>
                <a:lnTo>
                  <a:pt x="848196" y="0"/>
                </a:lnTo>
                <a:lnTo>
                  <a:pt x="848196" y="848196"/>
                </a:lnTo>
                <a:lnTo>
                  <a:pt x="0" y="848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811742" y="3609722"/>
            <a:ext cx="4703757" cy="121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9"/>
              </a:lnSpc>
              <a:spcBef>
                <a:spcPct val="0"/>
              </a:spcBef>
            </a:pPr>
            <a:r>
              <a:rPr lang="en-US" sz="450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Persona 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52658" y="-2602013"/>
            <a:ext cx="5764939" cy="5764939"/>
          </a:xfrm>
          <a:custGeom>
            <a:avLst/>
            <a:gdLst/>
            <a:ahLst/>
            <a:cxnLst/>
            <a:rect l="l" t="t" r="r" b="b"/>
            <a:pathLst>
              <a:path w="5764939" h="5764939">
                <a:moveTo>
                  <a:pt x="0" y="0"/>
                </a:moveTo>
                <a:lnTo>
                  <a:pt x="5764940" y="0"/>
                </a:lnTo>
                <a:lnTo>
                  <a:pt x="5764940" y="5764939"/>
                </a:lnTo>
                <a:lnTo>
                  <a:pt x="0" y="5764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93224" y="5006678"/>
            <a:ext cx="2421924" cy="2421924"/>
          </a:xfrm>
          <a:custGeom>
            <a:avLst/>
            <a:gdLst/>
            <a:ahLst/>
            <a:cxnLst/>
            <a:rect l="l" t="t" r="r" b="b"/>
            <a:pathLst>
              <a:path w="2421924" h="2421924">
                <a:moveTo>
                  <a:pt x="0" y="0"/>
                </a:moveTo>
                <a:lnTo>
                  <a:pt x="2421924" y="0"/>
                </a:lnTo>
                <a:lnTo>
                  <a:pt x="2421924" y="2421923"/>
                </a:lnTo>
                <a:lnTo>
                  <a:pt x="0" y="2421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153735" y="1924062"/>
            <a:ext cx="12461774" cy="869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9071" lvl="1" indent="-234535" algn="l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market for AI-based recruitment and talent acquisition systems is rapidly growing.</a:t>
            </a:r>
          </a:p>
          <a:p>
            <a:pPr marL="469071" lvl="1" indent="-234535" algn="l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Global Perspective: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Increasing use of AI in recruitment and HR automation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Rising demand for faster and smarter hiring processes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Growing need for explainable and data-driven recruitment systems</a:t>
            </a:r>
          </a:p>
          <a:p>
            <a:pPr marL="469071" lvl="1" indent="-234535" algn="l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Regional Context (Sri Lanka &amp; South Asia):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volume of job applications creates manual screening challenges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Increasing adoption of digital recruitment platforms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Growing demand for cost-effective AI recruitment solutions</a:t>
            </a:r>
          </a:p>
          <a:p>
            <a:pPr marL="469071" lvl="1" indent="-234535" algn="l">
              <a:lnSpc>
                <a:spcPts val="4323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Target Market Includes: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Corporate HR departments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Recruitment agencies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companies and startups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Large-scale enterprises</a:t>
            </a:r>
          </a:p>
          <a:p>
            <a:pPr marL="938141" lvl="2" indent="-312714" algn="l">
              <a:lnSpc>
                <a:spcPts val="4323"/>
              </a:lnSpc>
              <a:buFont typeface="Arial"/>
              <a:buChar char="⚬"/>
            </a:pPr>
            <a:r>
              <a:rPr lang="en-US" sz="21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Online recruitment platforms</a:t>
            </a:r>
          </a:p>
          <a:p>
            <a:pPr algn="l">
              <a:lnSpc>
                <a:spcPts val="4323"/>
              </a:lnSpc>
            </a:pPr>
            <a:endParaRPr lang="en-US" sz="217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3152553" y="6200781"/>
            <a:ext cx="9082214" cy="908221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391804" y="990600"/>
            <a:ext cx="966637" cy="966637"/>
          </a:xfrm>
          <a:custGeom>
            <a:avLst/>
            <a:gdLst/>
            <a:ahLst/>
            <a:cxnLst/>
            <a:rect l="l" t="t" r="r" b="b"/>
            <a:pathLst>
              <a:path w="966637" h="966637">
                <a:moveTo>
                  <a:pt x="0" y="0"/>
                </a:moveTo>
                <a:lnTo>
                  <a:pt x="966637" y="0"/>
                </a:lnTo>
                <a:lnTo>
                  <a:pt x="966637" y="966637"/>
                </a:lnTo>
                <a:lnTo>
                  <a:pt x="0" y="966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533626" y="1349668"/>
            <a:ext cx="2934444" cy="52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sz="36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Size,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41179" y="294171"/>
            <a:ext cx="1407110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30485" y="2389424"/>
            <a:ext cx="12092490" cy="736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238" lvl="1" indent="-271119" algn="l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AI recruitment platform combining multiple hiring modules</a:t>
            </a:r>
          </a:p>
          <a:p>
            <a:pPr marL="542238" lvl="1" indent="-271119" algn="l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Multi-task AI pipeline for:</a:t>
            </a:r>
          </a:p>
          <a:p>
            <a:pPr marL="1084476" lvl="2" indent="-361492" algn="l">
              <a:lnSpc>
                <a:spcPts val="5876"/>
              </a:lnSpc>
              <a:buFont typeface="Arial"/>
              <a:buChar char="⚬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Resume Parsing</a:t>
            </a:r>
          </a:p>
          <a:p>
            <a:pPr marL="1084476" lvl="2" indent="-361492" algn="l">
              <a:lnSpc>
                <a:spcPts val="5876"/>
              </a:lnSpc>
              <a:buFont typeface="Arial"/>
              <a:buChar char="⚬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Job Matching</a:t>
            </a:r>
          </a:p>
          <a:p>
            <a:pPr marL="1084476" lvl="2" indent="-361492" algn="l">
              <a:lnSpc>
                <a:spcPts val="5876"/>
              </a:lnSpc>
              <a:buFont typeface="Arial"/>
              <a:buChar char="⚬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Interview Evaluation</a:t>
            </a:r>
          </a:p>
          <a:p>
            <a:pPr marL="1084476" lvl="2" indent="-361492" algn="l">
              <a:lnSpc>
                <a:spcPts val="5876"/>
              </a:lnSpc>
              <a:buFont typeface="Arial"/>
              <a:buChar char="⚬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Attrition Prediction</a:t>
            </a:r>
          </a:p>
          <a:p>
            <a:pPr marL="542238" lvl="1" indent="-271119" algn="l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Context-aware skill analysis beyond keyword matching</a:t>
            </a:r>
          </a:p>
          <a:p>
            <a:pPr marL="542238" lvl="1" indent="-271119" algn="l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Explainable AI insights for transparent hiring decisions</a:t>
            </a:r>
          </a:p>
          <a:p>
            <a:pPr marL="542238" lvl="1" indent="-271119" algn="l">
              <a:lnSpc>
                <a:spcPts val="5876"/>
              </a:lnSpc>
              <a:buFont typeface="Arial"/>
              <a:buChar char="•"/>
            </a:pPr>
            <a:r>
              <a:rPr lang="en-US" sz="25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Predictive hiring intelligence to identify attrition risks early</a:t>
            </a:r>
          </a:p>
          <a:p>
            <a:pPr algn="l">
              <a:lnSpc>
                <a:spcPts val="5876"/>
              </a:lnSpc>
            </a:pPr>
            <a:endParaRPr lang="en-US" sz="251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48222" y="1352782"/>
            <a:ext cx="993647" cy="993647"/>
          </a:xfrm>
          <a:custGeom>
            <a:avLst/>
            <a:gdLst/>
            <a:ahLst/>
            <a:cxnLst/>
            <a:rect l="l" t="t" r="r" b="b"/>
            <a:pathLst>
              <a:path w="993647" h="993647">
                <a:moveTo>
                  <a:pt x="0" y="0"/>
                </a:moveTo>
                <a:lnTo>
                  <a:pt x="993647" y="0"/>
                </a:lnTo>
                <a:lnTo>
                  <a:pt x="993647" y="993646"/>
                </a:lnTo>
                <a:lnTo>
                  <a:pt x="0" y="993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40852" y="1614509"/>
            <a:ext cx="6807696" cy="49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sz="35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Unique in the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41179" y="294171"/>
            <a:ext cx="1407110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6" name="Freeform 6"/>
          <p:cNvSpPr/>
          <p:nvPr/>
        </p:nvSpPr>
        <p:spPr>
          <a:xfrm>
            <a:off x="13752658" y="-2602013"/>
            <a:ext cx="5764939" cy="5764939"/>
          </a:xfrm>
          <a:custGeom>
            <a:avLst/>
            <a:gdLst/>
            <a:ahLst/>
            <a:cxnLst/>
            <a:rect l="l" t="t" r="r" b="b"/>
            <a:pathLst>
              <a:path w="5764939" h="5764939">
                <a:moveTo>
                  <a:pt x="0" y="0"/>
                </a:moveTo>
                <a:lnTo>
                  <a:pt x="5764940" y="0"/>
                </a:lnTo>
                <a:lnTo>
                  <a:pt x="5764940" y="5764939"/>
                </a:lnTo>
                <a:lnTo>
                  <a:pt x="0" y="5764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393224" y="4218757"/>
            <a:ext cx="2421924" cy="2421924"/>
          </a:xfrm>
          <a:custGeom>
            <a:avLst/>
            <a:gdLst/>
            <a:ahLst/>
            <a:cxnLst/>
            <a:rect l="l" t="t" r="r" b="b"/>
            <a:pathLst>
              <a:path w="2421924" h="2421924">
                <a:moveTo>
                  <a:pt x="0" y="0"/>
                </a:moveTo>
                <a:lnTo>
                  <a:pt x="2421924" y="0"/>
                </a:lnTo>
                <a:lnTo>
                  <a:pt x="2421924" y="2421923"/>
                </a:lnTo>
                <a:lnTo>
                  <a:pt x="0" y="2421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-5402050" y="6217640"/>
            <a:ext cx="9082214" cy="90822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0397" y="2370919"/>
            <a:ext cx="12015605" cy="777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805" lvl="1" indent="-269402" algn="l">
              <a:lnSpc>
                <a:spcPts val="6189"/>
              </a:lnSpc>
              <a:buFont typeface="Arial"/>
              <a:buChar char="•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cost recovery model is designed to be scalable and sustainable.</a:t>
            </a:r>
          </a:p>
          <a:p>
            <a:pPr marL="538805" lvl="1" indent="-269402" algn="l">
              <a:lnSpc>
                <a:spcPts val="6189"/>
              </a:lnSpc>
              <a:buFont typeface="Arial"/>
              <a:buChar char="•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Possible Revenue Models:</a:t>
            </a:r>
          </a:p>
          <a:p>
            <a:pPr marL="1077610" lvl="2" indent="-359203" algn="l">
              <a:lnSpc>
                <a:spcPts val="6189"/>
              </a:lnSpc>
              <a:buAutoNum type="alphaLcPeriod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Subscription Model</a:t>
            </a:r>
          </a:p>
          <a:p>
            <a:pPr marL="1077610" lvl="2" indent="-359203" algn="l">
              <a:lnSpc>
                <a:spcPts val="6189"/>
              </a:lnSpc>
              <a:buAutoNum type="alphaLcPeriod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Enterprise Licensing</a:t>
            </a:r>
          </a:p>
          <a:p>
            <a:pPr marL="1077610" lvl="2" indent="-359203" algn="l">
              <a:lnSpc>
                <a:spcPts val="6189"/>
              </a:lnSpc>
              <a:buAutoNum type="alphaLcPeriod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Recruitment Platform Integration</a:t>
            </a:r>
          </a:p>
          <a:p>
            <a:pPr marL="538805" lvl="1" indent="-269402" algn="l">
              <a:lnSpc>
                <a:spcPts val="6189"/>
              </a:lnSpc>
              <a:buFont typeface="Arial"/>
              <a:buChar char="•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Cost Structure:</a:t>
            </a:r>
          </a:p>
          <a:p>
            <a:pPr marL="1077610" lvl="2" indent="-359203" algn="l">
              <a:lnSpc>
                <a:spcPts val="6189"/>
              </a:lnSpc>
              <a:buFont typeface="Arial"/>
              <a:buChar char="⚬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Initial AI model development and training</a:t>
            </a:r>
          </a:p>
          <a:p>
            <a:pPr marL="1077610" lvl="2" indent="-359203" algn="l">
              <a:lnSpc>
                <a:spcPts val="6189"/>
              </a:lnSpc>
              <a:buFont typeface="Arial"/>
              <a:buChar char="⚬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hosting and database maintenance</a:t>
            </a:r>
          </a:p>
          <a:p>
            <a:pPr marL="1077610" lvl="2" indent="-359203" algn="l">
              <a:lnSpc>
                <a:spcPts val="6189"/>
              </a:lnSpc>
              <a:buFont typeface="Arial"/>
              <a:buChar char="⚬"/>
            </a:pPr>
            <a:r>
              <a:rPr lang="en-US" sz="24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Minimal ongoing system update costs</a:t>
            </a:r>
          </a:p>
          <a:p>
            <a:pPr algn="l">
              <a:lnSpc>
                <a:spcPts val="6189"/>
              </a:lnSpc>
            </a:pPr>
            <a:endParaRPr lang="en-US" sz="249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374124" y="48863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475211" y="1028700"/>
            <a:ext cx="2334902" cy="2334902"/>
          </a:xfrm>
          <a:custGeom>
            <a:avLst/>
            <a:gdLst/>
            <a:ahLst/>
            <a:cxnLst/>
            <a:rect l="l" t="t" r="r" b="b"/>
            <a:pathLst>
              <a:path w="2334902" h="2334902">
                <a:moveTo>
                  <a:pt x="0" y="0"/>
                </a:moveTo>
                <a:lnTo>
                  <a:pt x="2334902" y="0"/>
                </a:lnTo>
                <a:lnTo>
                  <a:pt x="2334902" y="2334902"/>
                </a:lnTo>
                <a:lnTo>
                  <a:pt x="0" y="233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-5357961" y="5979192"/>
            <a:ext cx="9082214" cy="908221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627606" y="1181100"/>
            <a:ext cx="918099" cy="918099"/>
          </a:xfrm>
          <a:custGeom>
            <a:avLst/>
            <a:gdLst/>
            <a:ahLst/>
            <a:cxnLst/>
            <a:rect l="l" t="t" r="r" b="b"/>
            <a:pathLst>
              <a:path w="918099" h="918099">
                <a:moveTo>
                  <a:pt x="0" y="0"/>
                </a:moveTo>
                <a:lnTo>
                  <a:pt x="918099" y="0"/>
                </a:lnTo>
                <a:lnTo>
                  <a:pt x="918099" y="918099"/>
                </a:lnTo>
                <a:lnTo>
                  <a:pt x="0" y="918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741179" y="294171"/>
            <a:ext cx="14071101" cy="51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379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AI-POWERED INTELLIGENT TALENT ACQUISITION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55789" y="1514707"/>
            <a:ext cx="7497191" cy="49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sz="351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will the cost be recovered? 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3719" y="5112467"/>
            <a:ext cx="4623164" cy="4623164"/>
          </a:xfrm>
          <a:custGeom>
            <a:avLst/>
            <a:gdLst/>
            <a:ahLst/>
            <a:cxnLst/>
            <a:rect l="l" t="t" r="r" b="b"/>
            <a:pathLst>
              <a:path w="4623164" h="4623164">
                <a:moveTo>
                  <a:pt x="0" y="0"/>
                </a:moveTo>
                <a:lnTo>
                  <a:pt x="4623164" y="0"/>
                </a:lnTo>
                <a:lnTo>
                  <a:pt x="4623164" y="4623164"/>
                </a:lnTo>
                <a:lnTo>
                  <a:pt x="0" y="4623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817166" y="4274514"/>
            <a:ext cx="20707970" cy="3149534"/>
            <a:chOff x="0" y="0"/>
            <a:chExt cx="5453951" cy="8295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53951" cy="829507"/>
            </a:xfrm>
            <a:custGeom>
              <a:avLst/>
              <a:gdLst/>
              <a:ahLst/>
              <a:cxnLst/>
              <a:rect l="l" t="t" r="r" b="b"/>
              <a:pathLst>
                <a:path w="5453951" h="829507">
                  <a:moveTo>
                    <a:pt x="0" y="0"/>
                  </a:moveTo>
                  <a:lnTo>
                    <a:pt x="5453951" y="0"/>
                  </a:lnTo>
                  <a:lnTo>
                    <a:pt x="5453951" y="829507"/>
                  </a:lnTo>
                  <a:lnTo>
                    <a:pt x="0" y="829507"/>
                  </a:lnTo>
                  <a:close/>
                </a:path>
              </a:pathLst>
            </a:custGeom>
            <a:solidFill>
              <a:srgbClr val="8418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5453951" cy="81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52767" y="-556884"/>
            <a:ext cx="1281626" cy="11499983"/>
            <a:chOff x="0" y="0"/>
            <a:chExt cx="337548" cy="30288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7548" cy="3028802"/>
            </a:xfrm>
            <a:custGeom>
              <a:avLst/>
              <a:gdLst/>
              <a:ahLst/>
              <a:cxnLst/>
              <a:rect l="l" t="t" r="r" b="b"/>
              <a:pathLst>
                <a:path w="337548" h="3028802">
                  <a:moveTo>
                    <a:pt x="0" y="0"/>
                  </a:moveTo>
                  <a:lnTo>
                    <a:pt x="337548" y="0"/>
                  </a:lnTo>
                  <a:lnTo>
                    <a:pt x="337548" y="3028802"/>
                  </a:lnTo>
                  <a:lnTo>
                    <a:pt x="0" y="3028802"/>
                  </a:lnTo>
                  <a:close/>
                </a:path>
              </a:pathLst>
            </a:custGeom>
            <a:solidFill>
              <a:srgbClr val="3038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337548" cy="3009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55386" y="1177089"/>
            <a:ext cx="2591816" cy="2591816"/>
          </a:xfrm>
          <a:custGeom>
            <a:avLst/>
            <a:gdLst/>
            <a:ahLst/>
            <a:cxnLst/>
            <a:rect l="l" t="t" r="r" b="b"/>
            <a:pathLst>
              <a:path w="2591816" h="2591816">
                <a:moveTo>
                  <a:pt x="0" y="0"/>
                </a:moveTo>
                <a:lnTo>
                  <a:pt x="2591816" y="0"/>
                </a:lnTo>
                <a:lnTo>
                  <a:pt x="2591816" y="2591816"/>
                </a:lnTo>
                <a:lnTo>
                  <a:pt x="0" y="2591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085218" y="2440167"/>
            <a:ext cx="6089240" cy="608924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237705" y="1350333"/>
            <a:ext cx="1353863" cy="1353863"/>
          </a:xfrm>
          <a:custGeom>
            <a:avLst/>
            <a:gdLst/>
            <a:ahLst/>
            <a:cxnLst/>
            <a:rect l="l" t="t" r="r" b="b"/>
            <a:pathLst>
              <a:path w="1353863" h="1353863">
                <a:moveTo>
                  <a:pt x="0" y="0"/>
                </a:moveTo>
                <a:lnTo>
                  <a:pt x="1353864" y="0"/>
                </a:lnTo>
                <a:lnTo>
                  <a:pt x="1353864" y="1353863"/>
                </a:lnTo>
                <a:lnTo>
                  <a:pt x="0" y="13538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823104" y="5383607"/>
            <a:ext cx="8768464" cy="153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94"/>
              </a:lnSpc>
            </a:pPr>
            <a:r>
              <a:rPr lang="en-US" sz="11354" b="1">
                <a:solidFill>
                  <a:srgbClr val="FFFFFF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1307</Words>
  <Application>Microsoft Office PowerPoint</Application>
  <PresentationFormat>Custom</PresentationFormat>
  <Paragraphs>231</Paragraphs>
  <Slides>23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Poppins</vt:lpstr>
      <vt:lpstr>DM Sans Bold</vt:lpstr>
      <vt:lpstr>League Spartan</vt:lpstr>
      <vt:lpstr>Calibri</vt:lpstr>
      <vt:lpstr>Pragmatica</vt:lpstr>
      <vt:lpstr>Poppins Bold</vt:lpstr>
      <vt:lpstr>Pragmatica Bold</vt:lpstr>
      <vt:lpstr>Arial</vt:lpstr>
      <vt:lpstr>DM Sans</vt:lpstr>
      <vt:lpstr>Office Theme</vt:lpstr>
      <vt:lpstr>Microsoft Excel Worksheet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Literacy Analysis Presentation</dc:title>
  <dc:creator>Chamudi Himasha</dc:creator>
  <cp:lastModifiedBy>JAYANTHA C.H it22226914</cp:lastModifiedBy>
  <cp:revision>2</cp:revision>
  <dcterms:created xsi:type="dcterms:W3CDTF">2006-08-16T00:00:00Z</dcterms:created>
  <dcterms:modified xsi:type="dcterms:W3CDTF">2026-10-18T04:54:56Z</dcterms:modified>
  <dc:identifier>DAHI6YO0gWw</dc:identifier>
</cp:coreProperties>
</file>