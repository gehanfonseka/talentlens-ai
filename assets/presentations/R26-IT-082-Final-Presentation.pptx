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Semi-Bold" charset="1" panose="00000700000000000000"/>
      <p:regular r:id="rId15"/>
    </p:embeddedFont>
    <p:embeddedFont>
      <p:font typeface="Open Sauce" charset="1" panose="00000500000000000000"/>
      <p:regular r:id="rId16"/>
    </p:embeddedFont>
    <p:embeddedFont>
      <p:font typeface="Poppins" charset="1" panose="00000500000000000000"/>
      <p:regular r:id="rId17"/>
    </p:embeddedFont>
    <p:embeddedFont>
      <p:font typeface="Pragmatica" charset="1" panose="020B0503040502020204"/>
      <p:regular r:id="rId18"/>
    </p:embeddedFont>
    <p:embeddedFont>
      <p:font typeface="Signika Bold" charset="1" panose="02010003020600000004"/>
      <p:regular r:id="rId19"/>
    </p:embeddedFont>
    <p:embeddedFont>
      <p:font typeface="DM Sans Bold" charset="1" panose="00000000000000000000"/>
      <p:regular r:id="rId20"/>
    </p:embeddedFont>
    <p:embeddedFont>
      <p:font typeface="DM Sans" charset="1" panose="00000000000000000000"/>
      <p:regular r:id="rId21"/>
    </p:embeddedFont>
    <p:embeddedFont>
      <p:font typeface="Open Sauce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1.jpeg" Type="http://schemas.openxmlformats.org/officeDocument/2006/relationships/image"/><Relationship Id="rId6"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3146214" y="-207071"/>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3050" y="-558218"/>
            <a:ext cx="3086100" cy="11299900"/>
            <a:chOff x="0" y="0"/>
            <a:chExt cx="812800" cy="2976105"/>
          </a:xfrm>
        </p:grpSpPr>
        <p:sp>
          <p:nvSpPr>
            <p:cNvPr name="Freeform 7" id="7"/>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8" id="8"/>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0">
            <a:off x="1227773" y="4163622"/>
            <a:ext cx="110236" cy="2818996"/>
            <a:chOff x="0" y="0"/>
            <a:chExt cx="26312" cy="672855"/>
          </a:xfrm>
        </p:grpSpPr>
        <p:sp>
          <p:nvSpPr>
            <p:cNvPr name="Freeform 10" id="10"/>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1" id="11"/>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2" id="12"/>
          <p:cNvSpPr/>
          <p:nvPr/>
        </p:nvSpPr>
        <p:spPr>
          <a:xfrm flipH="false" flipV="false" rot="0">
            <a:off x="-2777871" y="-207071"/>
            <a:ext cx="3806571" cy="2083232"/>
          </a:xfrm>
          <a:custGeom>
            <a:avLst/>
            <a:gdLst/>
            <a:ahLst/>
            <a:cxnLst/>
            <a:rect r="r" b="b" t="t" l="l"/>
            <a:pathLst>
              <a:path h="2083232" w="3806571">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818623" y="2037420"/>
            <a:ext cx="11762638" cy="4166679"/>
          </a:xfrm>
          <a:prstGeom prst="rect">
            <a:avLst/>
          </a:prstGeom>
        </p:spPr>
        <p:txBody>
          <a:bodyPr anchor="t" rtlCol="false" tIns="0" lIns="0" bIns="0" rIns="0">
            <a:spAutoFit/>
          </a:bodyPr>
          <a:lstStyle/>
          <a:p>
            <a:pPr algn="l">
              <a:lnSpc>
                <a:spcPts val="10716"/>
              </a:lnSpc>
              <a:spcBef>
                <a:spcPct val="0"/>
              </a:spcBef>
            </a:pPr>
            <a:r>
              <a:rPr lang="en-US" b="true" sz="8930" spc="44">
                <a:solidFill>
                  <a:srgbClr val="1C5739"/>
                </a:solidFill>
                <a:latin typeface="Poppins Semi-Bold"/>
                <a:ea typeface="Poppins Semi-Bold"/>
                <a:cs typeface="Poppins Semi-Bold"/>
                <a:sym typeface="Poppins Semi-Bold"/>
              </a:rPr>
              <a:t>AI-Powered Intelligent Talent Acquisition System</a:t>
            </a:r>
          </a:p>
        </p:txBody>
      </p:sp>
      <p:grpSp>
        <p:nvGrpSpPr>
          <p:cNvPr name="Group 14" id="14"/>
          <p:cNvGrpSpPr/>
          <p:nvPr/>
        </p:nvGrpSpPr>
        <p:grpSpPr>
          <a:xfrm rot="0">
            <a:off x="1818623" y="7495008"/>
            <a:ext cx="2244912" cy="959104"/>
            <a:chOff x="0" y="0"/>
            <a:chExt cx="2829882" cy="1209029"/>
          </a:xfrm>
        </p:grpSpPr>
        <p:sp>
          <p:nvSpPr>
            <p:cNvPr name="Freeform 15" id="15"/>
            <p:cNvSpPr/>
            <p:nvPr/>
          </p:nvSpPr>
          <p:spPr>
            <a:xfrm flipH="false" flipV="false" rot="0">
              <a:off x="0" y="0"/>
              <a:ext cx="2829882" cy="1209029"/>
            </a:xfrm>
            <a:custGeom>
              <a:avLst/>
              <a:gdLst/>
              <a:ahLst/>
              <a:cxnLst/>
              <a:rect r="r" b="b" t="t" l="l"/>
              <a:pathLst>
                <a:path h="1209029" w="2829882">
                  <a:moveTo>
                    <a:pt x="2829882" y="113806"/>
                  </a:moveTo>
                  <a:lnTo>
                    <a:pt x="2829882" y="1095224"/>
                  </a:lnTo>
                  <a:cubicBezTo>
                    <a:pt x="2829882" y="1125407"/>
                    <a:pt x="2817891" y="1154354"/>
                    <a:pt x="2796549" y="1175696"/>
                  </a:cubicBezTo>
                  <a:cubicBezTo>
                    <a:pt x="2775206" y="1197039"/>
                    <a:pt x="2746259" y="1209029"/>
                    <a:pt x="2716076" y="1209029"/>
                  </a:cubicBezTo>
                  <a:lnTo>
                    <a:pt x="113806" y="1209029"/>
                  </a:lnTo>
                  <a:cubicBezTo>
                    <a:pt x="83622" y="1209029"/>
                    <a:pt x="54676" y="1197039"/>
                    <a:pt x="33333" y="1175696"/>
                  </a:cubicBezTo>
                  <a:cubicBezTo>
                    <a:pt x="11990" y="1154354"/>
                    <a:pt x="0" y="1125407"/>
                    <a:pt x="0" y="1095224"/>
                  </a:cubicBezTo>
                  <a:lnTo>
                    <a:pt x="0" y="113806"/>
                  </a:lnTo>
                  <a:cubicBezTo>
                    <a:pt x="0" y="83622"/>
                    <a:pt x="11990" y="54676"/>
                    <a:pt x="33333" y="33333"/>
                  </a:cubicBezTo>
                  <a:cubicBezTo>
                    <a:pt x="54676" y="11990"/>
                    <a:pt x="83622" y="0"/>
                    <a:pt x="113806" y="0"/>
                  </a:cubicBezTo>
                  <a:lnTo>
                    <a:pt x="2716076" y="0"/>
                  </a:lnTo>
                  <a:cubicBezTo>
                    <a:pt x="2746259" y="0"/>
                    <a:pt x="2775206" y="11990"/>
                    <a:pt x="2796549" y="33333"/>
                  </a:cubicBezTo>
                  <a:cubicBezTo>
                    <a:pt x="2817891" y="54676"/>
                    <a:pt x="2829882" y="83622"/>
                    <a:pt x="2829882" y="113806"/>
                  </a:cubicBezTo>
                  <a:close/>
                </a:path>
              </a:pathLst>
            </a:custGeom>
            <a:solidFill>
              <a:srgbClr val="1C5739">
                <a:alpha val="14902"/>
              </a:srgbClr>
            </a:solidFill>
          </p:spPr>
        </p:sp>
        <p:sp>
          <p:nvSpPr>
            <p:cNvPr name="TextBox 16" id="16"/>
            <p:cNvSpPr txBox="true"/>
            <p:nvPr/>
          </p:nvSpPr>
          <p:spPr>
            <a:xfrm>
              <a:off x="0" y="-19050"/>
              <a:ext cx="2829882" cy="1228079"/>
            </a:xfrm>
            <a:prstGeom prst="rect">
              <a:avLst/>
            </a:prstGeom>
          </p:spPr>
          <p:txBody>
            <a:bodyPr anchor="ctr" rtlCol="false" tIns="50800" lIns="50800" bIns="50800" rIns="50800"/>
            <a:lstStyle/>
            <a:p>
              <a:pPr algn="ctr">
                <a:lnSpc>
                  <a:spcPts val="2859"/>
                </a:lnSpc>
              </a:pPr>
            </a:p>
          </p:txBody>
        </p:sp>
      </p:grpSp>
      <p:sp>
        <p:nvSpPr>
          <p:cNvPr name="TextBox 17" id="17"/>
          <p:cNvSpPr txBox="true"/>
          <p:nvPr/>
        </p:nvSpPr>
        <p:spPr>
          <a:xfrm rot="0">
            <a:off x="1933837" y="7731223"/>
            <a:ext cx="2033534" cy="439048"/>
          </a:xfrm>
          <a:prstGeom prst="rect">
            <a:avLst/>
          </a:prstGeom>
        </p:spPr>
        <p:txBody>
          <a:bodyPr anchor="t" rtlCol="false" tIns="0" lIns="0" bIns="0" rIns="0">
            <a:spAutoFit/>
          </a:bodyPr>
          <a:lstStyle/>
          <a:p>
            <a:pPr algn="l">
              <a:lnSpc>
                <a:spcPts val="3625"/>
              </a:lnSpc>
            </a:pPr>
            <a:r>
              <a:rPr lang="en-US" sz="2589" spc="129">
                <a:solidFill>
                  <a:srgbClr val="397D5A"/>
                </a:solidFill>
                <a:latin typeface="Open Sauce"/>
                <a:ea typeface="Open Sauce"/>
                <a:cs typeface="Open Sauce"/>
                <a:sym typeface="Open Sauce"/>
              </a:rPr>
              <a:t>R26-IT-082</a:t>
            </a:r>
            <a:r>
              <a:rPr lang="en-US" sz="2589" spc="129">
                <a:solidFill>
                  <a:srgbClr val="397D5A"/>
                </a:solidFill>
                <a:latin typeface="Open Sauce"/>
                <a:ea typeface="Open Sauce"/>
                <a:cs typeface="Open Sauce"/>
                <a:sym typeface="Open Sauce"/>
              </a:rPr>
              <a: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4592495" y="7573922"/>
            <a:ext cx="4687320" cy="4687320"/>
          </a:xfrm>
          <a:custGeom>
            <a:avLst/>
            <a:gdLst/>
            <a:ahLst/>
            <a:cxnLst/>
            <a:rect r="r" b="b" t="t" l="l"/>
            <a:pathLst>
              <a:path h="4687320" w="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887962" y="5985119"/>
            <a:ext cx="2085109" cy="208510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5" id="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6" id="6"/>
          <p:cNvSpPr txBox="true"/>
          <p:nvPr/>
        </p:nvSpPr>
        <p:spPr>
          <a:xfrm rot="0">
            <a:off x="3880998" y="2303685"/>
            <a:ext cx="4926136" cy="717042"/>
          </a:xfrm>
          <a:prstGeom prst="rect">
            <a:avLst/>
          </a:prstGeom>
        </p:spPr>
        <p:txBody>
          <a:bodyPr anchor="t" rtlCol="false" tIns="0" lIns="0" bIns="0" rIns="0">
            <a:spAutoFit/>
          </a:bodyPr>
          <a:lstStyle/>
          <a:p>
            <a:pPr algn="l" marL="0" indent="0" lvl="0">
              <a:lnSpc>
                <a:spcPts val="5588"/>
              </a:lnSpc>
              <a:spcBef>
                <a:spcPct val="0"/>
              </a:spcBef>
            </a:pPr>
            <a:r>
              <a:rPr lang="en-US" sz="4050" spc="396">
                <a:solidFill>
                  <a:srgbClr val="000000"/>
                </a:solidFill>
                <a:latin typeface="Poppins"/>
                <a:ea typeface="Poppins"/>
                <a:cs typeface="Poppins"/>
                <a:sym typeface="Poppins"/>
              </a:rPr>
              <a:t>Probl</a:t>
            </a:r>
            <a:r>
              <a:rPr lang="en-US" sz="4050" spc="396">
                <a:solidFill>
                  <a:srgbClr val="000000"/>
                </a:solidFill>
                <a:latin typeface="Poppins"/>
                <a:ea typeface="Poppins"/>
                <a:cs typeface="Poppins"/>
                <a:sym typeface="Poppins"/>
              </a:rPr>
              <a:t>em in Brief</a:t>
            </a:r>
          </a:p>
        </p:txBody>
      </p:sp>
      <p:sp>
        <p:nvSpPr>
          <p:cNvPr name="TextBox 7" id="7"/>
          <p:cNvSpPr txBox="true"/>
          <p:nvPr/>
        </p:nvSpPr>
        <p:spPr>
          <a:xfrm rot="0">
            <a:off x="2741179" y="294171"/>
            <a:ext cx="13366509" cy="510667"/>
          </a:xfrm>
          <a:prstGeom prst="rect">
            <a:avLst/>
          </a:prstGeom>
        </p:spPr>
        <p:txBody>
          <a:bodyPr anchor="t" rtlCol="false" tIns="0" lIns="0" bIns="0" rIns="0">
            <a:spAutoFit/>
          </a:bodyPr>
          <a:lstStyle/>
          <a:p>
            <a:pPr algn="l">
              <a:lnSpc>
                <a:spcPts val="3913"/>
              </a:lnSpc>
            </a:pPr>
            <a:r>
              <a:rPr lang="en-US" sz="3799">
                <a:solidFill>
                  <a:srgbClr val="000000"/>
                </a:solidFill>
                <a:latin typeface="Pragmatica"/>
                <a:ea typeface="Pragmatica"/>
                <a:cs typeface="Pragmatica"/>
                <a:sym typeface="Pragmatica"/>
              </a:rPr>
              <a:t>AI-POWERED INTELLIGENT TALENT ACQUISITION SYSTEM</a:t>
            </a:r>
          </a:p>
        </p:txBody>
      </p:sp>
      <p:grpSp>
        <p:nvGrpSpPr>
          <p:cNvPr name="Group 8" id="8"/>
          <p:cNvGrpSpPr/>
          <p:nvPr/>
        </p:nvGrpSpPr>
        <p:grpSpPr>
          <a:xfrm rot="0">
            <a:off x="9144000" y="1040617"/>
            <a:ext cx="8395594" cy="4255185"/>
            <a:chOff x="0" y="0"/>
            <a:chExt cx="2349373" cy="1190752"/>
          </a:xfrm>
        </p:grpSpPr>
        <p:sp>
          <p:nvSpPr>
            <p:cNvPr name="Freeform 9" id="9"/>
            <p:cNvSpPr/>
            <p:nvPr/>
          </p:nvSpPr>
          <p:spPr>
            <a:xfrm flipH="false" flipV="false" rot="0">
              <a:off x="0" y="0"/>
              <a:ext cx="2349373" cy="1190752"/>
            </a:xfrm>
            <a:custGeom>
              <a:avLst/>
              <a:gdLst/>
              <a:ahLst/>
              <a:cxnLst/>
              <a:rect r="r" b="b" t="t" l="l"/>
              <a:pathLst>
                <a:path h="1190752" w="2349373">
                  <a:moveTo>
                    <a:pt x="2349373" y="40574"/>
                  </a:moveTo>
                  <a:lnTo>
                    <a:pt x="2349373" y="1150178"/>
                  </a:lnTo>
                  <a:cubicBezTo>
                    <a:pt x="2349373" y="1160939"/>
                    <a:pt x="2345098" y="1171259"/>
                    <a:pt x="2337489" y="1178868"/>
                  </a:cubicBezTo>
                  <a:cubicBezTo>
                    <a:pt x="2329880" y="1186477"/>
                    <a:pt x="2319560" y="1190752"/>
                    <a:pt x="2308799" y="1190752"/>
                  </a:cubicBezTo>
                  <a:lnTo>
                    <a:pt x="40574" y="1190752"/>
                  </a:lnTo>
                  <a:cubicBezTo>
                    <a:pt x="29813" y="1190752"/>
                    <a:pt x="19493" y="1186477"/>
                    <a:pt x="11884" y="1178868"/>
                  </a:cubicBezTo>
                  <a:cubicBezTo>
                    <a:pt x="4275" y="1171259"/>
                    <a:pt x="0" y="1160939"/>
                    <a:pt x="0" y="1150178"/>
                  </a:cubicBezTo>
                  <a:lnTo>
                    <a:pt x="0" y="40574"/>
                  </a:lnTo>
                  <a:cubicBezTo>
                    <a:pt x="0" y="29813"/>
                    <a:pt x="4275" y="19493"/>
                    <a:pt x="11884" y="11884"/>
                  </a:cubicBezTo>
                  <a:cubicBezTo>
                    <a:pt x="19493" y="4275"/>
                    <a:pt x="29813" y="0"/>
                    <a:pt x="40574" y="0"/>
                  </a:cubicBezTo>
                  <a:lnTo>
                    <a:pt x="2308799" y="0"/>
                  </a:lnTo>
                  <a:cubicBezTo>
                    <a:pt x="2319560" y="0"/>
                    <a:pt x="2329880" y="4275"/>
                    <a:pt x="2337489" y="11884"/>
                  </a:cubicBezTo>
                  <a:cubicBezTo>
                    <a:pt x="2345098" y="19493"/>
                    <a:pt x="2349373" y="29813"/>
                    <a:pt x="2349373" y="40574"/>
                  </a:cubicBezTo>
                  <a:close/>
                </a:path>
              </a:pathLst>
            </a:custGeom>
            <a:solidFill>
              <a:srgbClr val="1C5739"/>
            </a:solidFill>
          </p:spPr>
        </p:sp>
        <p:sp>
          <p:nvSpPr>
            <p:cNvPr name="TextBox 10" id="10"/>
            <p:cNvSpPr txBox="true"/>
            <p:nvPr/>
          </p:nvSpPr>
          <p:spPr>
            <a:xfrm>
              <a:off x="0" y="-19050"/>
              <a:ext cx="2349373" cy="1209802"/>
            </a:xfrm>
            <a:prstGeom prst="rect">
              <a:avLst/>
            </a:prstGeom>
          </p:spPr>
          <p:txBody>
            <a:bodyPr anchor="ctr" rtlCol="false" tIns="50800" lIns="50800" bIns="50800" rIns="50800"/>
            <a:lstStyle/>
            <a:p>
              <a:pPr algn="ctr">
                <a:lnSpc>
                  <a:spcPts val="2859"/>
                </a:lnSpc>
              </a:pPr>
            </a:p>
          </p:txBody>
        </p:sp>
      </p:grpSp>
      <p:sp>
        <p:nvSpPr>
          <p:cNvPr name="TextBox 11" id="11"/>
          <p:cNvSpPr txBox="true"/>
          <p:nvPr/>
        </p:nvSpPr>
        <p:spPr>
          <a:xfrm rot="0">
            <a:off x="9576159" y="1748713"/>
            <a:ext cx="7963435" cy="2885774"/>
          </a:xfrm>
          <a:prstGeom prst="rect">
            <a:avLst/>
          </a:prstGeom>
        </p:spPr>
        <p:txBody>
          <a:bodyPr anchor="t" rtlCol="false" tIns="0" lIns="0" bIns="0" rIns="0">
            <a:spAutoFit/>
          </a:bodyPr>
          <a:lstStyle/>
          <a:p>
            <a:pPr algn="l" marL="0" indent="0" lvl="0">
              <a:lnSpc>
                <a:spcPts val="2893"/>
              </a:lnSpc>
              <a:spcBef>
                <a:spcPct val="0"/>
              </a:spcBef>
            </a:pPr>
            <a:r>
              <a:rPr lang="en-US" sz="2096" spc="205">
                <a:solidFill>
                  <a:srgbClr val="FFFFFF"/>
                </a:solidFill>
                <a:latin typeface="Open Sauce"/>
                <a:ea typeface="Open Sauce"/>
                <a:cs typeface="Open Sauce"/>
                <a:sym typeface="Open Sauce"/>
              </a:rPr>
              <a:t>Traditional recruitment processes involve time-consuming manual CV screening, inconsistent candidate evaluation, and limited assessment of skills, job suitability, interview performance, and employee retention risks. Existing systems often lack integrated AI-driven analysis, making large-scale recruitment inefficient and hiring decisions less informed.</a:t>
            </a:r>
          </a:p>
        </p:txBody>
      </p:sp>
      <p:sp>
        <p:nvSpPr>
          <p:cNvPr name="TextBox 12" id="12"/>
          <p:cNvSpPr txBox="true"/>
          <p:nvPr/>
        </p:nvSpPr>
        <p:spPr>
          <a:xfrm rot="0">
            <a:off x="9424433" y="7224665"/>
            <a:ext cx="5747455" cy="717113"/>
          </a:xfrm>
          <a:prstGeom prst="rect">
            <a:avLst/>
          </a:prstGeom>
        </p:spPr>
        <p:txBody>
          <a:bodyPr anchor="t" rtlCol="false" tIns="0" lIns="0" bIns="0" rIns="0">
            <a:spAutoFit/>
          </a:bodyPr>
          <a:lstStyle/>
          <a:p>
            <a:pPr algn="l" marL="0" indent="0" lvl="0">
              <a:lnSpc>
                <a:spcPts val="5584"/>
              </a:lnSpc>
              <a:spcBef>
                <a:spcPct val="0"/>
              </a:spcBef>
            </a:pPr>
            <a:r>
              <a:rPr lang="en-US" sz="4046" spc="396">
                <a:solidFill>
                  <a:srgbClr val="000000"/>
                </a:solidFill>
                <a:latin typeface="Poppins"/>
                <a:ea typeface="Poppins"/>
                <a:cs typeface="Poppins"/>
                <a:sym typeface="Poppins"/>
              </a:rPr>
              <a:t>D</a:t>
            </a:r>
            <a:r>
              <a:rPr lang="en-US" sz="4046" spc="396">
                <a:solidFill>
                  <a:srgbClr val="000000"/>
                </a:solidFill>
                <a:latin typeface="Poppins"/>
                <a:ea typeface="Poppins"/>
                <a:cs typeface="Poppins"/>
                <a:sym typeface="Poppins"/>
              </a:rPr>
              <a:t>esign Excellence</a:t>
            </a:r>
          </a:p>
        </p:txBody>
      </p:sp>
      <p:sp>
        <p:nvSpPr>
          <p:cNvPr name="Freeform 13" id="13"/>
          <p:cNvSpPr/>
          <p:nvPr/>
        </p:nvSpPr>
        <p:spPr>
          <a:xfrm flipH="false" flipV="false" rot="0">
            <a:off x="-2940384" y="824549"/>
            <a:ext cx="4687320" cy="4687320"/>
          </a:xfrm>
          <a:custGeom>
            <a:avLst/>
            <a:gdLst/>
            <a:ahLst/>
            <a:cxnLst/>
            <a:rect r="r" b="b" t="t" l="l"/>
            <a:pathLst>
              <a:path h="4687320" w="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644916" y="-764253"/>
            <a:ext cx="2085109" cy="208510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16" id="16"/>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7" id="17"/>
          <p:cNvGrpSpPr/>
          <p:nvPr/>
        </p:nvGrpSpPr>
        <p:grpSpPr>
          <a:xfrm rot="0">
            <a:off x="702962" y="5385104"/>
            <a:ext cx="8441038" cy="4501010"/>
            <a:chOff x="0" y="0"/>
            <a:chExt cx="2267360" cy="1209029"/>
          </a:xfrm>
        </p:grpSpPr>
        <p:sp>
          <p:nvSpPr>
            <p:cNvPr name="Freeform 18" id="18"/>
            <p:cNvSpPr/>
            <p:nvPr/>
          </p:nvSpPr>
          <p:spPr>
            <a:xfrm flipH="false" flipV="false" rot="0">
              <a:off x="0" y="0"/>
              <a:ext cx="2267360" cy="1209029"/>
            </a:xfrm>
            <a:custGeom>
              <a:avLst/>
              <a:gdLst/>
              <a:ahLst/>
              <a:cxnLst/>
              <a:rect r="r" b="b" t="t" l="l"/>
              <a:pathLst>
                <a:path h="1209029" w="2267360">
                  <a:moveTo>
                    <a:pt x="2267360" y="40356"/>
                  </a:moveTo>
                  <a:lnTo>
                    <a:pt x="2267360" y="1168673"/>
                  </a:lnTo>
                  <a:cubicBezTo>
                    <a:pt x="2267360" y="1190961"/>
                    <a:pt x="2249292" y="1209029"/>
                    <a:pt x="2227004" y="1209029"/>
                  </a:cubicBezTo>
                  <a:lnTo>
                    <a:pt x="40356" y="1209029"/>
                  </a:lnTo>
                  <a:cubicBezTo>
                    <a:pt x="18068" y="1209029"/>
                    <a:pt x="0" y="1190961"/>
                    <a:pt x="0" y="1168673"/>
                  </a:cubicBezTo>
                  <a:lnTo>
                    <a:pt x="0" y="40356"/>
                  </a:lnTo>
                  <a:cubicBezTo>
                    <a:pt x="0" y="18068"/>
                    <a:pt x="18068" y="0"/>
                    <a:pt x="40356" y="0"/>
                  </a:cubicBezTo>
                  <a:lnTo>
                    <a:pt x="2227004" y="0"/>
                  </a:lnTo>
                  <a:cubicBezTo>
                    <a:pt x="2249292" y="0"/>
                    <a:pt x="2267360" y="18068"/>
                    <a:pt x="2267360" y="40356"/>
                  </a:cubicBezTo>
                  <a:close/>
                </a:path>
              </a:pathLst>
            </a:custGeom>
            <a:solidFill>
              <a:srgbClr val="1C5739"/>
            </a:solidFill>
          </p:spPr>
        </p:sp>
        <p:sp>
          <p:nvSpPr>
            <p:cNvPr name="TextBox 19" id="19"/>
            <p:cNvSpPr txBox="true"/>
            <p:nvPr/>
          </p:nvSpPr>
          <p:spPr>
            <a:xfrm>
              <a:off x="0" y="-19050"/>
              <a:ext cx="2267360" cy="1228079"/>
            </a:xfrm>
            <a:prstGeom prst="rect">
              <a:avLst/>
            </a:prstGeom>
          </p:spPr>
          <p:txBody>
            <a:bodyPr anchor="ctr" rtlCol="false" tIns="50800" lIns="50800" bIns="50800" rIns="50800"/>
            <a:lstStyle/>
            <a:p>
              <a:pPr algn="ctr">
                <a:lnSpc>
                  <a:spcPts val="2859"/>
                </a:lnSpc>
              </a:pPr>
            </a:p>
          </p:txBody>
        </p:sp>
      </p:grpSp>
      <p:sp>
        <p:nvSpPr>
          <p:cNvPr name="TextBox 20" id="20"/>
          <p:cNvSpPr txBox="true"/>
          <p:nvPr/>
        </p:nvSpPr>
        <p:spPr>
          <a:xfrm rot="0">
            <a:off x="1267638" y="5653173"/>
            <a:ext cx="7539497" cy="4107180"/>
          </a:xfrm>
          <a:prstGeom prst="rect">
            <a:avLst/>
          </a:prstGeom>
        </p:spPr>
        <p:txBody>
          <a:bodyPr anchor="t" rtlCol="false" tIns="0" lIns="0" bIns="0" rIns="0">
            <a:spAutoFit/>
          </a:bodyPr>
          <a:lstStyle/>
          <a:p>
            <a:pPr algn="l" marL="0" indent="0" lvl="0">
              <a:lnSpc>
                <a:spcPts val="2760"/>
              </a:lnSpc>
              <a:spcBef>
                <a:spcPct val="0"/>
              </a:spcBef>
            </a:pPr>
            <a:r>
              <a:rPr lang="en-US" sz="2000" spc="196">
                <a:solidFill>
                  <a:srgbClr val="FFFFFF"/>
                </a:solidFill>
                <a:latin typeface="Open Sauce"/>
                <a:ea typeface="Open Sauce"/>
                <a:cs typeface="Open Sauce"/>
                <a:sym typeface="Open Sauce"/>
              </a:rPr>
              <a:t>Our AI-Powered Intelligent Talent Acquisition System integrates four AI modules: Intelligent Resume Parsing &amp; Skill Proficiency Analysis, Job–Candidate Matching, AI Interview Evaluation, and Hiring Attrition Prediction. It provides automated screening, explainable candidate insights, proficiency assessment, interview scoring, and retention-risk analysis through a unified platform, enabling efficient, consistent, and data-driven recruitment while keeping final hiring decisions with recruiters.</a:t>
            </a:r>
          </a:p>
          <a:p>
            <a:pPr algn="l" marL="0" indent="0" lvl="0">
              <a:lnSpc>
                <a:spcPts val="2760"/>
              </a:lnSpc>
              <a:spcBef>
                <a:spcPct val="0"/>
              </a:spcBef>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TextBox 2" id="2"/>
          <p:cNvSpPr txBox="true"/>
          <p:nvPr/>
        </p:nvSpPr>
        <p:spPr>
          <a:xfrm rot="0">
            <a:off x="1028700" y="462384"/>
            <a:ext cx="10910485" cy="672692"/>
          </a:xfrm>
          <a:prstGeom prst="rect">
            <a:avLst/>
          </a:prstGeom>
        </p:spPr>
        <p:txBody>
          <a:bodyPr anchor="t" rtlCol="false" tIns="0" lIns="0" bIns="0" rIns="0">
            <a:spAutoFit/>
          </a:bodyPr>
          <a:lstStyle/>
          <a:p>
            <a:pPr algn="l">
              <a:lnSpc>
                <a:spcPts val="4650"/>
              </a:lnSpc>
            </a:pPr>
            <a:r>
              <a:rPr lang="en-US" sz="6039" b="true">
                <a:solidFill>
                  <a:srgbClr val="000000"/>
                </a:solidFill>
                <a:latin typeface="Signika Bold"/>
                <a:ea typeface="Signika Bold"/>
                <a:cs typeface="Signika Bold"/>
                <a:sym typeface="Signika Bold"/>
              </a:rPr>
              <a:t>IT22248796 - Fonseka W.G.K </a:t>
            </a:r>
          </a:p>
        </p:txBody>
      </p:sp>
      <p:sp>
        <p:nvSpPr>
          <p:cNvPr name="TextBox 3" id="3"/>
          <p:cNvSpPr txBox="true"/>
          <p:nvPr/>
        </p:nvSpPr>
        <p:spPr>
          <a:xfrm rot="0">
            <a:off x="1028700" y="1506582"/>
            <a:ext cx="10361622" cy="575388"/>
          </a:xfrm>
          <a:prstGeom prst="rect">
            <a:avLst/>
          </a:prstGeom>
        </p:spPr>
        <p:txBody>
          <a:bodyPr anchor="t" rtlCol="false" tIns="0" lIns="0" bIns="0" rIns="0">
            <a:spAutoFit/>
          </a:bodyPr>
          <a:lstStyle/>
          <a:p>
            <a:pPr algn="l">
              <a:lnSpc>
                <a:spcPts val="4714"/>
              </a:lnSpc>
            </a:pPr>
            <a:r>
              <a:rPr lang="en-US" sz="3391" b="true">
                <a:solidFill>
                  <a:srgbClr val="449497"/>
                </a:solidFill>
                <a:latin typeface="DM Sans Bold"/>
                <a:ea typeface="DM Sans Bold"/>
                <a:cs typeface="DM Sans Bold"/>
                <a:sym typeface="DM Sans Bold"/>
              </a:rPr>
              <a:t>Hiring Risk &amp; Early Attrition Prediction </a:t>
            </a:r>
          </a:p>
        </p:txBody>
      </p:sp>
      <p:grpSp>
        <p:nvGrpSpPr>
          <p:cNvPr name="Group 4" id="4"/>
          <p:cNvGrpSpPr/>
          <p:nvPr/>
        </p:nvGrpSpPr>
        <p:grpSpPr>
          <a:xfrm rot="0">
            <a:off x="15383703" y="214734"/>
            <a:ext cx="2627017" cy="2641057"/>
            <a:chOff x="0" y="0"/>
            <a:chExt cx="4598226" cy="4622800"/>
          </a:xfrm>
        </p:grpSpPr>
        <p:sp>
          <p:nvSpPr>
            <p:cNvPr name="Freeform 5" id="5"/>
            <p:cNvSpPr/>
            <p:nvPr/>
          </p:nvSpPr>
          <p:spPr>
            <a:xfrm flipH="false" flipV="false" rot="0">
              <a:off x="25400" y="25400"/>
              <a:ext cx="4547362" cy="4572000"/>
            </a:xfrm>
            <a:custGeom>
              <a:avLst/>
              <a:gdLst/>
              <a:ahLst/>
              <a:cxnLst/>
              <a:rect r="r" b="b" t="t" l="l"/>
              <a:pathLst>
                <a:path h="4572000" w="4547362">
                  <a:moveTo>
                    <a:pt x="0" y="0"/>
                  </a:moveTo>
                  <a:lnTo>
                    <a:pt x="4547362" y="0"/>
                  </a:lnTo>
                  <a:lnTo>
                    <a:pt x="4547362" y="4572000"/>
                  </a:lnTo>
                  <a:lnTo>
                    <a:pt x="0" y="4572000"/>
                  </a:lnTo>
                  <a:close/>
                </a:path>
              </a:pathLst>
            </a:custGeom>
            <a:blipFill>
              <a:blip r:embed="rId2"/>
              <a:stretch>
                <a:fillRect l="0" t="-14421" r="0" b="-21904"/>
              </a:stretch>
            </a:blipFill>
          </p:spPr>
        </p:sp>
        <p:sp>
          <p:nvSpPr>
            <p:cNvPr name="Freeform 6" id="6"/>
            <p:cNvSpPr/>
            <p:nvPr/>
          </p:nvSpPr>
          <p:spPr>
            <a:xfrm flipH="false" flipV="false" rot="0">
              <a:off x="0" y="0"/>
              <a:ext cx="4598162" cy="4622800"/>
            </a:xfrm>
            <a:custGeom>
              <a:avLst/>
              <a:gdLst/>
              <a:ahLst/>
              <a:cxnLst/>
              <a:rect r="r" b="b" t="t" l="l"/>
              <a:pathLst>
                <a:path h="4622800" w="4598162">
                  <a:moveTo>
                    <a:pt x="25400" y="0"/>
                  </a:moveTo>
                  <a:lnTo>
                    <a:pt x="4572762" y="0"/>
                  </a:lnTo>
                  <a:cubicBezTo>
                    <a:pt x="4586732" y="0"/>
                    <a:pt x="4598162" y="11430"/>
                    <a:pt x="4598162" y="25400"/>
                  </a:cubicBezTo>
                  <a:lnTo>
                    <a:pt x="4598162" y="4597400"/>
                  </a:lnTo>
                  <a:cubicBezTo>
                    <a:pt x="4598162" y="4611370"/>
                    <a:pt x="4586732" y="4622800"/>
                    <a:pt x="4572762" y="4622800"/>
                  </a:cubicBezTo>
                  <a:lnTo>
                    <a:pt x="25400" y="4622800"/>
                  </a:lnTo>
                  <a:cubicBezTo>
                    <a:pt x="11430" y="4622800"/>
                    <a:pt x="0" y="4611370"/>
                    <a:pt x="0" y="4597400"/>
                  </a:cubicBezTo>
                  <a:lnTo>
                    <a:pt x="0" y="25400"/>
                  </a:lnTo>
                  <a:cubicBezTo>
                    <a:pt x="0" y="11430"/>
                    <a:pt x="11430" y="0"/>
                    <a:pt x="25400" y="0"/>
                  </a:cubicBezTo>
                  <a:moveTo>
                    <a:pt x="25400" y="50800"/>
                  </a:moveTo>
                  <a:lnTo>
                    <a:pt x="25400" y="25400"/>
                  </a:lnTo>
                  <a:lnTo>
                    <a:pt x="50800" y="25400"/>
                  </a:lnTo>
                  <a:lnTo>
                    <a:pt x="50800" y="4597400"/>
                  </a:lnTo>
                  <a:lnTo>
                    <a:pt x="25400" y="4597400"/>
                  </a:lnTo>
                  <a:lnTo>
                    <a:pt x="25400" y="4572000"/>
                  </a:lnTo>
                  <a:lnTo>
                    <a:pt x="4572762" y="4572000"/>
                  </a:lnTo>
                  <a:lnTo>
                    <a:pt x="4572762" y="4597400"/>
                  </a:lnTo>
                  <a:lnTo>
                    <a:pt x="4547362" y="4597400"/>
                  </a:lnTo>
                  <a:lnTo>
                    <a:pt x="4547362" y="25400"/>
                  </a:lnTo>
                  <a:lnTo>
                    <a:pt x="4572762" y="25400"/>
                  </a:lnTo>
                  <a:lnTo>
                    <a:pt x="4572762" y="50800"/>
                  </a:lnTo>
                  <a:lnTo>
                    <a:pt x="25400" y="50800"/>
                  </a:lnTo>
                  <a:close/>
                </a:path>
              </a:pathLst>
            </a:custGeom>
            <a:solidFill>
              <a:srgbClr val="D9D9D9"/>
            </a:solidFill>
          </p:spPr>
        </p:sp>
      </p:grpSp>
      <p:grpSp>
        <p:nvGrpSpPr>
          <p:cNvPr name="Group 7" id="7"/>
          <p:cNvGrpSpPr/>
          <p:nvPr/>
        </p:nvGrpSpPr>
        <p:grpSpPr>
          <a:xfrm rot="0">
            <a:off x="-246165" y="7730909"/>
            <a:ext cx="19048322" cy="2379479"/>
            <a:chOff x="0" y="0"/>
            <a:chExt cx="5016842" cy="626694"/>
          </a:xfrm>
        </p:grpSpPr>
        <p:sp>
          <p:nvSpPr>
            <p:cNvPr name="Freeform 8" id="8"/>
            <p:cNvSpPr/>
            <p:nvPr/>
          </p:nvSpPr>
          <p:spPr>
            <a:xfrm flipH="false" flipV="false" rot="0">
              <a:off x="0" y="0"/>
              <a:ext cx="5016842" cy="626694"/>
            </a:xfrm>
            <a:custGeom>
              <a:avLst/>
              <a:gdLst/>
              <a:ahLst/>
              <a:cxnLst/>
              <a:rect r="r" b="b" t="t" l="l"/>
              <a:pathLst>
                <a:path h="626694" w="5016842">
                  <a:moveTo>
                    <a:pt x="0" y="0"/>
                  </a:moveTo>
                  <a:lnTo>
                    <a:pt x="5016842" y="0"/>
                  </a:lnTo>
                  <a:lnTo>
                    <a:pt x="5016842" y="626694"/>
                  </a:lnTo>
                  <a:lnTo>
                    <a:pt x="0" y="626694"/>
                  </a:lnTo>
                  <a:close/>
                </a:path>
              </a:pathLst>
            </a:custGeom>
            <a:solidFill>
              <a:srgbClr val="1C5739"/>
            </a:solidFill>
          </p:spPr>
        </p:sp>
        <p:sp>
          <p:nvSpPr>
            <p:cNvPr name="TextBox 9" id="9"/>
            <p:cNvSpPr txBox="true"/>
            <p:nvPr/>
          </p:nvSpPr>
          <p:spPr>
            <a:xfrm>
              <a:off x="0" y="-19050"/>
              <a:ext cx="5016842" cy="645744"/>
            </a:xfrm>
            <a:prstGeom prst="rect">
              <a:avLst/>
            </a:prstGeom>
          </p:spPr>
          <p:txBody>
            <a:bodyPr anchor="ctr" rtlCol="false" tIns="50800" lIns="50800" bIns="50800" rIns="50800"/>
            <a:lstStyle/>
            <a:p>
              <a:pPr algn="ctr">
                <a:lnSpc>
                  <a:spcPts val="2859"/>
                </a:lnSpc>
              </a:pPr>
            </a:p>
          </p:txBody>
        </p:sp>
      </p:grpSp>
      <p:sp>
        <p:nvSpPr>
          <p:cNvPr name="Freeform 10" id="10"/>
          <p:cNvSpPr/>
          <p:nvPr/>
        </p:nvSpPr>
        <p:spPr>
          <a:xfrm flipH="false" flipV="false" rot="0">
            <a:off x="16253992" y="8182721"/>
            <a:ext cx="4116356" cy="4116356"/>
          </a:xfrm>
          <a:custGeom>
            <a:avLst/>
            <a:gdLst/>
            <a:ahLst/>
            <a:cxnLst/>
            <a:rect r="r" b="b" t="t" l="l"/>
            <a:pathLst>
              <a:path h="4116356" w="4116356">
                <a:moveTo>
                  <a:pt x="0" y="0"/>
                </a:moveTo>
                <a:lnTo>
                  <a:pt x="4116356" y="0"/>
                </a:lnTo>
                <a:lnTo>
                  <a:pt x="4116356" y="4116355"/>
                </a:lnTo>
                <a:lnTo>
                  <a:pt x="0" y="41163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20542" y="7024288"/>
            <a:ext cx="3256087" cy="3256087"/>
          </a:xfrm>
          <a:custGeom>
            <a:avLst/>
            <a:gdLst/>
            <a:ahLst/>
            <a:cxnLst/>
            <a:rect r="r" b="b" t="t" l="l"/>
            <a:pathLst>
              <a:path h="3256087" w="3256087">
                <a:moveTo>
                  <a:pt x="0" y="0"/>
                </a:moveTo>
                <a:lnTo>
                  <a:pt x="3256087" y="0"/>
                </a:lnTo>
                <a:lnTo>
                  <a:pt x="3256087" y="3256086"/>
                </a:lnTo>
                <a:lnTo>
                  <a:pt x="0" y="32560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5949486" y="9596403"/>
            <a:ext cx="6657022" cy="382855"/>
          </a:xfrm>
          <a:prstGeom prst="rect">
            <a:avLst/>
          </a:prstGeom>
        </p:spPr>
        <p:txBody>
          <a:bodyPr anchor="t" rtlCol="false" tIns="0" lIns="0" bIns="0" rIns="0">
            <a:spAutoFit/>
          </a:bodyPr>
          <a:lstStyle/>
          <a:p>
            <a:pPr algn="l">
              <a:lnSpc>
                <a:spcPts val="3185"/>
              </a:lnSpc>
            </a:pPr>
            <a:r>
              <a:rPr lang="en-US" sz="2291" b="true">
                <a:solidFill>
                  <a:srgbClr val="FFFFFF"/>
                </a:solidFill>
                <a:latin typeface="DM Sans Bold"/>
                <a:ea typeface="DM Sans Bold"/>
                <a:cs typeface="DM Sans Bold"/>
                <a:sym typeface="DM Sans Bold"/>
              </a:rPr>
              <a:t>IT22248794  |  Gehan Fonseka  |  R26-IT-082</a:t>
            </a:r>
          </a:p>
        </p:txBody>
      </p:sp>
      <p:sp>
        <p:nvSpPr>
          <p:cNvPr name="TextBox 13" id="13"/>
          <p:cNvSpPr txBox="true"/>
          <p:nvPr/>
        </p:nvSpPr>
        <p:spPr>
          <a:xfrm rot="0">
            <a:off x="14607834" y="9672603"/>
            <a:ext cx="1653540" cy="327953"/>
          </a:xfrm>
          <a:prstGeom prst="rect">
            <a:avLst/>
          </a:prstGeom>
        </p:spPr>
        <p:txBody>
          <a:bodyPr anchor="t" rtlCol="false" tIns="0" lIns="0" bIns="0" rIns="0">
            <a:spAutoFit/>
          </a:bodyPr>
          <a:lstStyle/>
          <a:p>
            <a:pPr algn="ctr">
              <a:lnSpc>
                <a:spcPts val="2411"/>
              </a:lnSpc>
              <a:spcBef>
                <a:spcPct val="0"/>
              </a:spcBef>
            </a:pPr>
            <a:r>
              <a:rPr lang="en-US" sz="2411">
                <a:solidFill>
                  <a:srgbClr val="FFFFFF"/>
                </a:solidFill>
                <a:latin typeface="DM Sans"/>
                <a:ea typeface="DM Sans"/>
                <a:cs typeface="DM Sans"/>
                <a:sym typeface="DM Sans"/>
              </a:rPr>
              <a:t>20</a:t>
            </a:r>
            <a:r>
              <a:rPr lang="en-US" sz="2411">
                <a:solidFill>
                  <a:srgbClr val="FFFFFF"/>
                </a:solidFill>
                <a:latin typeface="DM Sans"/>
                <a:ea typeface="DM Sans"/>
                <a:cs typeface="DM Sans"/>
                <a:sym typeface="DM Sans"/>
              </a:rPr>
              <a:t>/10/2026</a:t>
            </a:r>
          </a:p>
        </p:txBody>
      </p:sp>
      <p:grpSp>
        <p:nvGrpSpPr>
          <p:cNvPr name="Group 14" id="14"/>
          <p:cNvGrpSpPr/>
          <p:nvPr/>
        </p:nvGrpSpPr>
        <p:grpSpPr>
          <a:xfrm rot="0">
            <a:off x="1028700" y="2520151"/>
            <a:ext cx="14312967" cy="2326958"/>
            <a:chOff x="0" y="0"/>
            <a:chExt cx="5260022" cy="855091"/>
          </a:xfrm>
        </p:grpSpPr>
        <p:sp>
          <p:nvSpPr>
            <p:cNvPr name="Freeform 15" id="15"/>
            <p:cNvSpPr/>
            <p:nvPr/>
          </p:nvSpPr>
          <p:spPr>
            <a:xfrm flipH="false" flipV="false" rot="0">
              <a:off x="0" y="0"/>
              <a:ext cx="5260022" cy="855091"/>
            </a:xfrm>
            <a:custGeom>
              <a:avLst/>
              <a:gdLst/>
              <a:ahLst/>
              <a:cxnLst/>
              <a:rect r="r" b="b" t="t" l="l"/>
              <a:pathLst>
                <a:path h="855091" w="5260022">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sp>
        <p:sp>
          <p:nvSpPr>
            <p:cNvPr name="TextBox 16" id="16"/>
            <p:cNvSpPr txBox="true"/>
            <p:nvPr/>
          </p:nvSpPr>
          <p:spPr>
            <a:xfrm>
              <a:off x="0" y="-19050"/>
              <a:ext cx="5260022" cy="874141"/>
            </a:xfrm>
            <a:prstGeom prst="rect">
              <a:avLst/>
            </a:prstGeom>
          </p:spPr>
          <p:txBody>
            <a:bodyPr anchor="ctr" rtlCol="false" tIns="50800" lIns="50800" bIns="50800" rIns="50800"/>
            <a:lstStyle/>
            <a:p>
              <a:pPr algn="ctr">
                <a:lnSpc>
                  <a:spcPts val="2859"/>
                </a:lnSpc>
              </a:pPr>
            </a:p>
          </p:txBody>
        </p:sp>
      </p:grpSp>
      <p:sp>
        <p:nvSpPr>
          <p:cNvPr name="TextBox 17" id="17"/>
          <p:cNvSpPr txBox="true"/>
          <p:nvPr/>
        </p:nvSpPr>
        <p:spPr>
          <a:xfrm rot="0">
            <a:off x="1432672" y="2733560"/>
            <a:ext cx="13742441" cy="1707126"/>
          </a:xfrm>
          <a:prstGeom prst="rect">
            <a:avLst/>
          </a:prstGeom>
        </p:spPr>
        <p:txBody>
          <a:bodyPr anchor="t" rtlCol="false" tIns="0" lIns="0" bIns="0" rIns="0">
            <a:spAutoFit/>
          </a:bodyPr>
          <a:lstStyle/>
          <a:p>
            <a:pPr algn="l">
              <a:lnSpc>
                <a:spcPts val="2745"/>
              </a:lnSpc>
            </a:pPr>
            <a:r>
              <a:rPr lang="en-US" sz="1989" spc="194" b="true">
                <a:solidFill>
                  <a:srgbClr val="231F20"/>
                </a:solidFill>
                <a:latin typeface="Open Sauce Bold"/>
                <a:ea typeface="Open Sauce Bold"/>
                <a:cs typeface="Open Sauce Bold"/>
                <a:sym typeface="Open Sauce Bold"/>
              </a:rPr>
              <a:t>Brief Description:</a:t>
            </a:r>
          </a:p>
          <a:p>
            <a:pPr algn="l">
              <a:lnSpc>
                <a:spcPts val="2745"/>
              </a:lnSpc>
            </a:pPr>
          </a:p>
          <a:p>
            <a:pPr algn="l" marL="0" indent="0" lvl="0">
              <a:lnSpc>
                <a:spcPts val="2745"/>
              </a:lnSpc>
              <a:spcBef>
                <a:spcPct val="0"/>
              </a:spcBef>
            </a:pPr>
            <a:r>
              <a:rPr lang="en-US" sz="1989" spc="194">
                <a:solidFill>
                  <a:srgbClr val="231F20"/>
                </a:solidFill>
                <a:latin typeface="Open Sauce"/>
                <a:ea typeface="Open Sauce"/>
                <a:cs typeface="Open Sauce"/>
                <a:sym typeface="Open Sauce"/>
              </a:rPr>
              <a:t>This component predicts the risk of newly hired employees leaving an organization early. It identifies important factors that may influence employee retention and provides clear explanations to help recruiters understand potential hiring risks.</a:t>
            </a:r>
          </a:p>
        </p:txBody>
      </p:sp>
      <p:grpSp>
        <p:nvGrpSpPr>
          <p:cNvPr name="Group 18" id="18"/>
          <p:cNvGrpSpPr/>
          <p:nvPr/>
        </p:nvGrpSpPr>
        <p:grpSpPr>
          <a:xfrm rot="0">
            <a:off x="1028700" y="5130292"/>
            <a:ext cx="14348091" cy="2326958"/>
            <a:chOff x="0" y="0"/>
            <a:chExt cx="5272930" cy="855091"/>
          </a:xfrm>
        </p:grpSpPr>
        <p:sp>
          <p:nvSpPr>
            <p:cNvPr name="Freeform 19" id="19"/>
            <p:cNvSpPr/>
            <p:nvPr/>
          </p:nvSpPr>
          <p:spPr>
            <a:xfrm flipH="false" flipV="false" rot="0">
              <a:off x="0" y="0"/>
              <a:ext cx="5272930" cy="855091"/>
            </a:xfrm>
            <a:custGeom>
              <a:avLst/>
              <a:gdLst/>
              <a:ahLst/>
              <a:cxnLst/>
              <a:rect r="r" b="b" t="t" l="l"/>
              <a:pathLst>
                <a:path h="855091" w="5272930">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sp>
        <p:sp>
          <p:nvSpPr>
            <p:cNvPr name="TextBox 20" id="20"/>
            <p:cNvSpPr txBox="true"/>
            <p:nvPr/>
          </p:nvSpPr>
          <p:spPr>
            <a:xfrm>
              <a:off x="0" y="-19050"/>
              <a:ext cx="5272930" cy="874141"/>
            </a:xfrm>
            <a:prstGeom prst="rect">
              <a:avLst/>
            </a:prstGeom>
          </p:spPr>
          <p:txBody>
            <a:bodyPr anchor="ctr" rtlCol="false" tIns="50800" lIns="50800" bIns="50800" rIns="50800"/>
            <a:lstStyle/>
            <a:p>
              <a:pPr algn="ctr">
                <a:lnSpc>
                  <a:spcPts val="2859"/>
                </a:lnSpc>
              </a:pPr>
            </a:p>
          </p:txBody>
        </p:sp>
      </p:grpSp>
      <p:sp>
        <p:nvSpPr>
          <p:cNvPr name="TextBox 21" id="21"/>
          <p:cNvSpPr txBox="true"/>
          <p:nvPr/>
        </p:nvSpPr>
        <p:spPr>
          <a:xfrm rot="0">
            <a:off x="1432672" y="5326456"/>
            <a:ext cx="13742441" cy="1364457"/>
          </a:xfrm>
          <a:prstGeom prst="rect">
            <a:avLst/>
          </a:prstGeom>
        </p:spPr>
        <p:txBody>
          <a:bodyPr anchor="t" rtlCol="false" tIns="0" lIns="0" bIns="0" rIns="0">
            <a:spAutoFit/>
          </a:bodyPr>
          <a:lstStyle/>
          <a:p>
            <a:pPr algn="l">
              <a:lnSpc>
                <a:spcPts val="2731"/>
              </a:lnSpc>
            </a:pPr>
            <a:r>
              <a:rPr lang="en-US" sz="1979" spc="193" b="true">
                <a:solidFill>
                  <a:srgbClr val="231F20"/>
                </a:solidFill>
                <a:latin typeface="Open Sauce Bold"/>
                <a:ea typeface="Open Sauce Bold"/>
                <a:cs typeface="Open Sauce Bold"/>
                <a:sym typeface="Open Sauce Bold"/>
              </a:rPr>
              <a:t>How It Fits the Whole Solution:</a:t>
            </a:r>
          </a:p>
          <a:p>
            <a:pPr algn="l">
              <a:lnSpc>
                <a:spcPts val="2731"/>
              </a:lnSpc>
            </a:pPr>
          </a:p>
          <a:p>
            <a:pPr algn="l" marL="0" indent="0" lvl="0">
              <a:lnSpc>
                <a:spcPts val="2731"/>
              </a:lnSpc>
              <a:spcBef>
                <a:spcPct val="0"/>
              </a:spcBef>
            </a:pPr>
            <a:r>
              <a:rPr lang="en-US" sz="1979" spc="193">
                <a:solidFill>
                  <a:srgbClr val="231F20"/>
                </a:solidFill>
                <a:latin typeface="Open Sauce"/>
                <a:ea typeface="Open Sauce"/>
                <a:cs typeface="Open Sauce"/>
                <a:sym typeface="Open Sauce"/>
              </a:rPr>
              <a:t>This component supports better long-term hiring decisions by helping organizations identify potential retention risks and improve workforce planning.</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46165" y="7730909"/>
            <a:ext cx="19048322" cy="2379479"/>
            <a:chOff x="0" y="0"/>
            <a:chExt cx="5016842" cy="626694"/>
          </a:xfrm>
        </p:grpSpPr>
        <p:sp>
          <p:nvSpPr>
            <p:cNvPr name="Freeform 4" id="4"/>
            <p:cNvSpPr/>
            <p:nvPr/>
          </p:nvSpPr>
          <p:spPr>
            <a:xfrm flipH="false" flipV="false" rot="0">
              <a:off x="0" y="0"/>
              <a:ext cx="5016842" cy="626694"/>
            </a:xfrm>
            <a:custGeom>
              <a:avLst/>
              <a:gdLst/>
              <a:ahLst/>
              <a:cxnLst/>
              <a:rect r="r" b="b" t="t" l="l"/>
              <a:pathLst>
                <a:path h="626694" w="5016842">
                  <a:moveTo>
                    <a:pt x="0" y="0"/>
                  </a:moveTo>
                  <a:lnTo>
                    <a:pt x="5016842" y="0"/>
                  </a:lnTo>
                  <a:lnTo>
                    <a:pt x="5016842" y="626694"/>
                  </a:lnTo>
                  <a:lnTo>
                    <a:pt x="0" y="626694"/>
                  </a:lnTo>
                  <a:close/>
                </a:path>
              </a:pathLst>
            </a:custGeom>
            <a:solidFill>
              <a:srgbClr val="1C5739"/>
            </a:solidFill>
          </p:spPr>
        </p:sp>
        <p:sp>
          <p:nvSpPr>
            <p:cNvPr name="TextBox 5" id="5"/>
            <p:cNvSpPr txBox="true"/>
            <p:nvPr/>
          </p:nvSpPr>
          <p:spPr>
            <a:xfrm>
              <a:off x="0" y="-19050"/>
              <a:ext cx="5016842" cy="645744"/>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6253992" y="8182721"/>
            <a:ext cx="4116356" cy="4116356"/>
          </a:xfrm>
          <a:custGeom>
            <a:avLst/>
            <a:gdLst/>
            <a:ahLst/>
            <a:cxnLst/>
            <a:rect r="r" b="b" t="t" l="l"/>
            <a:pathLst>
              <a:path h="4116356" w="4116356">
                <a:moveTo>
                  <a:pt x="0" y="0"/>
                </a:moveTo>
                <a:lnTo>
                  <a:pt x="4116356" y="0"/>
                </a:lnTo>
                <a:lnTo>
                  <a:pt x="4116356" y="4116355"/>
                </a:lnTo>
                <a:lnTo>
                  <a:pt x="0" y="41163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320542" y="7024288"/>
            <a:ext cx="3256087" cy="3256087"/>
          </a:xfrm>
          <a:custGeom>
            <a:avLst/>
            <a:gdLst/>
            <a:ahLst/>
            <a:cxnLst/>
            <a:rect r="r" b="b" t="t" l="l"/>
            <a:pathLst>
              <a:path h="3256087" w="3256087">
                <a:moveTo>
                  <a:pt x="0" y="0"/>
                </a:moveTo>
                <a:lnTo>
                  <a:pt x="3256087" y="0"/>
                </a:lnTo>
                <a:lnTo>
                  <a:pt x="3256087" y="3256086"/>
                </a:lnTo>
                <a:lnTo>
                  <a:pt x="0" y="32560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5469728" y="51129"/>
            <a:ext cx="2627017" cy="2641057"/>
            <a:chOff x="0" y="0"/>
            <a:chExt cx="4598226" cy="4622800"/>
          </a:xfrm>
        </p:grpSpPr>
        <p:sp>
          <p:nvSpPr>
            <p:cNvPr name="Freeform 9" id="9"/>
            <p:cNvSpPr/>
            <p:nvPr/>
          </p:nvSpPr>
          <p:spPr>
            <a:xfrm flipH="false" flipV="false" rot="0">
              <a:off x="25400" y="25400"/>
              <a:ext cx="4547362" cy="4572000"/>
            </a:xfrm>
            <a:custGeom>
              <a:avLst/>
              <a:gdLst/>
              <a:ahLst/>
              <a:cxnLst/>
              <a:rect r="r" b="b" t="t" l="l"/>
              <a:pathLst>
                <a:path h="4572000" w="4547362">
                  <a:moveTo>
                    <a:pt x="0" y="0"/>
                  </a:moveTo>
                  <a:lnTo>
                    <a:pt x="4547362" y="0"/>
                  </a:lnTo>
                  <a:lnTo>
                    <a:pt x="4547362" y="4572000"/>
                  </a:lnTo>
                  <a:lnTo>
                    <a:pt x="0" y="4572000"/>
                  </a:lnTo>
                  <a:close/>
                </a:path>
              </a:pathLst>
            </a:custGeom>
            <a:blipFill>
              <a:blip r:embed="rId5"/>
              <a:stretch>
                <a:fillRect l="-80431" t="-555" r="-80432" b="-555"/>
              </a:stretch>
            </a:blipFill>
          </p:spPr>
        </p:sp>
        <p:sp>
          <p:nvSpPr>
            <p:cNvPr name="Freeform 10" id="10"/>
            <p:cNvSpPr/>
            <p:nvPr/>
          </p:nvSpPr>
          <p:spPr>
            <a:xfrm flipH="false" flipV="false" rot="0">
              <a:off x="0" y="0"/>
              <a:ext cx="4598162" cy="4622800"/>
            </a:xfrm>
            <a:custGeom>
              <a:avLst/>
              <a:gdLst/>
              <a:ahLst/>
              <a:cxnLst/>
              <a:rect r="r" b="b" t="t" l="l"/>
              <a:pathLst>
                <a:path h="4622800" w="4598162">
                  <a:moveTo>
                    <a:pt x="25400" y="0"/>
                  </a:moveTo>
                  <a:lnTo>
                    <a:pt x="4572762" y="0"/>
                  </a:lnTo>
                  <a:cubicBezTo>
                    <a:pt x="4586732" y="0"/>
                    <a:pt x="4598162" y="11430"/>
                    <a:pt x="4598162" y="25400"/>
                  </a:cubicBezTo>
                  <a:lnTo>
                    <a:pt x="4598162" y="4597400"/>
                  </a:lnTo>
                  <a:cubicBezTo>
                    <a:pt x="4598162" y="4611370"/>
                    <a:pt x="4586732" y="4622800"/>
                    <a:pt x="4572762" y="4622800"/>
                  </a:cubicBezTo>
                  <a:lnTo>
                    <a:pt x="25400" y="4622800"/>
                  </a:lnTo>
                  <a:cubicBezTo>
                    <a:pt x="11430" y="4622800"/>
                    <a:pt x="0" y="4611370"/>
                    <a:pt x="0" y="4597400"/>
                  </a:cubicBezTo>
                  <a:lnTo>
                    <a:pt x="0" y="25400"/>
                  </a:lnTo>
                  <a:cubicBezTo>
                    <a:pt x="0" y="11430"/>
                    <a:pt x="11430" y="0"/>
                    <a:pt x="25400" y="0"/>
                  </a:cubicBezTo>
                  <a:moveTo>
                    <a:pt x="25400" y="50800"/>
                  </a:moveTo>
                  <a:lnTo>
                    <a:pt x="25400" y="25400"/>
                  </a:lnTo>
                  <a:lnTo>
                    <a:pt x="50800" y="25400"/>
                  </a:lnTo>
                  <a:lnTo>
                    <a:pt x="50800" y="4597400"/>
                  </a:lnTo>
                  <a:lnTo>
                    <a:pt x="25400" y="4597400"/>
                  </a:lnTo>
                  <a:lnTo>
                    <a:pt x="25400" y="4572000"/>
                  </a:lnTo>
                  <a:lnTo>
                    <a:pt x="4572762" y="4572000"/>
                  </a:lnTo>
                  <a:lnTo>
                    <a:pt x="4572762" y="4597400"/>
                  </a:lnTo>
                  <a:lnTo>
                    <a:pt x="4547362" y="4597400"/>
                  </a:lnTo>
                  <a:lnTo>
                    <a:pt x="4547362" y="25400"/>
                  </a:lnTo>
                  <a:lnTo>
                    <a:pt x="4572762" y="25400"/>
                  </a:lnTo>
                  <a:lnTo>
                    <a:pt x="4572762" y="50800"/>
                  </a:lnTo>
                  <a:lnTo>
                    <a:pt x="25400" y="50800"/>
                  </a:lnTo>
                  <a:close/>
                </a:path>
              </a:pathLst>
            </a:custGeom>
            <a:solidFill>
              <a:srgbClr val="D9D9D9"/>
            </a:solidFill>
          </p:spPr>
        </p:sp>
      </p:grpSp>
      <p:grpSp>
        <p:nvGrpSpPr>
          <p:cNvPr name="Group 11" id="11"/>
          <p:cNvGrpSpPr/>
          <p:nvPr/>
        </p:nvGrpSpPr>
        <p:grpSpPr>
          <a:xfrm rot="0">
            <a:off x="1028700" y="2453476"/>
            <a:ext cx="14312967" cy="2326958"/>
            <a:chOff x="0" y="0"/>
            <a:chExt cx="5260022" cy="855091"/>
          </a:xfrm>
        </p:grpSpPr>
        <p:sp>
          <p:nvSpPr>
            <p:cNvPr name="Freeform 12" id="12"/>
            <p:cNvSpPr/>
            <p:nvPr/>
          </p:nvSpPr>
          <p:spPr>
            <a:xfrm flipH="false" flipV="false" rot="0">
              <a:off x="0" y="0"/>
              <a:ext cx="5260022" cy="855091"/>
            </a:xfrm>
            <a:custGeom>
              <a:avLst/>
              <a:gdLst/>
              <a:ahLst/>
              <a:cxnLst/>
              <a:rect r="r" b="b" t="t" l="l"/>
              <a:pathLst>
                <a:path h="855091" w="5260022">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sp>
        <p:sp>
          <p:nvSpPr>
            <p:cNvPr name="TextBox 13" id="13"/>
            <p:cNvSpPr txBox="true"/>
            <p:nvPr/>
          </p:nvSpPr>
          <p:spPr>
            <a:xfrm>
              <a:off x="0" y="-19050"/>
              <a:ext cx="5260022" cy="874141"/>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1028700" y="5063617"/>
            <a:ext cx="14348091" cy="2326958"/>
            <a:chOff x="0" y="0"/>
            <a:chExt cx="5272930" cy="855091"/>
          </a:xfrm>
        </p:grpSpPr>
        <p:sp>
          <p:nvSpPr>
            <p:cNvPr name="Freeform 15" id="15"/>
            <p:cNvSpPr/>
            <p:nvPr/>
          </p:nvSpPr>
          <p:spPr>
            <a:xfrm flipH="false" flipV="false" rot="0">
              <a:off x="0" y="0"/>
              <a:ext cx="5272930" cy="855091"/>
            </a:xfrm>
            <a:custGeom>
              <a:avLst/>
              <a:gdLst/>
              <a:ahLst/>
              <a:cxnLst/>
              <a:rect r="r" b="b" t="t" l="l"/>
              <a:pathLst>
                <a:path h="855091" w="5272930">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sp>
        <p:sp>
          <p:nvSpPr>
            <p:cNvPr name="TextBox 16" id="16"/>
            <p:cNvSpPr txBox="true"/>
            <p:nvPr/>
          </p:nvSpPr>
          <p:spPr>
            <a:xfrm>
              <a:off x="0" y="-19050"/>
              <a:ext cx="5272930" cy="874141"/>
            </a:xfrm>
            <a:prstGeom prst="rect">
              <a:avLst/>
            </a:prstGeom>
          </p:spPr>
          <p:txBody>
            <a:bodyPr anchor="ctr" rtlCol="false" tIns="50800" lIns="50800" bIns="50800" rIns="50800"/>
            <a:lstStyle/>
            <a:p>
              <a:pPr algn="ctr">
                <a:lnSpc>
                  <a:spcPts val="2859"/>
                </a:lnSpc>
              </a:pPr>
            </a:p>
          </p:txBody>
        </p:sp>
      </p:grpSp>
      <p:sp>
        <p:nvSpPr>
          <p:cNvPr name="TextBox 17" id="17"/>
          <p:cNvSpPr txBox="true"/>
          <p:nvPr/>
        </p:nvSpPr>
        <p:spPr>
          <a:xfrm rot="0">
            <a:off x="1121636" y="400280"/>
            <a:ext cx="9926593" cy="672692"/>
          </a:xfrm>
          <a:prstGeom prst="rect">
            <a:avLst/>
          </a:prstGeom>
        </p:spPr>
        <p:txBody>
          <a:bodyPr anchor="t" rtlCol="false" tIns="0" lIns="0" bIns="0" rIns="0">
            <a:spAutoFit/>
          </a:bodyPr>
          <a:lstStyle/>
          <a:p>
            <a:pPr algn="l">
              <a:lnSpc>
                <a:spcPts val="4650"/>
              </a:lnSpc>
            </a:pPr>
            <a:r>
              <a:rPr lang="en-US" sz="6039" b="true">
                <a:solidFill>
                  <a:srgbClr val="000000"/>
                </a:solidFill>
                <a:latin typeface="Signika Bold"/>
                <a:ea typeface="Signika Bold"/>
                <a:cs typeface="Signika Bold"/>
                <a:sym typeface="Signika Bold"/>
              </a:rPr>
              <a:t>IT22226914 - Jayantha C H</a:t>
            </a:r>
          </a:p>
        </p:txBody>
      </p:sp>
      <p:sp>
        <p:nvSpPr>
          <p:cNvPr name="TextBox 18" id="18"/>
          <p:cNvSpPr txBox="true"/>
          <p:nvPr/>
        </p:nvSpPr>
        <p:spPr>
          <a:xfrm rot="0">
            <a:off x="1121636" y="1333557"/>
            <a:ext cx="11967877" cy="575388"/>
          </a:xfrm>
          <a:prstGeom prst="rect">
            <a:avLst/>
          </a:prstGeom>
        </p:spPr>
        <p:txBody>
          <a:bodyPr anchor="t" rtlCol="false" tIns="0" lIns="0" bIns="0" rIns="0">
            <a:spAutoFit/>
          </a:bodyPr>
          <a:lstStyle/>
          <a:p>
            <a:pPr algn="l">
              <a:lnSpc>
                <a:spcPts val="4714"/>
              </a:lnSpc>
            </a:pPr>
            <a:r>
              <a:rPr lang="en-US" sz="3391" b="true">
                <a:solidFill>
                  <a:srgbClr val="449497"/>
                </a:solidFill>
                <a:latin typeface="DM Sans Bold"/>
                <a:ea typeface="DM Sans Bold"/>
                <a:cs typeface="DM Sans Bold"/>
                <a:sym typeface="DM Sans Bold"/>
              </a:rPr>
              <a:t>Intelligent Resume Parsing &amp; Skill Proficiency Analysis </a:t>
            </a:r>
          </a:p>
        </p:txBody>
      </p:sp>
      <p:sp>
        <p:nvSpPr>
          <p:cNvPr name="TextBox 19" id="19"/>
          <p:cNvSpPr txBox="true"/>
          <p:nvPr/>
        </p:nvSpPr>
        <p:spPr>
          <a:xfrm rot="0">
            <a:off x="5830984" y="9572625"/>
            <a:ext cx="7148030" cy="382855"/>
          </a:xfrm>
          <a:prstGeom prst="rect">
            <a:avLst/>
          </a:prstGeom>
        </p:spPr>
        <p:txBody>
          <a:bodyPr anchor="t" rtlCol="false" tIns="0" lIns="0" bIns="0" rIns="0">
            <a:spAutoFit/>
          </a:bodyPr>
          <a:lstStyle/>
          <a:p>
            <a:pPr algn="l">
              <a:lnSpc>
                <a:spcPts val="3185"/>
              </a:lnSpc>
            </a:pPr>
            <a:r>
              <a:rPr lang="en-US" sz="2291" b="true">
                <a:solidFill>
                  <a:srgbClr val="FFFFFF"/>
                </a:solidFill>
                <a:latin typeface="DM Sans Bold"/>
                <a:ea typeface="DM Sans Bold"/>
                <a:cs typeface="DM Sans Bold"/>
                <a:sym typeface="DM Sans Bold"/>
              </a:rPr>
              <a:t>IT22226914  |  Chamudi Jayantha  |  R26-IT-082</a:t>
            </a:r>
          </a:p>
        </p:txBody>
      </p:sp>
      <p:sp>
        <p:nvSpPr>
          <p:cNvPr name="TextBox 20" id="20"/>
          <p:cNvSpPr txBox="true"/>
          <p:nvPr/>
        </p:nvSpPr>
        <p:spPr>
          <a:xfrm rot="0">
            <a:off x="14607834" y="9672603"/>
            <a:ext cx="1653540" cy="327953"/>
          </a:xfrm>
          <a:prstGeom prst="rect">
            <a:avLst/>
          </a:prstGeom>
        </p:spPr>
        <p:txBody>
          <a:bodyPr anchor="t" rtlCol="false" tIns="0" lIns="0" bIns="0" rIns="0">
            <a:spAutoFit/>
          </a:bodyPr>
          <a:lstStyle/>
          <a:p>
            <a:pPr algn="ctr">
              <a:lnSpc>
                <a:spcPts val="2411"/>
              </a:lnSpc>
              <a:spcBef>
                <a:spcPct val="0"/>
              </a:spcBef>
            </a:pPr>
            <a:r>
              <a:rPr lang="en-US" sz="2411">
                <a:solidFill>
                  <a:srgbClr val="FFFFFF"/>
                </a:solidFill>
                <a:latin typeface="DM Sans"/>
                <a:ea typeface="DM Sans"/>
                <a:cs typeface="DM Sans"/>
                <a:sym typeface="DM Sans"/>
              </a:rPr>
              <a:t>20</a:t>
            </a:r>
            <a:r>
              <a:rPr lang="en-US" sz="2411">
                <a:solidFill>
                  <a:srgbClr val="FFFFFF"/>
                </a:solidFill>
                <a:latin typeface="DM Sans"/>
                <a:ea typeface="DM Sans"/>
                <a:cs typeface="DM Sans"/>
                <a:sym typeface="DM Sans"/>
              </a:rPr>
              <a:t>/10/2026</a:t>
            </a:r>
          </a:p>
        </p:txBody>
      </p:sp>
      <p:sp>
        <p:nvSpPr>
          <p:cNvPr name="TextBox 21" id="21"/>
          <p:cNvSpPr txBox="true"/>
          <p:nvPr/>
        </p:nvSpPr>
        <p:spPr>
          <a:xfrm rot="0">
            <a:off x="1432672" y="2666885"/>
            <a:ext cx="13742441" cy="1707126"/>
          </a:xfrm>
          <a:prstGeom prst="rect">
            <a:avLst/>
          </a:prstGeom>
        </p:spPr>
        <p:txBody>
          <a:bodyPr anchor="t" rtlCol="false" tIns="0" lIns="0" bIns="0" rIns="0">
            <a:spAutoFit/>
          </a:bodyPr>
          <a:lstStyle/>
          <a:p>
            <a:pPr algn="l">
              <a:lnSpc>
                <a:spcPts val="2745"/>
              </a:lnSpc>
            </a:pPr>
            <a:r>
              <a:rPr lang="en-US" sz="1989" spc="194" b="true">
                <a:solidFill>
                  <a:srgbClr val="231F20"/>
                </a:solidFill>
                <a:latin typeface="Open Sauce Bold"/>
                <a:ea typeface="Open Sauce Bold"/>
                <a:cs typeface="Open Sauce Bold"/>
                <a:sym typeface="Open Sauce Bold"/>
              </a:rPr>
              <a:t>Brief Description:</a:t>
            </a:r>
          </a:p>
          <a:p>
            <a:pPr algn="l">
              <a:lnSpc>
                <a:spcPts val="2745"/>
              </a:lnSpc>
            </a:pPr>
          </a:p>
          <a:p>
            <a:pPr algn="l" marL="0" indent="0" lvl="0">
              <a:lnSpc>
                <a:spcPts val="2745"/>
              </a:lnSpc>
              <a:spcBef>
                <a:spcPct val="0"/>
              </a:spcBef>
            </a:pPr>
            <a:r>
              <a:rPr lang="en-US" sz="1989" spc="194">
                <a:solidFill>
                  <a:srgbClr val="231F20"/>
                </a:solidFill>
                <a:latin typeface="Open Sauce"/>
                <a:ea typeface="Open Sauce"/>
                <a:cs typeface="Open Sauce"/>
                <a:sym typeface="Open Sauce"/>
              </a:rPr>
              <a:t>This component automatically reads resumes, identifies candidates’ skills, and evaluates their proficiency as Beginner, Intermediate, or Advanced based on work experience, projects, and qualifications. It also provides clear explanations for each assessment.</a:t>
            </a:r>
          </a:p>
        </p:txBody>
      </p:sp>
      <p:sp>
        <p:nvSpPr>
          <p:cNvPr name="TextBox 22" id="22"/>
          <p:cNvSpPr txBox="true"/>
          <p:nvPr/>
        </p:nvSpPr>
        <p:spPr>
          <a:xfrm rot="0">
            <a:off x="1432672" y="5259781"/>
            <a:ext cx="13742441" cy="1707357"/>
          </a:xfrm>
          <a:prstGeom prst="rect">
            <a:avLst/>
          </a:prstGeom>
        </p:spPr>
        <p:txBody>
          <a:bodyPr anchor="t" rtlCol="false" tIns="0" lIns="0" bIns="0" rIns="0">
            <a:spAutoFit/>
          </a:bodyPr>
          <a:lstStyle/>
          <a:p>
            <a:pPr algn="l">
              <a:lnSpc>
                <a:spcPts val="2731"/>
              </a:lnSpc>
            </a:pPr>
            <a:r>
              <a:rPr lang="en-US" sz="1979" spc="193" b="true">
                <a:solidFill>
                  <a:srgbClr val="231F20"/>
                </a:solidFill>
                <a:latin typeface="Open Sauce Bold"/>
                <a:ea typeface="Open Sauce Bold"/>
                <a:cs typeface="Open Sauce Bold"/>
                <a:sym typeface="Open Sauce Bold"/>
              </a:rPr>
              <a:t>How It Fits the Whole Solution:</a:t>
            </a:r>
          </a:p>
          <a:p>
            <a:pPr algn="l">
              <a:lnSpc>
                <a:spcPts val="2731"/>
              </a:lnSpc>
            </a:pPr>
          </a:p>
          <a:p>
            <a:pPr algn="l" marL="0" indent="0" lvl="0">
              <a:lnSpc>
                <a:spcPts val="2731"/>
              </a:lnSpc>
              <a:spcBef>
                <a:spcPct val="0"/>
              </a:spcBef>
            </a:pPr>
            <a:r>
              <a:rPr lang="en-US" sz="1979" spc="193">
                <a:solidFill>
                  <a:srgbClr val="231F20"/>
                </a:solidFill>
                <a:latin typeface="Open Sauce"/>
                <a:ea typeface="Open Sauce"/>
                <a:cs typeface="Open Sauce"/>
                <a:sym typeface="Open Sauce"/>
              </a:rPr>
              <a:t>As the first stage of the Talent AI system, this component creates detailed candidate profiles that support job matching, interview evaluation, and hiring risk analysis, helping recruiters make faster, fairer, and more informed hiring decisions.</a:t>
            </a:r>
          </a:p>
        </p:txBody>
      </p:sp>
      <p:grpSp>
        <p:nvGrpSpPr>
          <p:cNvPr name="Group 23" id="23"/>
          <p:cNvGrpSpPr/>
          <p:nvPr/>
        </p:nvGrpSpPr>
        <p:grpSpPr>
          <a:xfrm rot="0">
            <a:off x="15469728" y="79704"/>
            <a:ext cx="2627017" cy="2641057"/>
            <a:chOff x="0" y="0"/>
            <a:chExt cx="4598226" cy="4622800"/>
          </a:xfrm>
        </p:grpSpPr>
        <p:sp>
          <p:nvSpPr>
            <p:cNvPr name="Freeform 24" id="24"/>
            <p:cNvSpPr/>
            <p:nvPr/>
          </p:nvSpPr>
          <p:spPr>
            <a:xfrm flipH="false" flipV="false" rot="0">
              <a:off x="25400" y="25400"/>
              <a:ext cx="4547362" cy="4572000"/>
            </a:xfrm>
            <a:custGeom>
              <a:avLst/>
              <a:gdLst/>
              <a:ahLst/>
              <a:cxnLst/>
              <a:rect r="r" b="b" t="t" l="l"/>
              <a:pathLst>
                <a:path h="4572000" w="4547362">
                  <a:moveTo>
                    <a:pt x="0" y="0"/>
                  </a:moveTo>
                  <a:lnTo>
                    <a:pt x="4547362" y="0"/>
                  </a:lnTo>
                  <a:lnTo>
                    <a:pt x="4547362" y="4572000"/>
                  </a:lnTo>
                  <a:lnTo>
                    <a:pt x="0" y="4572000"/>
                  </a:lnTo>
                  <a:close/>
                </a:path>
              </a:pathLst>
            </a:custGeom>
            <a:blipFill>
              <a:blip r:embed="rId6"/>
              <a:stretch>
                <a:fillRect l="0" t="-8480" r="0" b="-33404"/>
              </a:stretch>
            </a:blipFill>
          </p:spPr>
        </p:sp>
        <p:sp>
          <p:nvSpPr>
            <p:cNvPr name="Freeform 25" id="25"/>
            <p:cNvSpPr/>
            <p:nvPr/>
          </p:nvSpPr>
          <p:spPr>
            <a:xfrm flipH="false" flipV="false" rot="0">
              <a:off x="0" y="0"/>
              <a:ext cx="4598162" cy="4622800"/>
            </a:xfrm>
            <a:custGeom>
              <a:avLst/>
              <a:gdLst/>
              <a:ahLst/>
              <a:cxnLst/>
              <a:rect r="r" b="b" t="t" l="l"/>
              <a:pathLst>
                <a:path h="4622800" w="4598162">
                  <a:moveTo>
                    <a:pt x="25400" y="0"/>
                  </a:moveTo>
                  <a:lnTo>
                    <a:pt x="4572762" y="0"/>
                  </a:lnTo>
                  <a:cubicBezTo>
                    <a:pt x="4586732" y="0"/>
                    <a:pt x="4598162" y="11430"/>
                    <a:pt x="4598162" y="25400"/>
                  </a:cubicBezTo>
                  <a:lnTo>
                    <a:pt x="4598162" y="4597400"/>
                  </a:lnTo>
                  <a:cubicBezTo>
                    <a:pt x="4598162" y="4611370"/>
                    <a:pt x="4586732" y="4622800"/>
                    <a:pt x="4572762" y="4622800"/>
                  </a:cubicBezTo>
                  <a:lnTo>
                    <a:pt x="25400" y="4622800"/>
                  </a:lnTo>
                  <a:cubicBezTo>
                    <a:pt x="11430" y="4622800"/>
                    <a:pt x="0" y="4611370"/>
                    <a:pt x="0" y="4597400"/>
                  </a:cubicBezTo>
                  <a:lnTo>
                    <a:pt x="0" y="25400"/>
                  </a:lnTo>
                  <a:cubicBezTo>
                    <a:pt x="0" y="11430"/>
                    <a:pt x="11430" y="0"/>
                    <a:pt x="25400" y="0"/>
                  </a:cubicBezTo>
                  <a:moveTo>
                    <a:pt x="25400" y="50800"/>
                  </a:moveTo>
                  <a:lnTo>
                    <a:pt x="25400" y="25400"/>
                  </a:lnTo>
                  <a:lnTo>
                    <a:pt x="50800" y="25400"/>
                  </a:lnTo>
                  <a:lnTo>
                    <a:pt x="50800" y="4597400"/>
                  </a:lnTo>
                  <a:lnTo>
                    <a:pt x="25400" y="4597400"/>
                  </a:lnTo>
                  <a:lnTo>
                    <a:pt x="25400" y="4572000"/>
                  </a:lnTo>
                  <a:lnTo>
                    <a:pt x="4572762" y="4572000"/>
                  </a:lnTo>
                  <a:lnTo>
                    <a:pt x="4572762" y="4597400"/>
                  </a:lnTo>
                  <a:lnTo>
                    <a:pt x="4547362" y="4597400"/>
                  </a:lnTo>
                  <a:lnTo>
                    <a:pt x="4547362" y="25400"/>
                  </a:lnTo>
                  <a:lnTo>
                    <a:pt x="4572762" y="25400"/>
                  </a:lnTo>
                  <a:lnTo>
                    <a:pt x="4572762" y="50800"/>
                  </a:lnTo>
                  <a:lnTo>
                    <a:pt x="25400" y="50800"/>
                  </a:lnTo>
                  <a:close/>
                </a:path>
              </a:pathLst>
            </a:custGeom>
            <a:solidFill>
              <a:srgbClr val="D9D9D9"/>
            </a:solid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5501787" y="114300"/>
            <a:ext cx="2569363" cy="2641057"/>
            <a:chOff x="0" y="0"/>
            <a:chExt cx="4497309" cy="4622800"/>
          </a:xfrm>
        </p:grpSpPr>
        <p:sp>
          <p:nvSpPr>
            <p:cNvPr name="Freeform 3" id="3"/>
            <p:cNvSpPr/>
            <p:nvPr/>
          </p:nvSpPr>
          <p:spPr>
            <a:xfrm flipH="false" flipV="false" rot="0">
              <a:off x="24843" y="25400"/>
              <a:ext cx="4447562" cy="4572000"/>
            </a:xfrm>
            <a:custGeom>
              <a:avLst/>
              <a:gdLst/>
              <a:ahLst/>
              <a:cxnLst/>
              <a:rect r="r" b="b" t="t" l="l"/>
              <a:pathLst>
                <a:path h="4572000" w="4447562">
                  <a:moveTo>
                    <a:pt x="0" y="0"/>
                  </a:moveTo>
                  <a:lnTo>
                    <a:pt x="4447562" y="0"/>
                  </a:lnTo>
                  <a:lnTo>
                    <a:pt x="4447562" y="4572000"/>
                  </a:lnTo>
                  <a:lnTo>
                    <a:pt x="0" y="4572000"/>
                  </a:lnTo>
                  <a:close/>
                </a:path>
              </a:pathLst>
            </a:custGeom>
            <a:blipFill>
              <a:blip r:embed="rId2"/>
              <a:stretch>
                <a:fillRect l="-558" t="-19466" r="-571" b="-75339"/>
              </a:stretch>
            </a:blipFill>
          </p:spPr>
        </p:sp>
        <p:sp>
          <p:nvSpPr>
            <p:cNvPr name="Freeform 4" id="4"/>
            <p:cNvSpPr/>
            <p:nvPr/>
          </p:nvSpPr>
          <p:spPr>
            <a:xfrm flipH="false" flipV="false" rot="0">
              <a:off x="0" y="0"/>
              <a:ext cx="4497247" cy="4622800"/>
            </a:xfrm>
            <a:custGeom>
              <a:avLst/>
              <a:gdLst/>
              <a:ahLst/>
              <a:cxnLst/>
              <a:rect r="r" b="b" t="t" l="l"/>
              <a:pathLst>
                <a:path h="4622800" w="4497247">
                  <a:moveTo>
                    <a:pt x="24843" y="0"/>
                  </a:moveTo>
                  <a:lnTo>
                    <a:pt x="4472405" y="0"/>
                  </a:lnTo>
                  <a:cubicBezTo>
                    <a:pt x="4486068" y="0"/>
                    <a:pt x="4497247" y="11430"/>
                    <a:pt x="4497247" y="25400"/>
                  </a:cubicBezTo>
                  <a:lnTo>
                    <a:pt x="4497247" y="4597400"/>
                  </a:lnTo>
                  <a:cubicBezTo>
                    <a:pt x="4497247" y="4611370"/>
                    <a:pt x="4486068" y="4622800"/>
                    <a:pt x="4472405" y="4622800"/>
                  </a:cubicBezTo>
                  <a:lnTo>
                    <a:pt x="24843" y="4622800"/>
                  </a:lnTo>
                  <a:cubicBezTo>
                    <a:pt x="11179" y="4622800"/>
                    <a:pt x="0" y="4611370"/>
                    <a:pt x="0" y="4597400"/>
                  </a:cubicBezTo>
                  <a:lnTo>
                    <a:pt x="0" y="25400"/>
                  </a:lnTo>
                  <a:cubicBezTo>
                    <a:pt x="0" y="11430"/>
                    <a:pt x="11179" y="0"/>
                    <a:pt x="24843" y="0"/>
                  </a:cubicBezTo>
                  <a:moveTo>
                    <a:pt x="24843" y="50800"/>
                  </a:moveTo>
                  <a:lnTo>
                    <a:pt x="24843" y="25400"/>
                  </a:lnTo>
                  <a:lnTo>
                    <a:pt x="49685" y="25400"/>
                  </a:lnTo>
                  <a:lnTo>
                    <a:pt x="49685" y="4597400"/>
                  </a:lnTo>
                  <a:lnTo>
                    <a:pt x="24843" y="4597400"/>
                  </a:lnTo>
                  <a:lnTo>
                    <a:pt x="24843" y="4572000"/>
                  </a:lnTo>
                  <a:lnTo>
                    <a:pt x="4472405" y="4572000"/>
                  </a:lnTo>
                  <a:lnTo>
                    <a:pt x="4472405" y="4597400"/>
                  </a:lnTo>
                  <a:lnTo>
                    <a:pt x="4447562" y="4597400"/>
                  </a:lnTo>
                  <a:lnTo>
                    <a:pt x="4447562" y="25400"/>
                  </a:lnTo>
                  <a:lnTo>
                    <a:pt x="4472405" y="25400"/>
                  </a:lnTo>
                  <a:lnTo>
                    <a:pt x="4472405" y="50800"/>
                  </a:lnTo>
                  <a:lnTo>
                    <a:pt x="24843" y="50800"/>
                  </a:lnTo>
                  <a:close/>
                </a:path>
              </a:pathLst>
            </a:custGeom>
            <a:solidFill>
              <a:srgbClr val="D9D9D9"/>
            </a:solidFill>
          </p:spPr>
        </p:sp>
      </p:grpSp>
      <p:grpSp>
        <p:nvGrpSpPr>
          <p:cNvPr name="Group 5" id="5"/>
          <p:cNvGrpSpPr/>
          <p:nvPr/>
        </p:nvGrpSpPr>
        <p:grpSpPr>
          <a:xfrm rot="0">
            <a:off x="-246165" y="7730909"/>
            <a:ext cx="19048322" cy="2379479"/>
            <a:chOff x="0" y="0"/>
            <a:chExt cx="5016842" cy="626694"/>
          </a:xfrm>
        </p:grpSpPr>
        <p:sp>
          <p:nvSpPr>
            <p:cNvPr name="Freeform 6" id="6"/>
            <p:cNvSpPr/>
            <p:nvPr/>
          </p:nvSpPr>
          <p:spPr>
            <a:xfrm flipH="false" flipV="false" rot="0">
              <a:off x="0" y="0"/>
              <a:ext cx="5016842" cy="626694"/>
            </a:xfrm>
            <a:custGeom>
              <a:avLst/>
              <a:gdLst/>
              <a:ahLst/>
              <a:cxnLst/>
              <a:rect r="r" b="b" t="t" l="l"/>
              <a:pathLst>
                <a:path h="626694" w="5016842">
                  <a:moveTo>
                    <a:pt x="0" y="0"/>
                  </a:moveTo>
                  <a:lnTo>
                    <a:pt x="5016842" y="0"/>
                  </a:lnTo>
                  <a:lnTo>
                    <a:pt x="5016842" y="626694"/>
                  </a:lnTo>
                  <a:lnTo>
                    <a:pt x="0" y="626694"/>
                  </a:lnTo>
                  <a:close/>
                </a:path>
              </a:pathLst>
            </a:custGeom>
            <a:solidFill>
              <a:srgbClr val="1C5739"/>
            </a:solidFill>
          </p:spPr>
        </p:sp>
        <p:sp>
          <p:nvSpPr>
            <p:cNvPr name="TextBox 7" id="7"/>
            <p:cNvSpPr txBox="true"/>
            <p:nvPr/>
          </p:nvSpPr>
          <p:spPr>
            <a:xfrm>
              <a:off x="0" y="-19050"/>
              <a:ext cx="5016842" cy="645744"/>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6253992" y="8182721"/>
            <a:ext cx="4116356" cy="4116356"/>
          </a:xfrm>
          <a:custGeom>
            <a:avLst/>
            <a:gdLst/>
            <a:ahLst/>
            <a:cxnLst/>
            <a:rect r="r" b="b" t="t" l="l"/>
            <a:pathLst>
              <a:path h="4116356" w="4116356">
                <a:moveTo>
                  <a:pt x="0" y="0"/>
                </a:moveTo>
                <a:lnTo>
                  <a:pt x="4116356" y="0"/>
                </a:lnTo>
                <a:lnTo>
                  <a:pt x="4116356" y="4116355"/>
                </a:lnTo>
                <a:lnTo>
                  <a:pt x="0" y="41163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320542" y="7024288"/>
            <a:ext cx="3256087" cy="3256087"/>
          </a:xfrm>
          <a:custGeom>
            <a:avLst/>
            <a:gdLst/>
            <a:ahLst/>
            <a:cxnLst/>
            <a:rect r="r" b="b" t="t" l="l"/>
            <a:pathLst>
              <a:path h="3256087" w="3256087">
                <a:moveTo>
                  <a:pt x="0" y="0"/>
                </a:moveTo>
                <a:lnTo>
                  <a:pt x="3256087" y="0"/>
                </a:lnTo>
                <a:lnTo>
                  <a:pt x="3256087" y="3256086"/>
                </a:lnTo>
                <a:lnTo>
                  <a:pt x="0" y="32560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121636" y="400280"/>
            <a:ext cx="9926593" cy="672692"/>
          </a:xfrm>
          <a:prstGeom prst="rect">
            <a:avLst/>
          </a:prstGeom>
        </p:spPr>
        <p:txBody>
          <a:bodyPr anchor="t" rtlCol="false" tIns="0" lIns="0" bIns="0" rIns="0">
            <a:spAutoFit/>
          </a:bodyPr>
          <a:lstStyle/>
          <a:p>
            <a:pPr algn="l">
              <a:lnSpc>
                <a:spcPts val="4650"/>
              </a:lnSpc>
            </a:pPr>
            <a:r>
              <a:rPr lang="en-US" sz="6039" b="true">
                <a:solidFill>
                  <a:srgbClr val="000000"/>
                </a:solidFill>
                <a:latin typeface="Signika Bold"/>
                <a:ea typeface="Signika Bold"/>
                <a:cs typeface="Signika Bold"/>
                <a:sym typeface="Signika Bold"/>
              </a:rPr>
              <a:t>IT22195616 - Deshan M A K </a:t>
            </a:r>
          </a:p>
        </p:txBody>
      </p:sp>
      <p:sp>
        <p:nvSpPr>
          <p:cNvPr name="TextBox 11" id="11"/>
          <p:cNvSpPr txBox="true"/>
          <p:nvPr/>
        </p:nvSpPr>
        <p:spPr>
          <a:xfrm rot="0">
            <a:off x="1121636" y="1278013"/>
            <a:ext cx="11967877" cy="575388"/>
          </a:xfrm>
          <a:prstGeom prst="rect">
            <a:avLst/>
          </a:prstGeom>
        </p:spPr>
        <p:txBody>
          <a:bodyPr anchor="t" rtlCol="false" tIns="0" lIns="0" bIns="0" rIns="0">
            <a:spAutoFit/>
          </a:bodyPr>
          <a:lstStyle/>
          <a:p>
            <a:pPr algn="l">
              <a:lnSpc>
                <a:spcPts val="4714"/>
              </a:lnSpc>
            </a:pPr>
            <a:r>
              <a:rPr lang="en-US" sz="3391" b="true">
                <a:solidFill>
                  <a:srgbClr val="449497"/>
                </a:solidFill>
                <a:latin typeface="DM Sans Bold"/>
                <a:ea typeface="DM Sans Bold"/>
                <a:cs typeface="DM Sans Bold"/>
                <a:sym typeface="DM Sans Bold"/>
              </a:rPr>
              <a:t>Job–Candidate Matching &amp; Explainable AI Engine</a:t>
            </a:r>
          </a:p>
        </p:txBody>
      </p:sp>
      <p:sp>
        <p:nvSpPr>
          <p:cNvPr name="TextBox 12" id="12"/>
          <p:cNvSpPr txBox="true"/>
          <p:nvPr/>
        </p:nvSpPr>
        <p:spPr>
          <a:xfrm rot="0">
            <a:off x="6126259" y="9596403"/>
            <a:ext cx="6657022" cy="382855"/>
          </a:xfrm>
          <a:prstGeom prst="rect">
            <a:avLst/>
          </a:prstGeom>
        </p:spPr>
        <p:txBody>
          <a:bodyPr anchor="t" rtlCol="false" tIns="0" lIns="0" bIns="0" rIns="0">
            <a:spAutoFit/>
          </a:bodyPr>
          <a:lstStyle/>
          <a:p>
            <a:pPr algn="l">
              <a:lnSpc>
                <a:spcPts val="3185"/>
              </a:lnSpc>
            </a:pPr>
            <a:r>
              <a:rPr lang="en-US" sz="2291" b="true">
                <a:solidFill>
                  <a:srgbClr val="FFFFFF"/>
                </a:solidFill>
                <a:latin typeface="DM Sans Bold"/>
                <a:ea typeface="DM Sans Bold"/>
                <a:cs typeface="DM Sans Bold"/>
                <a:sym typeface="DM Sans Bold"/>
              </a:rPr>
              <a:t>IT22195616  |  Deshan M A K  |  R26-IT-082</a:t>
            </a:r>
          </a:p>
        </p:txBody>
      </p:sp>
      <p:sp>
        <p:nvSpPr>
          <p:cNvPr name="TextBox 13" id="13"/>
          <p:cNvSpPr txBox="true"/>
          <p:nvPr/>
        </p:nvSpPr>
        <p:spPr>
          <a:xfrm rot="0">
            <a:off x="14607834" y="9672603"/>
            <a:ext cx="1653540" cy="327953"/>
          </a:xfrm>
          <a:prstGeom prst="rect">
            <a:avLst/>
          </a:prstGeom>
        </p:spPr>
        <p:txBody>
          <a:bodyPr anchor="t" rtlCol="false" tIns="0" lIns="0" bIns="0" rIns="0">
            <a:spAutoFit/>
          </a:bodyPr>
          <a:lstStyle/>
          <a:p>
            <a:pPr algn="ctr">
              <a:lnSpc>
                <a:spcPts val="2411"/>
              </a:lnSpc>
              <a:spcBef>
                <a:spcPct val="0"/>
              </a:spcBef>
            </a:pPr>
            <a:r>
              <a:rPr lang="en-US" sz="2411">
                <a:solidFill>
                  <a:srgbClr val="FFFFFF"/>
                </a:solidFill>
                <a:latin typeface="DM Sans"/>
                <a:ea typeface="DM Sans"/>
                <a:cs typeface="DM Sans"/>
                <a:sym typeface="DM Sans"/>
              </a:rPr>
              <a:t>20</a:t>
            </a:r>
            <a:r>
              <a:rPr lang="en-US" sz="2411">
                <a:solidFill>
                  <a:srgbClr val="FFFFFF"/>
                </a:solidFill>
                <a:latin typeface="DM Sans"/>
                <a:ea typeface="DM Sans"/>
                <a:cs typeface="DM Sans"/>
                <a:sym typeface="DM Sans"/>
              </a:rPr>
              <a:t>/10/2026</a:t>
            </a:r>
          </a:p>
        </p:txBody>
      </p:sp>
      <p:grpSp>
        <p:nvGrpSpPr>
          <p:cNvPr name="Group 14" id="14"/>
          <p:cNvGrpSpPr/>
          <p:nvPr/>
        </p:nvGrpSpPr>
        <p:grpSpPr>
          <a:xfrm rot="0">
            <a:off x="1028700" y="2501101"/>
            <a:ext cx="14312967" cy="2326958"/>
            <a:chOff x="0" y="0"/>
            <a:chExt cx="5260022" cy="855091"/>
          </a:xfrm>
        </p:grpSpPr>
        <p:sp>
          <p:nvSpPr>
            <p:cNvPr name="Freeform 15" id="15"/>
            <p:cNvSpPr/>
            <p:nvPr/>
          </p:nvSpPr>
          <p:spPr>
            <a:xfrm flipH="false" flipV="false" rot="0">
              <a:off x="0" y="0"/>
              <a:ext cx="5260022" cy="855091"/>
            </a:xfrm>
            <a:custGeom>
              <a:avLst/>
              <a:gdLst/>
              <a:ahLst/>
              <a:cxnLst/>
              <a:rect r="r" b="b" t="t" l="l"/>
              <a:pathLst>
                <a:path h="855091" w="5260022">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sp>
        <p:sp>
          <p:nvSpPr>
            <p:cNvPr name="TextBox 16" id="16"/>
            <p:cNvSpPr txBox="true"/>
            <p:nvPr/>
          </p:nvSpPr>
          <p:spPr>
            <a:xfrm>
              <a:off x="0" y="-19050"/>
              <a:ext cx="5260022" cy="874141"/>
            </a:xfrm>
            <a:prstGeom prst="rect">
              <a:avLst/>
            </a:prstGeom>
          </p:spPr>
          <p:txBody>
            <a:bodyPr anchor="ctr" rtlCol="false" tIns="50800" lIns="50800" bIns="50800" rIns="50800"/>
            <a:lstStyle/>
            <a:p>
              <a:pPr algn="ctr">
                <a:lnSpc>
                  <a:spcPts val="2859"/>
                </a:lnSpc>
              </a:pPr>
            </a:p>
          </p:txBody>
        </p:sp>
      </p:grpSp>
      <p:sp>
        <p:nvSpPr>
          <p:cNvPr name="TextBox 17" id="17"/>
          <p:cNvSpPr txBox="true"/>
          <p:nvPr/>
        </p:nvSpPr>
        <p:spPr>
          <a:xfrm rot="0">
            <a:off x="1432672" y="2714510"/>
            <a:ext cx="13742441" cy="1707126"/>
          </a:xfrm>
          <a:prstGeom prst="rect">
            <a:avLst/>
          </a:prstGeom>
        </p:spPr>
        <p:txBody>
          <a:bodyPr anchor="t" rtlCol="false" tIns="0" lIns="0" bIns="0" rIns="0">
            <a:spAutoFit/>
          </a:bodyPr>
          <a:lstStyle/>
          <a:p>
            <a:pPr algn="l">
              <a:lnSpc>
                <a:spcPts val="2745"/>
              </a:lnSpc>
            </a:pPr>
            <a:r>
              <a:rPr lang="en-US" sz="1989" spc="194" b="true">
                <a:solidFill>
                  <a:srgbClr val="231F20"/>
                </a:solidFill>
                <a:latin typeface="Open Sauce Bold"/>
                <a:ea typeface="Open Sauce Bold"/>
                <a:cs typeface="Open Sauce Bold"/>
                <a:sym typeface="Open Sauce Bold"/>
              </a:rPr>
              <a:t>Brief Description:</a:t>
            </a:r>
          </a:p>
          <a:p>
            <a:pPr algn="l">
              <a:lnSpc>
                <a:spcPts val="2745"/>
              </a:lnSpc>
            </a:pPr>
          </a:p>
          <a:p>
            <a:pPr algn="l" marL="0" indent="0" lvl="0">
              <a:lnSpc>
                <a:spcPts val="2745"/>
              </a:lnSpc>
              <a:spcBef>
                <a:spcPct val="0"/>
              </a:spcBef>
            </a:pPr>
            <a:r>
              <a:rPr lang="en-US" sz="1989" spc="194">
                <a:solidFill>
                  <a:srgbClr val="231F20"/>
                </a:solidFill>
                <a:latin typeface="Open Sauce"/>
                <a:ea typeface="Open Sauce"/>
                <a:cs typeface="Open Sauce"/>
                <a:sym typeface="Open Sauce"/>
              </a:rPr>
              <a:t>This component compares candidates’ skills, qualifications, and experience with job requirements to identify the most suitable candidates. It provides matching scores and clear explanations to help recruiters understand candidate suitability.</a:t>
            </a:r>
          </a:p>
        </p:txBody>
      </p:sp>
      <p:grpSp>
        <p:nvGrpSpPr>
          <p:cNvPr name="Group 18" id="18"/>
          <p:cNvGrpSpPr/>
          <p:nvPr/>
        </p:nvGrpSpPr>
        <p:grpSpPr>
          <a:xfrm rot="0">
            <a:off x="1028700" y="5111242"/>
            <a:ext cx="14348091" cy="2326958"/>
            <a:chOff x="0" y="0"/>
            <a:chExt cx="5272930" cy="855091"/>
          </a:xfrm>
        </p:grpSpPr>
        <p:sp>
          <p:nvSpPr>
            <p:cNvPr name="Freeform 19" id="19"/>
            <p:cNvSpPr/>
            <p:nvPr/>
          </p:nvSpPr>
          <p:spPr>
            <a:xfrm flipH="false" flipV="false" rot="0">
              <a:off x="0" y="0"/>
              <a:ext cx="5272930" cy="855091"/>
            </a:xfrm>
            <a:custGeom>
              <a:avLst/>
              <a:gdLst/>
              <a:ahLst/>
              <a:cxnLst/>
              <a:rect r="r" b="b" t="t" l="l"/>
              <a:pathLst>
                <a:path h="855091" w="5272930">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sp>
        <p:sp>
          <p:nvSpPr>
            <p:cNvPr name="TextBox 20" id="20"/>
            <p:cNvSpPr txBox="true"/>
            <p:nvPr/>
          </p:nvSpPr>
          <p:spPr>
            <a:xfrm>
              <a:off x="0" y="-19050"/>
              <a:ext cx="5272930" cy="874141"/>
            </a:xfrm>
            <a:prstGeom prst="rect">
              <a:avLst/>
            </a:prstGeom>
          </p:spPr>
          <p:txBody>
            <a:bodyPr anchor="ctr" rtlCol="false" tIns="50800" lIns="50800" bIns="50800" rIns="50800"/>
            <a:lstStyle/>
            <a:p>
              <a:pPr algn="ctr">
                <a:lnSpc>
                  <a:spcPts val="2859"/>
                </a:lnSpc>
              </a:pPr>
            </a:p>
          </p:txBody>
        </p:sp>
      </p:grpSp>
      <p:sp>
        <p:nvSpPr>
          <p:cNvPr name="TextBox 21" id="21"/>
          <p:cNvSpPr txBox="true"/>
          <p:nvPr/>
        </p:nvSpPr>
        <p:spPr>
          <a:xfrm rot="0">
            <a:off x="1432672" y="5307406"/>
            <a:ext cx="13742441" cy="1707357"/>
          </a:xfrm>
          <a:prstGeom prst="rect">
            <a:avLst/>
          </a:prstGeom>
        </p:spPr>
        <p:txBody>
          <a:bodyPr anchor="t" rtlCol="false" tIns="0" lIns="0" bIns="0" rIns="0">
            <a:spAutoFit/>
          </a:bodyPr>
          <a:lstStyle/>
          <a:p>
            <a:pPr algn="l">
              <a:lnSpc>
                <a:spcPts val="2731"/>
              </a:lnSpc>
            </a:pPr>
            <a:r>
              <a:rPr lang="en-US" sz="1979" spc="193" b="true">
                <a:solidFill>
                  <a:srgbClr val="231F20"/>
                </a:solidFill>
                <a:latin typeface="Open Sauce Bold"/>
                <a:ea typeface="Open Sauce Bold"/>
                <a:cs typeface="Open Sauce Bold"/>
                <a:sym typeface="Open Sauce Bold"/>
              </a:rPr>
              <a:t>How It Fits the Whole Solution:</a:t>
            </a:r>
          </a:p>
          <a:p>
            <a:pPr algn="l">
              <a:lnSpc>
                <a:spcPts val="2731"/>
              </a:lnSpc>
            </a:pPr>
          </a:p>
          <a:p>
            <a:pPr algn="l" marL="0" indent="0" lvl="0">
              <a:lnSpc>
                <a:spcPts val="2731"/>
              </a:lnSpc>
              <a:spcBef>
                <a:spcPct val="0"/>
              </a:spcBef>
            </a:pPr>
            <a:r>
              <a:rPr lang="en-US" sz="1979" spc="193">
                <a:solidFill>
                  <a:srgbClr val="231F20"/>
                </a:solidFill>
                <a:latin typeface="Open Sauce"/>
                <a:ea typeface="Open Sauce"/>
                <a:cs typeface="Open Sauce"/>
                <a:sym typeface="Open Sauce"/>
              </a:rPr>
              <a:t>Using the candidate profiles generated through resume analysis, this component recommends suitable jobs to candidates and helps recruiters shortlist applicants more efficiently and accurately.</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46165" y="7730909"/>
            <a:ext cx="19048322" cy="2379479"/>
            <a:chOff x="0" y="0"/>
            <a:chExt cx="5016842" cy="626694"/>
          </a:xfrm>
        </p:grpSpPr>
        <p:sp>
          <p:nvSpPr>
            <p:cNvPr name="Freeform 4" id="4"/>
            <p:cNvSpPr/>
            <p:nvPr/>
          </p:nvSpPr>
          <p:spPr>
            <a:xfrm flipH="false" flipV="false" rot="0">
              <a:off x="0" y="0"/>
              <a:ext cx="5016842" cy="626694"/>
            </a:xfrm>
            <a:custGeom>
              <a:avLst/>
              <a:gdLst/>
              <a:ahLst/>
              <a:cxnLst/>
              <a:rect r="r" b="b" t="t" l="l"/>
              <a:pathLst>
                <a:path h="626694" w="5016842">
                  <a:moveTo>
                    <a:pt x="0" y="0"/>
                  </a:moveTo>
                  <a:lnTo>
                    <a:pt x="5016842" y="0"/>
                  </a:lnTo>
                  <a:lnTo>
                    <a:pt x="5016842" y="626694"/>
                  </a:lnTo>
                  <a:lnTo>
                    <a:pt x="0" y="626694"/>
                  </a:lnTo>
                  <a:close/>
                </a:path>
              </a:pathLst>
            </a:custGeom>
            <a:solidFill>
              <a:srgbClr val="1C5739"/>
            </a:solidFill>
          </p:spPr>
        </p:sp>
        <p:sp>
          <p:nvSpPr>
            <p:cNvPr name="TextBox 5" id="5"/>
            <p:cNvSpPr txBox="true"/>
            <p:nvPr/>
          </p:nvSpPr>
          <p:spPr>
            <a:xfrm>
              <a:off x="0" y="-19050"/>
              <a:ext cx="5016842" cy="645744"/>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6253992" y="8182721"/>
            <a:ext cx="4116356" cy="4116356"/>
          </a:xfrm>
          <a:custGeom>
            <a:avLst/>
            <a:gdLst/>
            <a:ahLst/>
            <a:cxnLst/>
            <a:rect r="r" b="b" t="t" l="l"/>
            <a:pathLst>
              <a:path h="4116356" w="4116356">
                <a:moveTo>
                  <a:pt x="0" y="0"/>
                </a:moveTo>
                <a:lnTo>
                  <a:pt x="4116356" y="0"/>
                </a:lnTo>
                <a:lnTo>
                  <a:pt x="4116356" y="4116355"/>
                </a:lnTo>
                <a:lnTo>
                  <a:pt x="0" y="41163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320542" y="7024288"/>
            <a:ext cx="3256087" cy="3256087"/>
          </a:xfrm>
          <a:custGeom>
            <a:avLst/>
            <a:gdLst/>
            <a:ahLst/>
            <a:cxnLst/>
            <a:rect r="r" b="b" t="t" l="l"/>
            <a:pathLst>
              <a:path h="3256087" w="3256087">
                <a:moveTo>
                  <a:pt x="0" y="0"/>
                </a:moveTo>
                <a:lnTo>
                  <a:pt x="3256087" y="0"/>
                </a:lnTo>
                <a:lnTo>
                  <a:pt x="3256087" y="3256086"/>
                </a:lnTo>
                <a:lnTo>
                  <a:pt x="0" y="32560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558133" y="160519"/>
            <a:ext cx="2515126" cy="2641057"/>
          </a:xfrm>
          <a:custGeom>
            <a:avLst/>
            <a:gdLst/>
            <a:ahLst/>
            <a:cxnLst/>
            <a:rect r="r" b="b" t="t" l="l"/>
            <a:pathLst>
              <a:path h="2641057" w="2515126">
                <a:moveTo>
                  <a:pt x="0" y="0"/>
                </a:moveTo>
                <a:lnTo>
                  <a:pt x="2515126" y="0"/>
                </a:lnTo>
                <a:lnTo>
                  <a:pt x="2515126" y="2641057"/>
                </a:lnTo>
                <a:lnTo>
                  <a:pt x="0" y="2641057"/>
                </a:lnTo>
                <a:lnTo>
                  <a:pt x="0" y="0"/>
                </a:lnTo>
                <a:close/>
              </a:path>
            </a:pathLst>
          </a:custGeom>
          <a:blipFill>
            <a:blip r:embed="rId5"/>
            <a:stretch>
              <a:fillRect l="-8705" t="-3289" r="-747" b="-2936"/>
            </a:stretch>
          </a:blipFill>
          <a:ln w="9525" cap="sq">
            <a:solidFill>
              <a:srgbClr val="000000"/>
            </a:solidFill>
            <a:prstDash val="solid"/>
            <a:miter/>
          </a:ln>
        </p:spPr>
      </p:sp>
      <p:sp>
        <p:nvSpPr>
          <p:cNvPr name="TextBox 9" id="9"/>
          <p:cNvSpPr txBox="true"/>
          <p:nvPr/>
        </p:nvSpPr>
        <p:spPr>
          <a:xfrm rot="0">
            <a:off x="1159736" y="400280"/>
            <a:ext cx="11171374" cy="672692"/>
          </a:xfrm>
          <a:prstGeom prst="rect">
            <a:avLst/>
          </a:prstGeom>
        </p:spPr>
        <p:txBody>
          <a:bodyPr anchor="t" rtlCol="false" tIns="0" lIns="0" bIns="0" rIns="0">
            <a:spAutoFit/>
          </a:bodyPr>
          <a:lstStyle/>
          <a:p>
            <a:pPr algn="l">
              <a:lnSpc>
                <a:spcPts val="4650"/>
              </a:lnSpc>
            </a:pPr>
            <a:r>
              <a:rPr lang="en-US" sz="6039" b="true">
                <a:solidFill>
                  <a:srgbClr val="000000"/>
                </a:solidFill>
                <a:latin typeface="Signika Bold"/>
                <a:ea typeface="Signika Bold"/>
                <a:cs typeface="Signika Bold"/>
                <a:sym typeface="Signika Bold"/>
              </a:rPr>
              <a:t>IT22197832 - Tennakoon T.M.S.S</a:t>
            </a:r>
          </a:p>
        </p:txBody>
      </p:sp>
      <p:sp>
        <p:nvSpPr>
          <p:cNvPr name="TextBox 10" id="10"/>
          <p:cNvSpPr txBox="true"/>
          <p:nvPr/>
        </p:nvSpPr>
        <p:spPr>
          <a:xfrm rot="0">
            <a:off x="1121636" y="1213738"/>
            <a:ext cx="14246060" cy="575388"/>
          </a:xfrm>
          <a:prstGeom prst="rect">
            <a:avLst/>
          </a:prstGeom>
        </p:spPr>
        <p:txBody>
          <a:bodyPr anchor="t" rtlCol="false" tIns="0" lIns="0" bIns="0" rIns="0">
            <a:spAutoFit/>
          </a:bodyPr>
          <a:lstStyle/>
          <a:p>
            <a:pPr algn="l">
              <a:lnSpc>
                <a:spcPts val="4714"/>
              </a:lnSpc>
            </a:pPr>
            <a:r>
              <a:rPr lang="en-US" sz="3391" b="true">
                <a:solidFill>
                  <a:srgbClr val="449497"/>
                </a:solidFill>
                <a:latin typeface="DM Sans Bold"/>
                <a:ea typeface="DM Sans Bold"/>
                <a:cs typeface="DM Sans Bold"/>
                <a:sym typeface="DM Sans Bold"/>
              </a:rPr>
              <a:t>AI-Based Interview Evaluation &amp; Certificate Validation</a:t>
            </a:r>
          </a:p>
        </p:txBody>
      </p:sp>
      <p:sp>
        <p:nvSpPr>
          <p:cNvPr name="TextBox 11" id="11"/>
          <p:cNvSpPr txBox="true"/>
          <p:nvPr/>
        </p:nvSpPr>
        <p:spPr>
          <a:xfrm rot="0">
            <a:off x="6126259" y="9553575"/>
            <a:ext cx="6657022" cy="382855"/>
          </a:xfrm>
          <a:prstGeom prst="rect">
            <a:avLst/>
          </a:prstGeom>
        </p:spPr>
        <p:txBody>
          <a:bodyPr anchor="t" rtlCol="false" tIns="0" lIns="0" bIns="0" rIns="0">
            <a:spAutoFit/>
          </a:bodyPr>
          <a:lstStyle/>
          <a:p>
            <a:pPr algn="l">
              <a:lnSpc>
                <a:spcPts val="3185"/>
              </a:lnSpc>
            </a:pPr>
            <a:r>
              <a:rPr lang="en-US" sz="2291" b="true">
                <a:solidFill>
                  <a:srgbClr val="FFFFFF"/>
                </a:solidFill>
                <a:latin typeface="DM Sans Bold"/>
                <a:ea typeface="DM Sans Bold"/>
                <a:cs typeface="DM Sans Bold"/>
                <a:sym typeface="DM Sans Bold"/>
              </a:rPr>
              <a:t>IT22197832  |  Sajani Tennakoon  |  R26-IT-082</a:t>
            </a:r>
          </a:p>
        </p:txBody>
      </p:sp>
      <p:sp>
        <p:nvSpPr>
          <p:cNvPr name="TextBox 12" id="12"/>
          <p:cNvSpPr txBox="true"/>
          <p:nvPr/>
        </p:nvSpPr>
        <p:spPr>
          <a:xfrm rot="0">
            <a:off x="14607834" y="9672603"/>
            <a:ext cx="1653540" cy="327953"/>
          </a:xfrm>
          <a:prstGeom prst="rect">
            <a:avLst/>
          </a:prstGeom>
        </p:spPr>
        <p:txBody>
          <a:bodyPr anchor="t" rtlCol="false" tIns="0" lIns="0" bIns="0" rIns="0">
            <a:spAutoFit/>
          </a:bodyPr>
          <a:lstStyle/>
          <a:p>
            <a:pPr algn="ctr">
              <a:lnSpc>
                <a:spcPts val="2411"/>
              </a:lnSpc>
              <a:spcBef>
                <a:spcPct val="0"/>
              </a:spcBef>
            </a:pPr>
            <a:r>
              <a:rPr lang="en-US" sz="2411">
                <a:solidFill>
                  <a:srgbClr val="FFFFFF"/>
                </a:solidFill>
                <a:latin typeface="DM Sans"/>
                <a:ea typeface="DM Sans"/>
                <a:cs typeface="DM Sans"/>
                <a:sym typeface="DM Sans"/>
              </a:rPr>
              <a:t>20</a:t>
            </a:r>
            <a:r>
              <a:rPr lang="en-US" sz="2411">
                <a:solidFill>
                  <a:srgbClr val="FFFFFF"/>
                </a:solidFill>
                <a:latin typeface="DM Sans"/>
                <a:ea typeface="DM Sans"/>
                <a:cs typeface="DM Sans"/>
                <a:sym typeface="DM Sans"/>
              </a:rPr>
              <a:t>/10/2026</a:t>
            </a:r>
          </a:p>
        </p:txBody>
      </p:sp>
      <p:grpSp>
        <p:nvGrpSpPr>
          <p:cNvPr name="Group 13" id="13"/>
          <p:cNvGrpSpPr/>
          <p:nvPr/>
        </p:nvGrpSpPr>
        <p:grpSpPr>
          <a:xfrm rot="0">
            <a:off x="1028700" y="2608276"/>
            <a:ext cx="14312967" cy="2326958"/>
            <a:chOff x="0" y="0"/>
            <a:chExt cx="5260022" cy="855091"/>
          </a:xfrm>
        </p:grpSpPr>
        <p:sp>
          <p:nvSpPr>
            <p:cNvPr name="Freeform 14" id="14"/>
            <p:cNvSpPr/>
            <p:nvPr/>
          </p:nvSpPr>
          <p:spPr>
            <a:xfrm flipH="false" flipV="false" rot="0">
              <a:off x="0" y="0"/>
              <a:ext cx="5260022" cy="855091"/>
            </a:xfrm>
            <a:custGeom>
              <a:avLst/>
              <a:gdLst/>
              <a:ahLst/>
              <a:cxnLst/>
              <a:rect r="r" b="b" t="t" l="l"/>
              <a:pathLst>
                <a:path h="855091" w="5260022">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sp>
        <p:sp>
          <p:nvSpPr>
            <p:cNvPr name="TextBox 15" id="15"/>
            <p:cNvSpPr txBox="true"/>
            <p:nvPr/>
          </p:nvSpPr>
          <p:spPr>
            <a:xfrm>
              <a:off x="0" y="-19050"/>
              <a:ext cx="5260022" cy="874141"/>
            </a:xfrm>
            <a:prstGeom prst="rect">
              <a:avLst/>
            </a:prstGeom>
          </p:spPr>
          <p:txBody>
            <a:bodyPr anchor="ctr" rtlCol="false" tIns="50800" lIns="50800" bIns="50800" rIns="50800"/>
            <a:lstStyle/>
            <a:p>
              <a:pPr algn="ctr">
                <a:lnSpc>
                  <a:spcPts val="2859"/>
                </a:lnSpc>
              </a:pPr>
            </a:p>
          </p:txBody>
        </p:sp>
      </p:grpSp>
      <p:sp>
        <p:nvSpPr>
          <p:cNvPr name="TextBox 16" id="16"/>
          <p:cNvSpPr txBox="true"/>
          <p:nvPr/>
        </p:nvSpPr>
        <p:spPr>
          <a:xfrm rot="0">
            <a:off x="1432672" y="2821684"/>
            <a:ext cx="13742441" cy="1707126"/>
          </a:xfrm>
          <a:prstGeom prst="rect">
            <a:avLst/>
          </a:prstGeom>
        </p:spPr>
        <p:txBody>
          <a:bodyPr anchor="t" rtlCol="false" tIns="0" lIns="0" bIns="0" rIns="0">
            <a:spAutoFit/>
          </a:bodyPr>
          <a:lstStyle/>
          <a:p>
            <a:pPr algn="l">
              <a:lnSpc>
                <a:spcPts val="2745"/>
              </a:lnSpc>
            </a:pPr>
            <a:r>
              <a:rPr lang="en-US" sz="1989" spc="194" b="true">
                <a:solidFill>
                  <a:srgbClr val="231F20"/>
                </a:solidFill>
                <a:latin typeface="Open Sauce Bold"/>
                <a:ea typeface="Open Sauce Bold"/>
                <a:cs typeface="Open Sauce Bold"/>
                <a:sym typeface="Open Sauce Bold"/>
              </a:rPr>
              <a:t>Brief Description:</a:t>
            </a:r>
          </a:p>
          <a:p>
            <a:pPr algn="l">
              <a:lnSpc>
                <a:spcPts val="2745"/>
              </a:lnSpc>
            </a:pPr>
          </a:p>
          <a:p>
            <a:pPr algn="l" marL="0" indent="0" lvl="0">
              <a:lnSpc>
                <a:spcPts val="2745"/>
              </a:lnSpc>
              <a:spcBef>
                <a:spcPct val="0"/>
              </a:spcBef>
            </a:pPr>
            <a:r>
              <a:rPr lang="en-US" sz="1989" spc="194">
                <a:solidFill>
                  <a:srgbClr val="231F20"/>
                </a:solidFill>
                <a:latin typeface="Open Sauce"/>
                <a:ea typeface="Open Sauce"/>
                <a:cs typeface="Open Sauce"/>
                <a:sym typeface="Open Sauce"/>
              </a:rPr>
              <a:t>This component evaluates candidates’ interview answers, assesses communication and other soft skills, and checks submitted certificates to support a more complete candidate evaluation.</a:t>
            </a:r>
          </a:p>
        </p:txBody>
      </p:sp>
      <p:grpSp>
        <p:nvGrpSpPr>
          <p:cNvPr name="Group 17" id="17"/>
          <p:cNvGrpSpPr/>
          <p:nvPr/>
        </p:nvGrpSpPr>
        <p:grpSpPr>
          <a:xfrm rot="0">
            <a:off x="1028700" y="5218417"/>
            <a:ext cx="14348091" cy="2326958"/>
            <a:chOff x="0" y="0"/>
            <a:chExt cx="5272930" cy="855091"/>
          </a:xfrm>
        </p:grpSpPr>
        <p:sp>
          <p:nvSpPr>
            <p:cNvPr name="Freeform 18" id="18"/>
            <p:cNvSpPr/>
            <p:nvPr/>
          </p:nvSpPr>
          <p:spPr>
            <a:xfrm flipH="false" flipV="false" rot="0">
              <a:off x="0" y="0"/>
              <a:ext cx="5272930" cy="855091"/>
            </a:xfrm>
            <a:custGeom>
              <a:avLst/>
              <a:gdLst/>
              <a:ahLst/>
              <a:cxnLst/>
              <a:rect r="r" b="b" t="t" l="l"/>
              <a:pathLst>
                <a:path h="855091" w="5272930">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sp>
        <p:sp>
          <p:nvSpPr>
            <p:cNvPr name="TextBox 19" id="19"/>
            <p:cNvSpPr txBox="true"/>
            <p:nvPr/>
          </p:nvSpPr>
          <p:spPr>
            <a:xfrm>
              <a:off x="0" y="-19050"/>
              <a:ext cx="5272930" cy="874141"/>
            </a:xfrm>
            <a:prstGeom prst="rect">
              <a:avLst/>
            </a:prstGeom>
          </p:spPr>
          <p:txBody>
            <a:bodyPr anchor="ctr" rtlCol="false" tIns="50800" lIns="50800" bIns="50800" rIns="50800"/>
            <a:lstStyle/>
            <a:p>
              <a:pPr algn="ctr">
                <a:lnSpc>
                  <a:spcPts val="2859"/>
                </a:lnSpc>
              </a:pPr>
            </a:p>
          </p:txBody>
        </p:sp>
      </p:grpSp>
      <p:sp>
        <p:nvSpPr>
          <p:cNvPr name="TextBox 20" id="20"/>
          <p:cNvSpPr txBox="true"/>
          <p:nvPr/>
        </p:nvSpPr>
        <p:spPr>
          <a:xfrm rot="0">
            <a:off x="1432672" y="5414580"/>
            <a:ext cx="13742441" cy="1707357"/>
          </a:xfrm>
          <a:prstGeom prst="rect">
            <a:avLst/>
          </a:prstGeom>
        </p:spPr>
        <p:txBody>
          <a:bodyPr anchor="t" rtlCol="false" tIns="0" lIns="0" bIns="0" rIns="0">
            <a:spAutoFit/>
          </a:bodyPr>
          <a:lstStyle/>
          <a:p>
            <a:pPr algn="l">
              <a:lnSpc>
                <a:spcPts val="2731"/>
              </a:lnSpc>
            </a:pPr>
            <a:r>
              <a:rPr lang="en-US" sz="1979" spc="193" b="true">
                <a:solidFill>
                  <a:srgbClr val="231F20"/>
                </a:solidFill>
                <a:latin typeface="Open Sauce Bold"/>
                <a:ea typeface="Open Sauce Bold"/>
                <a:cs typeface="Open Sauce Bold"/>
                <a:sym typeface="Open Sauce Bold"/>
              </a:rPr>
              <a:t>How It Fits the Whole Solution:</a:t>
            </a:r>
          </a:p>
          <a:p>
            <a:pPr algn="l">
              <a:lnSpc>
                <a:spcPts val="2731"/>
              </a:lnSpc>
            </a:pPr>
          </a:p>
          <a:p>
            <a:pPr algn="l" marL="0" indent="0" lvl="0">
              <a:lnSpc>
                <a:spcPts val="2731"/>
              </a:lnSpc>
              <a:spcBef>
                <a:spcPct val="0"/>
              </a:spcBef>
            </a:pPr>
            <a:r>
              <a:rPr lang="en-US" sz="1979" spc="193">
                <a:solidFill>
                  <a:srgbClr val="231F20"/>
                </a:solidFill>
                <a:latin typeface="Open Sauce"/>
                <a:ea typeface="Open Sauce"/>
                <a:cs typeface="Open Sauce"/>
                <a:sym typeface="Open Sauce"/>
              </a:rPr>
              <a:t>After candidate shortlisting, this component provides additional insights into interview performance, soft skills, and qualifications, helping recruiters make more confident and informed hiring decisions.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9808494" y="5557971"/>
            <a:ext cx="7891439" cy="3865129"/>
            <a:chOff x="0" y="0"/>
            <a:chExt cx="2284547" cy="1118949"/>
          </a:xfrm>
        </p:grpSpPr>
        <p:sp>
          <p:nvSpPr>
            <p:cNvPr name="Freeform 3" id="3"/>
            <p:cNvSpPr/>
            <p:nvPr/>
          </p:nvSpPr>
          <p:spPr>
            <a:xfrm flipH="false" flipV="false" rot="0">
              <a:off x="0" y="0"/>
              <a:ext cx="2284547" cy="1118949"/>
            </a:xfrm>
            <a:custGeom>
              <a:avLst/>
              <a:gdLst/>
              <a:ahLst/>
              <a:cxnLst/>
              <a:rect r="r" b="b" t="t" l="l"/>
              <a:pathLst>
                <a:path h="1118949" w="2284547">
                  <a:moveTo>
                    <a:pt x="2284547" y="43166"/>
                  </a:moveTo>
                  <a:lnTo>
                    <a:pt x="2284547" y="1075782"/>
                  </a:lnTo>
                  <a:cubicBezTo>
                    <a:pt x="2284547" y="1099623"/>
                    <a:pt x="2265221" y="1118949"/>
                    <a:pt x="2241381" y="1118949"/>
                  </a:cubicBezTo>
                  <a:lnTo>
                    <a:pt x="43166" y="1118949"/>
                  </a:lnTo>
                  <a:cubicBezTo>
                    <a:pt x="31718" y="1118949"/>
                    <a:pt x="20738" y="1114401"/>
                    <a:pt x="12643" y="1106306"/>
                  </a:cubicBezTo>
                  <a:cubicBezTo>
                    <a:pt x="4548" y="1098210"/>
                    <a:pt x="0" y="1087231"/>
                    <a:pt x="0" y="1075782"/>
                  </a:cubicBezTo>
                  <a:lnTo>
                    <a:pt x="0" y="43166"/>
                  </a:lnTo>
                  <a:cubicBezTo>
                    <a:pt x="0" y="31718"/>
                    <a:pt x="4548" y="20738"/>
                    <a:pt x="12643" y="12643"/>
                  </a:cubicBezTo>
                  <a:cubicBezTo>
                    <a:pt x="20738" y="4548"/>
                    <a:pt x="31718" y="0"/>
                    <a:pt x="43166" y="0"/>
                  </a:cubicBezTo>
                  <a:lnTo>
                    <a:pt x="2241381" y="0"/>
                  </a:lnTo>
                  <a:cubicBezTo>
                    <a:pt x="2252829" y="0"/>
                    <a:pt x="2263809" y="4548"/>
                    <a:pt x="2271904" y="12643"/>
                  </a:cubicBezTo>
                  <a:cubicBezTo>
                    <a:pt x="2279999" y="20738"/>
                    <a:pt x="2284547" y="31718"/>
                    <a:pt x="2284547" y="43166"/>
                  </a:cubicBezTo>
                  <a:close/>
                </a:path>
              </a:pathLst>
            </a:custGeom>
            <a:solidFill>
              <a:srgbClr val="1C5739"/>
            </a:solidFill>
          </p:spPr>
        </p:sp>
        <p:sp>
          <p:nvSpPr>
            <p:cNvPr name="TextBox 4" id="4"/>
            <p:cNvSpPr txBox="true"/>
            <p:nvPr/>
          </p:nvSpPr>
          <p:spPr>
            <a:xfrm>
              <a:off x="0" y="-19050"/>
              <a:ext cx="2284547" cy="1137999"/>
            </a:xfrm>
            <a:prstGeom prst="rect">
              <a:avLst/>
            </a:prstGeom>
          </p:spPr>
          <p:txBody>
            <a:bodyPr anchor="ctr" rtlCol="false" tIns="50800" lIns="50800" bIns="50800" rIns="50800"/>
            <a:lstStyle/>
            <a:p>
              <a:pPr algn="ctr">
                <a:lnSpc>
                  <a:spcPts val="2859"/>
                </a:lnSpc>
              </a:pPr>
            </a:p>
          </p:txBody>
        </p:sp>
      </p:grpSp>
      <p:sp>
        <p:nvSpPr>
          <p:cNvPr name="TextBox 5" id="5"/>
          <p:cNvSpPr txBox="true"/>
          <p:nvPr/>
        </p:nvSpPr>
        <p:spPr>
          <a:xfrm rot="0">
            <a:off x="10213329" y="5827232"/>
            <a:ext cx="7081769" cy="2141858"/>
          </a:xfrm>
          <a:prstGeom prst="rect">
            <a:avLst/>
          </a:prstGeom>
        </p:spPr>
        <p:txBody>
          <a:bodyPr anchor="t" rtlCol="false" tIns="0" lIns="0" bIns="0" rIns="0">
            <a:spAutoFit/>
          </a:bodyPr>
          <a:lstStyle/>
          <a:p>
            <a:pPr algn="l">
              <a:lnSpc>
                <a:spcPts val="2459"/>
              </a:lnSpc>
            </a:pPr>
            <a:r>
              <a:rPr lang="en-US" sz="1781" spc="174">
                <a:solidFill>
                  <a:srgbClr val="FFFFFF"/>
                </a:solidFill>
                <a:latin typeface="Open Sauce"/>
                <a:ea typeface="Open Sauce"/>
                <a:cs typeface="Open Sauce"/>
                <a:sym typeface="Open Sauce"/>
              </a:rPr>
              <a:t>Future Improvements</a:t>
            </a:r>
          </a:p>
          <a:p>
            <a:pPr algn="l">
              <a:lnSpc>
                <a:spcPts val="2459"/>
              </a:lnSpc>
            </a:pP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Improve interview scorer accuracy / multilingual support</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P</a:t>
            </a:r>
            <a:r>
              <a:rPr lang="en-US" sz="1781" spc="174">
                <a:solidFill>
                  <a:srgbClr val="FFFFFF"/>
                </a:solidFill>
                <a:latin typeface="Open Sauce"/>
                <a:ea typeface="Open Sauce"/>
                <a:cs typeface="Open Sauce"/>
                <a:sym typeface="Open Sauce"/>
              </a:rPr>
              <a:t>ublish matching &amp; attrition benchmark metrics</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Faster certificate checks (GPU / better infra)</a:t>
            </a:r>
          </a:p>
          <a:p>
            <a:pPr algn="l">
              <a:lnSpc>
                <a:spcPts val="2459"/>
              </a:lnSpc>
            </a:pPr>
          </a:p>
        </p:txBody>
      </p:sp>
      <p:grpSp>
        <p:nvGrpSpPr>
          <p:cNvPr name="Group 6" id="6"/>
          <p:cNvGrpSpPr/>
          <p:nvPr/>
        </p:nvGrpSpPr>
        <p:grpSpPr>
          <a:xfrm rot="0">
            <a:off x="487252" y="5557971"/>
            <a:ext cx="8969524" cy="3865129"/>
            <a:chOff x="0" y="0"/>
            <a:chExt cx="2596649" cy="1118949"/>
          </a:xfrm>
        </p:grpSpPr>
        <p:sp>
          <p:nvSpPr>
            <p:cNvPr name="Freeform 7" id="7"/>
            <p:cNvSpPr/>
            <p:nvPr/>
          </p:nvSpPr>
          <p:spPr>
            <a:xfrm flipH="false" flipV="false" rot="0">
              <a:off x="0" y="0"/>
              <a:ext cx="2596649" cy="1118949"/>
            </a:xfrm>
            <a:custGeom>
              <a:avLst/>
              <a:gdLst/>
              <a:ahLst/>
              <a:cxnLst/>
              <a:rect r="r" b="b" t="t" l="l"/>
              <a:pathLst>
                <a:path h="1118949" w="2596649">
                  <a:moveTo>
                    <a:pt x="2596649" y="37978"/>
                  </a:moveTo>
                  <a:lnTo>
                    <a:pt x="2596649" y="1080971"/>
                  </a:lnTo>
                  <a:cubicBezTo>
                    <a:pt x="2596649" y="1101945"/>
                    <a:pt x="2579646" y="1118949"/>
                    <a:pt x="2558671" y="1118949"/>
                  </a:cubicBezTo>
                  <a:lnTo>
                    <a:pt x="37978" y="1118949"/>
                  </a:lnTo>
                  <a:cubicBezTo>
                    <a:pt x="17003" y="1118949"/>
                    <a:pt x="0" y="1101945"/>
                    <a:pt x="0" y="1080971"/>
                  </a:cubicBezTo>
                  <a:lnTo>
                    <a:pt x="0" y="37978"/>
                  </a:lnTo>
                  <a:cubicBezTo>
                    <a:pt x="0" y="17003"/>
                    <a:pt x="17003" y="0"/>
                    <a:pt x="37978" y="0"/>
                  </a:cubicBezTo>
                  <a:lnTo>
                    <a:pt x="2558671" y="0"/>
                  </a:lnTo>
                  <a:cubicBezTo>
                    <a:pt x="2579646" y="0"/>
                    <a:pt x="2596649" y="17003"/>
                    <a:pt x="2596649" y="37978"/>
                  </a:cubicBezTo>
                  <a:close/>
                </a:path>
              </a:pathLst>
            </a:custGeom>
            <a:solidFill>
              <a:srgbClr val="1C5739"/>
            </a:solidFill>
          </p:spPr>
        </p:sp>
        <p:sp>
          <p:nvSpPr>
            <p:cNvPr name="TextBox 8" id="8"/>
            <p:cNvSpPr txBox="true"/>
            <p:nvPr/>
          </p:nvSpPr>
          <p:spPr>
            <a:xfrm>
              <a:off x="0" y="-19050"/>
              <a:ext cx="2596649" cy="1137999"/>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659866" y="5792823"/>
            <a:ext cx="8624296" cy="3372727"/>
          </a:xfrm>
          <a:prstGeom prst="rect">
            <a:avLst/>
          </a:prstGeom>
        </p:spPr>
        <p:txBody>
          <a:bodyPr anchor="t" rtlCol="false" tIns="0" lIns="0" bIns="0" rIns="0">
            <a:spAutoFit/>
          </a:bodyPr>
          <a:lstStyle/>
          <a:p>
            <a:pPr algn="l">
              <a:lnSpc>
                <a:spcPts val="2459"/>
              </a:lnSpc>
            </a:pPr>
            <a:r>
              <a:rPr lang="en-US" sz="1781" spc="174">
                <a:solidFill>
                  <a:srgbClr val="FFFFFF"/>
                </a:solidFill>
                <a:latin typeface="Open Sauce"/>
                <a:ea typeface="Open Sauce"/>
                <a:cs typeface="Open Sauce"/>
                <a:sym typeface="Open Sauce"/>
              </a:rPr>
              <a:t>Limitations of the System</a:t>
            </a:r>
          </a:p>
          <a:p>
            <a:pPr algn="l">
              <a:lnSpc>
                <a:spcPts val="2459"/>
              </a:lnSpc>
            </a:pP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AI scores help recruiters, not automatic hiring</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Scores depend on model quality and available evidence</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I</a:t>
            </a:r>
            <a:r>
              <a:rPr lang="en-US" sz="1781" spc="174">
                <a:solidFill>
                  <a:srgbClr val="FFFFFF"/>
                </a:solidFill>
                <a:latin typeface="Open Sauce"/>
                <a:ea typeface="Open Sauce"/>
                <a:cs typeface="Open Sauce"/>
                <a:sym typeface="Open Sauce"/>
              </a:rPr>
              <a:t>nterview scoring works best with a reference answer and one mic per physical device limitation.</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Certificate checks verify content, not full issuer authenticity</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Attrition / match scores are estimates</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Supports text-based CVs only (PDF, DOCX, TXT).</a:t>
            </a:r>
          </a:p>
          <a:p>
            <a:pPr algn="l" marL="384725" indent="-192363" lvl="1">
              <a:lnSpc>
                <a:spcPts val="2459"/>
              </a:lnSpc>
              <a:buFont typeface="Arial"/>
              <a:buChar char="•"/>
            </a:pPr>
            <a:r>
              <a:rPr lang="en-US" sz="1781" spc="174">
                <a:solidFill>
                  <a:srgbClr val="FFFFFF"/>
                </a:solidFill>
                <a:latin typeface="Open Sauce"/>
                <a:ea typeface="Open Sauce"/>
                <a:cs typeface="Open Sauce"/>
                <a:sym typeface="Open Sauce"/>
              </a:rPr>
              <a:t>Skill proficiency accuracy depends on CV clarity and completeness.</a:t>
            </a:r>
          </a:p>
        </p:txBody>
      </p:sp>
      <p:grpSp>
        <p:nvGrpSpPr>
          <p:cNvPr name="Group 10" id="10"/>
          <p:cNvGrpSpPr/>
          <p:nvPr/>
        </p:nvGrpSpPr>
        <p:grpSpPr>
          <a:xfrm rot="0">
            <a:off x="2294692" y="1091347"/>
            <a:ext cx="13698617" cy="3907359"/>
            <a:chOff x="0" y="0"/>
            <a:chExt cx="4100451" cy="1169511"/>
          </a:xfrm>
        </p:grpSpPr>
        <p:sp>
          <p:nvSpPr>
            <p:cNvPr name="Freeform 11" id="11"/>
            <p:cNvSpPr/>
            <p:nvPr/>
          </p:nvSpPr>
          <p:spPr>
            <a:xfrm flipH="false" flipV="false" rot="0">
              <a:off x="0" y="0"/>
              <a:ext cx="4100452" cy="1169511"/>
            </a:xfrm>
            <a:custGeom>
              <a:avLst/>
              <a:gdLst/>
              <a:ahLst/>
              <a:cxnLst/>
              <a:rect r="r" b="b" t="t" l="l"/>
              <a:pathLst>
                <a:path h="1169511" w="4100452">
                  <a:moveTo>
                    <a:pt x="4100452" y="34475"/>
                  </a:moveTo>
                  <a:lnTo>
                    <a:pt x="4100452" y="1135036"/>
                  </a:lnTo>
                  <a:cubicBezTo>
                    <a:pt x="4100452" y="1144179"/>
                    <a:pt x="4096819" y="1152948"/>
                    <a:pt x="4090354" y="1159414"/>
                  </a:cubicBezTo>
                  <a:cubicBezTo>
                    <a:pt x="4083889" y="1165879"/>
                    <a:pt x="4075120" y="1169511"/>
                    <a:pt x="4065977" y="1169511"/>
                  </a:cubicBezTo>
                  <a:lnTo>
                    <a:pt x="34475" y="1169511"/>
                  </a:lnTo>
                  <a:cubicBezTo>
                    <a:pt x="15435" y="1169511"/>
                    <a:pt x="0" y="1154076"/>
                    <a:pt x="0" y="1135036"/>
                  </a:cubicBezTo>
                  <a:lnTo>
                    <a:pt x="0" y="34475"/>
                  </a:lnTo>
                  <a:cubicBezTo>
                    <a:pt x="0" y="25332"/>
                    <a:pt x="3632" y="16563"/>
                    <a:pt x="10097" y="10097"/>
                  </a:cubicBezTo>
                  <a:cubicBezTo>
                    <a:pt x="16563" y="3632"/>
                    <a:pt x="25332" y="0"/>
                    <a:pt x="34475" y="0"/>
                  </a:cubicBezTo>
                  <a:lnTo>
                    <a:pt x="4065977" y="0"/>
                  </a:lnTo>
                  <a:cubicBezTo>
                    <a:pt x="4075120" y="0"/>
                    <a:pt x="4083889" y="3632"/>
                    <a:pt x="4090354" y="10097"/>
                  </a:cubicBezTo>
                  <a:cubicBezTo>
                    <a:pt x="4096819" y="16563"/>
                    <a:pt x="4100452" y="25332"/>
                    <a:pt x="4100452" y="34475"/>
                  </a:cubicBezTo>
                  <a:close/>
                </a:path>
              </a:pathLst>
            </a:custGeom>
            <a:solidFill>
              <a:srgbClr val="1C5739">
                <a:alpha val="14902"/>
              </a:srgbClr>
            </a:solidFill>
          </p:spPr>
        </p:sp>
        <p:sp>
          <p:nvSpPr>
            <p:cNvPr name="TextBox 12" id="12"/>
            <p:cNvSpPr txBox="true"/>
            <p:nvPr/>
          </p:nvSpPr>
          <p:spPr>
            <a:xfrm>
              <a:off x="0" y="-19050"/>
              <a:ext cx="4100451" cy="1188561"/>
            </a:xfrm>
            <a:prstGeom prst="rect">
              <a:avLst/>
            </a:prstGeom>
          </p:spPr>
          <p:txBody>
            <a:bodyPr anchor="ctr" rtlCol="false" tIns="50800" lIns="50800" bIns="50800" rIns="50800"/>
            <a:lstStyle/>
            <a:p>
              <a:pPr algn="ctr">
                <a:lnSpc>
                  <a:spcPts val="2859"/>
                </a:lnSpc>
              </a:pPr>
            </a:p>
          </p:txBody>
        </p:sp>
      </p:grpSp>
      <p:sp>
        <p:nvSpPr>
          <p:cNvPr name="TextBox 13" id="13"/>
          <p:cNvSpPr txBox="true"/>
          <p:nvPr/>
        </p:nvSpPr>
        <p:spPr>
          <a:xfrm rot="0">
            <a:off x="2700605" y="1233556"/>
            <a:ext cx="12886790" cy="3637085"/>
          </a:xfrm>
          <a:prstGeom prst="rect">
            <a:avLst/>
          </a:prstGeom>
        </p:spPr>
        <p:txBody>
          <a:bodyPr anchor="t" rtlCol="false" tIns="0" lIns="0" bIns="0" rIns="0">
            <a:spAutoFit/>
          </a:bodyPr>
          <a:lstStyle/>
          <a:p>
            <a:pPr algn="l">
              <a:lnSpc>
                <a:spcPts val="2749"/>
              </a:lnSpc>
            </a:pPr>
            <a:r>
              <a:rPr lang="en-US" sz="1992" spc="195" b="true">
                <a:solidFill>
                  <a:srgbClr val="1C5739"/>
                </a:solidFill>
                <a:latin typeface="Open Sauce Bold"/>
                <a:ea typeface="Open Sauce Bold"/>
                <a:cs typeface="Open Sauce Bold"/>
                <a:sym typeface="Open Sauce Bold"/>
              </a:rPr>
              <a:t>Results &amp; Testimonials</a:t>
            </a:r>
          </a:p>
          <a:p>
            <a:pPr algn="l">
              <a:lnSpc>
                <a:spcPts val="2749"/>
              </a:lnSpc>
            </a:pPr>
          </a:p>
          <a:p>
            <a:pPr algn="l" marL="409532" indent="-204766" lvl="1">
              <a:lnSpc>
                <a:spcPts val="2617"/>
              </a:lnSpc>
              <a:buFont typeface="Arial"/>
              <a:buChar char="•"/>
            </a:pPr>
            <a:r>
              <a:rPr lang="en-US" sz="1896" spc="185">
                <a:solidFill>
                  <a:srgbClr val="1C5739"/>
                </a:solidFill>
                <a:latin typeface="Open Sauce"/>
                <a:ea typeface="Open Sauce"/>
                <a:cs typeface="Open Sauce"/>
                <a:sym typeface="Open Sauce"/>
              </a:rPr>
              <a:t>Resume Strength Model: ~95% accuracy and macro F1 ~0.87 on validation (DeBERTa V5).</a:t>
            </a:r>
          </a:p>
          <a:p>
            <a:pPr algn="l" marL="409532" indent="-204766" lvl="1">
              <a:lnSpc>
                <a:spcPts val="2617"/>
              </a:lnSpc>
              <a:buFont typeface="Arial"/>
              <a:buChar char="•"/>
            </a:pPr>
            <a:r>
              <a:rPr lang="en-US" sz="1896" spc="185">
                <a:solidFill>
                  <a:srgbClr val="1C5739"/>
                </a:solidFill>
                <a:latin typeface="Open Sauce"/>
                <a:ea typeface="Open Sauce"/>
                <a:cs typeface="Open Sauce"/>
                <a:sym typeface="Open Sauce"/>
              </a:rPr>
              <a:t>Interview Answer Scoring: ~73.5% test accuracy and macro F1 ~0.69 (ROC-AUC ~0.92).</a:t>
            </a:r>
          </a:p>
          <a:p>
            <a:pPr algn="l" marL="409532" indent="-204766" lvl="1">
              <a:lnSpc>
                <a:spcPts val="2617"/>
              </a:lnSpc>
              <a:buFont typeface="Arial"/>
              <a:buChar char="•"/>
            </a:pPr>
            <a:r>
              <a:rPr lang="en-US" sz="1896" spc="185">
                <a:solidFill>
                  <a:srgbClr val="1C5739"/>
                </a:solidFill>
                <a:latin typeface="Open Sauce"/>
                <a:ea typeface="Open Sauce"/>
                <a:cs typeface="Open Sauce"/>
                <a:sym typeface="Open Sauce"/>
              </a:rPr>
              <a:t>End-to-end platform: Core recruitment flow (CV → match → interview → attrition) verified with automated service tests.</a:t>
            </a:r>
          </a:p>
          <a:p>
            <a:pPr algn="l" marL="409532" indent="-204766" lvl="1">
              <a:lnSpc>
                <a:spcPts val="2617"/>
              </a:lnSpc>
              <a:buFont typeface="Arial"/>
              <a:buChar char="•"/>
            </a:pPr>
            <a:r>
              <a:rPr lang="en-US" sz="1896" spc="185">
                <a:solidFill>
                  <a:srgbClr val="1C5739"/>
                </a:solidFill>
                <a:latin typeface="Open Sauce"/>
                <a:ea typeface="Open Sauce"/>
                <a:cs typeface="Open Sauce"/>
                <a:sym typeface="Open Sauce"/>
              </a:rPr>
              <a:t>User feedback (UAT/demo): Recruiters found AI scores useful for faster shortlisting with human review.</a:t>
            </a:r>
          </a:p>
          <a:p>
            <a:pPr algn="l" marL="409532" indent="-204766" lvl="1">
              <a:lnSpc>
                <a:spcPts val="2617"/>
              </a:lnSpc>
              <a:buFont typeface="Arial"/>
              <a:buChar char="•"/>
            </a:pPr>
            <a:r>
              <a:rPr lang="en-US" sz="1896" spc="185">
                <a:solidFill>
                  <a:srgbClr val="1C5739"/>
                </a:solidFill>
                <a:latin typeface="Open Sauce"/>
                <a:ea typeface="Open Sauce"/>
                <a:cs typeface="Open Sauce"/>
                <a:sym typeface="Open Sauce"/>
              </a:rPr>
              <a:t>Product value: The system acts as decision support clearer candidate insights, not automatic hiring.</a:t>
            </a:r>
          </a:p>
          <a:p>
            <a:pPr algn="l">
              <a:lnSpc>
                <a:spcPts val="2749"/>
              </a:lnSpc>
            </a:pPr>
          </a:p>
        </p:txBody>
      </p:sp>
      <p:sp>
        <p:nvSpPr>
          <p:cNvPr name="Freeform 14" id="14"/>
          <p:cNvSpPr/>
          <p:nvPr/>
        </p:nvSpPr>
        <p:spPr>
          <a:xfrm flipH="false" flipV="false" rot="0">
            <a:off x="16080164" y="-1072004"/>
            <a:ext cx="4687320" cy="4687320"/>
          </a:xfrm>
          <a:custGeom>
            <a:avLst/>
            <a:gdLst/>
            <a:ahLst/>
            <a:cxnLst/>
            <a:rect r="r" b="b" t="t" l="l"/>
            <a:pathLst>
              <a:path h="4687320" w="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15153296" y="-1557916"/>
            <a:ext cx="2649263" cy="264926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17" id="17"/>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40303" y="1344874"/>
            <a:ext cx="7097948" cy="493972"/>
          </a:xfrm>
          <a:prstGeom prst="rect">
            <a:avLst/>
          </a:prstGeom>
        </p:spPr>
        <p:txBody>
          <a:bodyPr anchor="t" rtlCol="false" tIns="0" lIns="0" bIns="0" rIns="0">
            <a:spAutoFit/>
          </a:bodyPr>
          <a:lstStyle/>
          <a:p>
            <a:pPr algn="l" marL="0" indent="0" lvl="0">
              <a:lnSpc>
                <a:spcPts val="3486"/>
              </a:lnSpc>
              <a:spcBef>
                <a:spcPct val="0"/>
              </a:spcBef>
            </a:pPr>
            <a:r>
              <a:rPr lang="en-US" sz="3521" spc="123">
                <a:solidFill>
                  <a:srgbClr val="040506"/>
                </a:solidFill>
                <a:latin typeface="Poppins"/>
                <a:ea typeface="Poppins"/>
                <a:cs typeface="Poppins"/>
                <a:sym typeface="Poppins"/>
              </a:rPr>
              <a:t>User Acceptance / Feedback</a:t>
            </a:r>
          </a:p>
        </p:txBody>
      </p:sp>
      <p:sp>
        <p:nvSpPr>
          <p:cNvPr name="Freeform 5" id="5"/>
          <p:cNvSpPr/>
          <p:nvPr/>
        </p:nvSpPr>
        <p:spPr>
          <a:xfrm flipH="false" flipV="false" rot="0">
            <a:off x="4683844" y="2150716"/>
            <a:ext cx="7508813" cy="7689894"/>
          </a:xfrm>
          <a:custGeom>
            <a:avLst/>
            <a:gdLst/>
            <a:ahLst/>
            <a:cxnLst/>
            <a:rect r="r" b="b" t="t" l="l"/>
            <a:pathLst>
              <a:path h="7689894" w="7508813">
                <a:moveTo>
                  <a:pt x="0" y="0"/>
                </a:moveTo>
                <a:lnTo>
                  <a:pt x="7508813" y="0"/>
                </a:lnTo>
                <a:lnTo>
                  <a:pt x="7508813" y="7689894"/>
                </a:lnTo>
                <a:lnTo>
                  <a:pt x="0" y="7689894"/>
                </a:lnTo>
                <a:lnTo>
                  <a:pt x="0" y="0"/>
                </a:lnTo>
                <a:close/>
              </a:path>
            </a:pathLst>
          </a:custGeom>
          <a:blipFill>
            <a:blip r:embed="rId5"/>
            <a:stretch>
              <a:fillRect l="0" t="0" r="0" b="0"/>
            </a:stretch>
          </a:blipFill>
          <a:ln w="9525" cap="sq">
            <a:solidFill>
              <a:srgbClr val="000000"/>
            </a:solidFill>
            <a:prstDash val="solid"/>
            <a:miter/>
          </a:ln>
        </p:spPr>
      </p:sp>
      <p:grpSp>
        <p:nvGrpSpPr>
          <p:cNvPr name="Group 6" id="6"/>
          <p:cNvGrpSpPr/>
          <p:nvPr/>
        </p:nvGrpSpPr>
        <p:grpSpPr>
          <a:xfrm rot="0">
            <a:off x="15201900" y="-323115"/>
            <a:ext cx="3086100" cy="11299900"/>
            <a:chOff x="0" y="0"/>
            <a:chExt cx="812800" cy="2976105"/>
          </a:xfrm>
        </p:grpSpPr>
        <p:sp>
          <p:nvSpPr>
            <p:cNvPr name="Freeform 7" id="7"/>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8" id="8"/>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0">
            <a:off x="17503674" y="0"/>
            <a:ext cx="392266" cy="10287000"/>
            <a:chOff x="0" y="0"/>
            <a:chExt cx="93628" cy="2455363"/>
          </a:xfrm>
        </p:grpSpPr>
        <p:sp>
          <p:nvSpPr>
            <p:cNvPr name="Freeform 10" id="10"/>
            <p:cNvSpPr/>
            <p:nvPr/>
          </p:nvSpPr>
          <p:spPr>
            <a:xfrm flipH="false" flipV="false" rot="0">
              <a:off x="0" y="0"/>
              <a:ext cx="93628" cy="2455363"/>
            </a:xfrm>
            <a:custGeom>
              <a:avLst/>
              <a:gdLst/>
              <a:ahLst/>
              <a:cxnLst/>
              <a:rect r="r" b="b" t="t" l="l"/>
              <a:pathLst>
                <a:path h="2455363" w="93628">
                  <a:moveTo>
                    <a:pt x="0" y="0"/>
                  </a:moveTo>
                  <a:lnTo>
                    <a:pt x="93628" y="0"/>
                  </a:lnTo>
                  <a:lnTo>
                    <a:pt x="93628" y="2455363"/>
                  </a:lnTo>
                  <a:lnTo>
                    <a:pt x="0" y="2455363"/>
                  </a:lnTo>
                  <a:close/>
                </a:path>
              </a:pathLst>
            </a:custGeom>
            <a:solidFill>
              <a:srgbClr val="FFFFFF"/>
            </a:solidFill>
          </p:spPr>
        </p:sp>
        <p:sp>
          <p:nvSpPr>
            <p:cNvPr name="TextBox 11" id="11"/>
            <p:cNvSpPr txBox="true"/>
            <p:nvPr/>
          </p:nvSpPr>
          <p:spPr>
            <a:xfrm>
              <a:off x="0" y="-19050"/>
              <a:ext cx="93628" cy="2474413"/>
            </a:xfrm>
            <a:prstGeom prst="rect">
              <a:avLst/>
            </a:prstGeom>
          </p:spPr>
          <p:txBody>
            <a:bodyPr anchor="ctr" rtlCol="false" tIns="50800" lIns="50800" bIns="50800" rIns="50800"/>
            <a:lstStyle/>
            <a:p>
              <a:pPr algn="ctr">
                <a:lnSpc>
                  <a:spcPts val="2859"/>
                </a:lnSpc>
              </a:pPr>
            </a:p>
          </p:txBody>
        </p:sp>
      </p:grpSp>
      <p:sp>
        <p:nvSpPr>
          <p:cNvPr name="Freeform 12" id="12"/>
          <p:cNvSpPr/>
          <p:nvPr/>
        </p:nvSpPr>
        <p:spPr>
          <a:xfrm flipH="false" flipV="false" rot="0">
            <a:off x="16399025" y="8219432"/>
            <a:ext cx="3777949" cy="2067568"/>
          </a:xfrm>
          <a:custGeom>
            <a:avLst/>
            <a:gdLst/>
            <a:ahLst/>
            <a:cxnLst/>
            <a:rect r="r" b="b" t="t" l="l"/>
            <a:pathLst>
              <a:path h="2067568" w="3777949">
                <a:moveTo>
                  <a:pt x="0" y="0"/>
                </a:moveTo>
                <a:lnTo>
                  <a:pt x="3777950" y="0"/>
                </a:lnTo>
                <a:lnTo>
                  <a:pt x="3777950" y="2067568"/>
                </a:lnTo>
                <a:lnTo>
                  <a:pt x="0" y="20675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5251333" y="4687341"/>
            <a:ext cx="9815765" cy="1491616"/>
          </a:xfrm>
          <a:prstGeom prst="rect">
            <a:avLst/>
          </a:prstGeom>
        </p:spPr>
        <p:txBody>
          <a:bodyPr anchor="t" rtlCol="false" tIns="0" lIns="0" bIns="0" rIns="0">
            <a:spAutoFit/>
          </a:bodyPr>
          <a:lstStyle/>
          <a:p>
            <a:pPr algn="ctr" marL="0" indent="0" lvl="0">
              <a:lnSpc>
                <a:spcPts val="10230"/>
              </a:lnSpc>
            </a:pPr>
            <a:r>
              <a:rPr lang="en-US" sz="11000" spc="1188">
                <a:solidFill>
                  <a:srgbClr val="231F20"/>
                </a:solidFill>
                <a:latin typeface="Poppins"/>
                <a:ea typeface="Poppins"/>
                <a:cs typeface="Poppins"/>
                <a:sym typeface="Poppins"/>
              </a:rPr>
              <a:t>THANK YOU</a:t>
            </a:r>
          </a:p>
        </p:txBody>
      </p:sp>
      <p:grpSp>
        <p:nvGrpSpPr>
          <p:cNvPr name="Group 4" id="4"/>
          <p:cNvGrpSpPr/>
          <p:nvPr/>
        </p:nvGrpSpPr>
        <p:grpSpPr>
          <a:xfrm rot="826432">
            <a:off x="-18353104" y="-3567159"/>
            <a:ext cx="21026341" cy="12831921"/>
            <a:chOff x="0" y="0"/>
            <a:chExt cx="5537802" cy="3379601"/>
          </a:xfrm>
        </p:grpSpPr>
        <p:sp>
          <p:nvSpPr>
            <p:cNvPr name="Freeform 5" id="5"/>
            <p:cNvSpPr/>
            <p:nvPr/>
          </p:nvSpPr>
          <p:spPr>
            <a:xfrm flipH="false" flipV="false" rot="0">
              <a:off x="0" y="0"/>
              <a:ext cx="5537802" cy="3379601"/>
            </a:xfrm>
            <a:custGeom>
              <a:avLst/>
              <a:gdLst/>
              <a:ahLst/>
              <a:cxnLst/>
              <a:rect r="r" b="b" t="t" l="l"/>
              <a:pathLst>
                <a:path h="3379601" w="5537802">
                  <a:moveTo>
                    <a:pt x="0" y="0"/>
                  </a:moveTo>
                  <a:lnTo>
                    <a:pt x="5537802" y="0"/>
                  </a:lnTo>
                  <a:lnTo>
                    <a:pt x="5537802" y="3379601"/>
                  </a:lnTo>
                  <a:lnTo>
                    <a:pt x="0" y="3379601"/>
                  </a:lnTo>
                  <a:close/>
                </a:path>
              </a:pathLst>
            </a:custGeom>
            <a:solidFill>
              <a:srgbClr val="1C5739"/>
            </a:solidFill>
          </p:spPr>
        </p:sp>
        <p:sp>
          <p:nvSpPr>
            <p:cNvPr name="TextBox 6" id="6"/>
            <p:cNvSpPr txBox="true"/>
            <p:nvPr/>
          </p:nvSpPr>
          <p:spPr>
            <a:xfrm>
              <a:off x="0" y="-19050"/>
              <a:ext cx="5537802" cy="3398651"/>
            </a:xfrm>
            <a:prstGeom prst="rect">
              <a:avLst/>
            </a:prstGeom>
          </p:spPr>
          <p:txBody>
            <a:bodyPr anchor="ctr" rtlCol="false" tIns="50800" lIns="50800" bIns="50800" rIns="50800"/>
            <a:lstStyle/>
            <a:p>
              <a:pPr algn="ctr">
                <a:lnSpc>
                  <a:spcPts val="2859"/>
                </a:lnSpc>
              </a:pPr>
            </a:p>
          </p:txBody>
        </p:sp>
      </p:grpSp>
      <p:grpSp>
        <p:nvGrpSpPr>
          <p:cNvPr name="Group 7" id="7"/>
          <p:cNvGrpSpPr/>
          <p:nvPr/>
        </p:nvGrpSpPr>
        <p:grpSpPr>
          <a:xfrm rot="773821">
            <a:off x="17339765" y="5037444"/>
            <a:ext cx="2125236" cy="8482349"/>
            <a:chOff x="0" y="0"/>
            <a:chExt cx="559733" cy="2234034"/>
          </a:xfrm>
        </p:grpSpPr>
        <p:sp>
          <p:nvSpPr>
            <p:cNvPr name="Freeform 8" id="8"/>
            <p:cNvSpPr/>
            <p:nvPr/>
          </p:nvSpPr>
          <p:spPr>
            <a:xfrm flipH="false" flipV="false" rot="0">
              <a:off x="0" y="0"/>
              <a:ext cx="559733" cy="2234034"/>
            </a:xfrm>
            <a:custGeom>
              <a:avLst/>
              <a:gdLst/>
              <a:ahLst/>
              <a:cxnLst/>
              <a:rect r="r" b="b" t="t" l="l"/>
              <a:pathLst>
                <a:path h="2234034" w="559733">
                  <a:moveTo>
                    <a:pt x="0" y="0"/>
                  </a:moveTo>
                  <a:lnTo>
                    <a:pt x="559733" y="0"/>
                  </a:lnTo>
                  <a:lnTo>
                    <a:pt x="559733" y="2234034"/>
                  </a:lnTo>
                  <a:lnTo>
                    <a:pt x="0" y="2234034"/>
                  </a:lnTo>
                  <a:close/>
                </a:path>
              </a:pathLst>
            </a:custGeom>
            <a:solidFill>
              <a:srgbClr val="1C5739"/>
            </a:solidFill>
          </p:spPr>
        </p:sp>
        <p:sp>
          <p:nvSpPr>
            <p:cNvPr name="TextBox 9" id="9"/>
            <p:cNvSpPr txBox="true"/>
            <p:nvPr/>
          </p:nvSpPr>
          <p:spPr>
            <a:xfrm>
              <a:off x="0" y="-19050"/>
              <a:ext cx="559733" cy="2253084"/>
            </a:xfrm>
            <a:prstGeom prst="rect">
              <a:avLst/>
            </a:prstGeom>
          </p:spPr>
          <p:txBody>
            <a:bodyPr anchor="ctr" rtlCol="false" tIns="50800" lIns="50800" bIns="50800" rIns="50800"/>
            <a:lstStyle/>
            <a:p>
              <a:pPr algn="ctr">
                <a:lnSpc>
                  <a:spcPts val="2859"/>
                </a:lnSpc>
              </a:pPr>
            </a:p>
          </p:txBody>
        </p:sp>
      </p:grpSp>
      <p:grpSp>
        <p:nvGrpSpPr>
          <p:cNvPr name="Group 10" id="10"/>
          <p:cNvGrpSpPr/>
          <p:nvPr/>
        </p:nvGrpSpPr>
        <p:grpSpPr>
          <a:xfrm rot="773821">
            <a:off x="3741572" y="-4834013"/>
            <a:ext cx="313833" cy="8482349"/>
            <a:chOff x="0" y="0"/>
            <a:chExt cx="82656" cy="2234034"/>
          </a:xfrm>
        </p:grpSpPr>
        <p:sp>
          <p:nvSpPr>
            <p:cNvPr name="Freeform 11" id="11"/>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397D5A"/>
            </a:solidFill>
          </p:spPr>
        </p:sp>
        <p:sp>
          <p:nvSpPr>
            <p:cNvPr name="TextBox 12" id="12"/>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grpSp>
        <p:nvGrpSpPr>
          <p:cNvPr name="Group 13" id="13"/>
          <p:cNvGrpSpPr/>
          <p:nvPr/>
        </p:nvGrpSpPr>
        <p:grpSpPr>
          <a:xfrm rot="773821">
            <a:off x="16723216" y="8165782"/>
            <a:ext cx="330840" cy="4547237"/>
            <a:chOff x="0" y="0"/>
            <a:chExt cx="87135" cy="1197626"/>
          </a:xfrm>
        </p:grpSpPr>
        <p:sp>
          <p:nvSpPr>
            <p:cNvPr name="Freeform 14" id="14"/>
            <p:cNvSpPr/>
            <p:nvPr/>
          </p:nvSpPr>
          <p:spPr>
            <a:xfrm flipH="false" flipV="false" rot="0">
              <a:off x="0" y="0"/>
              <a:ext cx="87135" cy="1197626"/>
            </a:xfrm>
            <a:custGeom>
              <a:avLst/>
              <a:gdLst/>
              <a:ahLst/>
              <a:cxnLst/>
              <a:rect r="r" b="b" t="t" l="l"/>
              <a:pathLst>
                <a:path h="1197626" w="87135">
                  <a:moveTo>
                    <a:pt x="0" y="0"/>
                  </a:moveTo>
                  <a:lnTo>
                    <a:pt x="87135" y="0"/>
                  </a:lnTo>
                  <a:lnTo>
                    <a:pt x="87135" y="1197626"/>
                  </a:lnTo>
                  <a:lnTo>
                    <a:pt x="0" y="1197626"/>
                  </a:lnTo>
                  <a:close/>
                </a:path>
              </a:pathLst>
            </a:custGeom>
            <a:solidFill>
              <a:srgbClr val="397D5A"/>
            </a:solidFill>
          </p:spPr>
        </p:sp>
        <p:sp>
          <p:nvSpPr>
            <p:cNvPr name="TextBox 15" id="15"/>
            <p:cNvSpPr txBox="true"/>
            <p:nvPr/>
          </p:nvSpPr>
          <p:spPr>
            <a:xfrm>
              <a:off x="0" y="-19050"/>
              <a:ext cx="87135" cy="1216676"/>
            </a:xfrm>
            <a:prstGeom prst="rect">
              <a:avLst/>
            </a:prstGeom>
          </p:spPr>
          <p:txBody>
            <a:bodyPr anchor="ctr" rtlCol="false" tIns="50800" lIns="50800" bIns="50800" rIns="50800"/>
            <a:lstStyle/>
            <a:p>
              <a:pPr algn="ctr">
                <a:lnSpc>
                  <a:spcPts val="2859"/>
                </a:lnSpc>
              </a:pP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DAHYQzWZXoY</dc:identifier>
  <dcterms:modified xsi:type="dcterms:W3CDTF">2011-08-01T06:04:30Z</dcterms:modified>
  <cp:revision>1</cp:revision>
  <dc:title>Green minimalist professional Business Proposal Presentation</dc:title>
</cp:coreProperties>
</file>